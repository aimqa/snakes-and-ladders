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 Guide 11th edition: panel process 4.81, provisional outcome and notification 4.117, meeting after a non-standard outcome 4.83, written confirmation 4.92, standard written guidance 4.119-4.120, submission to the GMC 4.118, suspension of sign-off during review or appeal 4.161. The Gold Guide sets no national interval between the panel and release of the outcome; the 24-hour standard on this slide is West Midlands guidance, not Gold Guide — quote it as local. If challenged on the meeting: 4.78 and 4.117(b) word a post-ARCP discussion with the TPD/ES as a requirement after every ARCP, but the mandatory meeting with the panel or a senior educator (4.83, 4.158-4.159) applies only to Outcomes 2/10.1, 3/10.2 and 4. In practice an Outcome 1 is not discussed; this slide describes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10: Gold Guide 11th edition, Appendix 3 — the Outcome 10 derogations were introduced as “no fault” outcomes to enable progression or additional time where training was disrupted by the COVID-19 pandemic in 2020-2021, and are retained for circumstances of force majeure. They may only be used following a directive from the UK statutory education bodies, e.g. a national emergency such as a global pandemic. 10.1 = progress satisfactory, not at a critical progression point, progresses to the next stage. 10.2 = progress satisfactory, at a critical progression point, additional training time required (4.106). The disruption named includes reduced exposure to required training opportunities and cancellation or postponement of a required examination. Review and appeal routes: 4.163-4.176.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Government offer to resident doctors, June 2026, paragraphs 20-22 (paragraph 23, on locally employed doctors, is not relevant to this audience and has been left out). The document does not itself name the bodies responsible for implementing the ARCP-related points; the note that this sits with the Royal Colleges reflects the current position, not the text of the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JRCPTB IMS2 ARCP decision aid (August 2022), supervised learning events row: "If training in CiP1, 4 ACATs to be carried out by consultants supervising in the acute unselected take/post take setting. Each ACAT must include a minimum of 5 cases and should be used for global assessment of trainee's performance on take or presenting new patients on ward rounds, encompassing both individual cases and overall performance (eg prioritisation, working with the team)." The right-hand card is local expectation, not decision-aid text: the trainee reviews cases the team clerked and presents them, which evidences supervision of the take rather than clerking, and the supervising consultant forms a view of the whole take as they post-take the remainder. SDEC: JRCPTB is expected to classify SDEC as not a clinic but as part of the take, so SDEC cases fall under the same ACAT rules as the unselected take. Present this as the expected position, not as published decision-aid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Entrustment levels are the minimum expected at the end of each training year, from the JRCPTB IMS2 ARCP decision aid (August 2022).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Education is one teaching observation plus one teaching course; management is one QIPAT plus one management course — both parts, not one. The decision aid evidence table names the teaching observation and the QI project; the course alongside each is programme expectation, so present it that way if a trainee asks for the source. The lists on this slide are what counts as that course. Leadership: Edward Jenner is free and sufficient on its own — say that plainly, and note that any trust or deanery management course counts equally. Anything beyond that is personal development and will NOT be funded, so do not let anyone book expecting reimbursement. A Chief Registrar post is accepted in lieu of the management course. Timing on both cards is a recommendation, not a curriculum requirement — present it as advice. It is deliberately opposite for the two: the teaching course is better early in higher training — learn to teach, then practise across the rest of it — while the leadership course is best toward the end, when consultant practice is closer. There are no regional leadership or management courses yet — do not imply otherwise; the West Midlands is working with the University of Birmingham on a regional training programme, which is not yet available. A local simulation faculty course followed by working as sim faculty is equivalent to an external teaching course — say so, because people assume they have to look outside the trust. A PGCert is not an endpoint in itself: it is valid where it sits alongside continuing teaching experience. NHS Leadership Academy programmes: Edward Jenner (entry level, free, online), Mary Seacole (first formal leadership role), Elizabeth Garrett Anderson (higher specialty trainees aspiring to a more senior role, leads to an MSc in Healthcare Leadership); the Rosalind Franklin programme is aimed at CT1-2 and ST1-3 so is below this audience. RCP Chief Registrar: 40-50% protected time, five two-day RCP modules across the training year; contact chiefregistrar@rcp.ac.uk or the TPD about in-programme status. Check current fees, dates and local funding before recommending any of these by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Return here for questions. The panels are the three anchors from the "still open" slide plus the GIM trainee reps (gimhewm@gmail.com): the Gold Guide, the IMS2 decision aid, and Freshdesk at https://nhs-help.freshdesk.com/support/home as the route for all GIM ARCP questions — residents must select ARCP from the options for the ticket to be allocated to our team (FAO Mandy Birdee) — the answers still to be got locally being the ARCP date itself, the cancellation process, and protected time in the work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087"/>
        </a:solidFill>
      </p:bgPr>
    </p:bg>
    <p:spTree>
      <p:nvGrpSpPr>
        <p:cNvPr id="1" name=""/>
        <p:cNvGrpSpPr/>
        <p:nvPr/>
      </p:nvGrpSpPr>
      <p:grpSpPr>
        <a:xfrm>
          <a:off x="0" y="0"/>
          <a:ext cx="0" cy="0"/>
          <a:chOff x="0" y="0"/>
          <a:chExt cx="0" cy="0"/>
        </a:xfrm>
      </p:grpSpPr>
      <p:sp>
        <p:nvSpPr>
          <p:cNvPr id="2" name="Shape 0"/>
          <p:cNvSpPr/>
          <p:nvPr/>
        </p:nvSpPr>
        <p:spPr>
          <a:xfrm>
            <a:off x="0" y="0"/>
            <a:ext cx="502920" cy="6858000"/>
          </a:xfrm>
          <a:prstGeom prst="rect">
            <a:avLst/>
          </a:prstGeom>
          <a:solidFill>
            <a:srgbClr val="0072CE"/>
          </a:solidFill>
          <a:ln w="12700">
            <a:solidFill>
              <a:srgbClr val="0072CE"/>
            </a:solidFill>
            <a:prstDash val="solid"/>
          </a:ln>
        </p:spPr>
      </p:sp>
      <p:sp>
        <p:nvSpPr>
          <p:cNvPr id="3" name="Shape 1"/>
          <p:cNvSpPr/>
          <p:nvPr/>
        </p:nvSpPr>
        <p:spPr>
          <a:xfrm>
            <a:off x="0" y="0"/>
            <a:ext cx="164592" cy="6858000"/>
          </a:xfrm>
          <a:prstGeom prst="rect">
            <a:avLst/>
          </a:prstGeom>
          <a:solidFill>
            <a:srgbClr val="41B6E6"/>
          </a:solidFill>
          <a:ln w="12700">
            <a:solidFill>
              <a:srgbClr val="41B6E6"/>
            </a:solidFill>
            <a:prstDash val="solid"/>
          </a:ln>
        </p:spPr>
      </p:sp>
      <p:sp>
        <p:nvSpPr>
          <p:cNvPr id="4" name="Shape 2"/>
          <p:cNvSpPr/>
          <p:nvPr/>
        </p:nvSpPr>
        <p:spPr>
          <a:xfrm>
            <a:off x="7818120" y="685800"/>
            <a:ext cx="5120640" cy="5120640"/>
          </a:xfrm>
          <a:prstGeom prst="ellipse">
            <a:avLst/>
          </a:prstGeom>
          <a:solidFill>
            <a:srgbClr val="003087">
              <a:alpha val="0"/>
            </a:srgbClr>
          </a:solidFill>
          <a:ln w="15875">
            <a:solidFill>
              <a:srgbClr val="14479A"/>
            </a:solidFill>
            <a:prstDash val="solid"/>
          </a:ln>
        </p:spPr>
      </p:sp>
      <p:sp>
        <p:nvSpPr>
          <p:cNvPr id="5" name="Shape 3"/>
          <p:cNvSpPr/>
          <p:nvPr/>
        </p:nvSpPr>
        <p:spPr>
          <a:xfrm>
            <a:off x="8412480" y="1280160"/>
            <a:ext cx="3931920" cy="3931920"/>
          </a:xfrm>
          <a:prstGeom prst="ellipse">
            <a:avLst/>
          </a:prstGeom>
          <a:solidFill>
            <a:srgbClr val="003087">
              <a:alpha val="0"/>
            </a:srgbClr>
          </a:solidFill>
          <a:ln w="15875">
            <a:solidFill>
              <a:srgbClr val="1E56A0"/>
            </a:solidFill>
            <a:prstDash val="solid"/>
          </a:ln>
        </p:spPr>
      </p:sp>
      <p:sp>
        <p:nvSpPr>
          <p:cNvPr id="6" name="Shape 4"/>
          <p:cNvSpPr/>
          <p:nvPr/>
        </p:nvSpPr>
        <p:spPr>
          <a:xfrm>
            <a:off x="9006840" y="1874520"/>
            <a:ext cx="2743200" cy="2743200"/>
          </a:xfrm>
          <a:prstGeom prst="ellipse">
            <a:avLst/>
          </a:prstGeom>
          <a:solidFill>
            <a:srgbClr val="003087">
              <a:alpha val="0"/>
            </a:srgbClr>
          </a:solidFill>
          <a:ln w="15875">
            <a:solidFill>
              <a:srgbClr val="14479A"/>
            </a:solidFill>
            <a:prstDash val="solid"/>
          </a:ln>
        </p:spPr>
      </p:sp>
      <p:sp>
        <p:nvSpPr>
          <p:cNvPr id="7" name="Shape 5"/>
          <p:cNvSpPr/>
          <p:nvPr/>
        </p:nvSpPr>
        <p:spPr>
          <a:xfrm>
            <a:off x="9601200" y="2468880"/>
            <a:ext cx="1554480" cy="1554480"/>
          </a:xfrm>
          <a:prstGeom prst="ellipse">
            <a:avLst/>
          </a:prstGeom>
          <a:solidFill>
            <a:srgbClr val="003087">
              <a:alpha val="0"/>
            </a:srgbClr>
          </a:solidFill>
          <a:ln w="15875">
            <a:solidFill>
              <a:srgbClr val="1E56A0"/>
            </a:solidFill>
            <a:prstDash val="solid"/>
          </a:ln>
        </p:spPr>
      </p:sp>
      <p:sp>
        <p:nvSpPr>
          <p:cNvPr id="8" name="Shape 6"/>
          <p:cNvSpPr/>
          <p:nvPr/>
        </p:nvSpPr>
        <p:spPr>
          <a:xfrm>
            <a:off x="10104120" y="2971800"/>
            <a:ext cx="548640" cy="548640"/>
          </a:xfrm>
          <a:prstGeom prst="ellipse">
            <a:avLst/>
          </a:prstGeom>
          <a:solidFill>
            <a:srgbClr val="0072CE"/>
          </a:solidFill>
          <a:ln w="12700">
            <a:solidFill>
              <a:srgbClr val="0072CE"/>
            </a:solidFill>
            <a:prstDash val="solid"/>
          </a:ln>
        </p:spPr>
      </p:sp>
      <p:sp>
        <p:nvSpPr>
          <p:cNvPr id="9" name="Shape 7"/>
          <p:cNvSpPr/>
          <p:nvPr/>
        </p:nvSpPr>
        <p:spPr>
          <a:xfrm>
            <a:off x="1371600" y="502920"/>
            <a:ext cx="1051560" cy="310896"/>
          </a:xfrm>
          <a:prstGeom prst="rect">
            <a:avLst/>
          </a:prstGeom>
          <a:solidFill>
            <a:srgbClr val="FFB81C"/>
          </a:solidFill>
          <a:ln w="12700">
            <a:solidFill>
              <a:srgbClr val="FFB81C"/>
            </a:solidFill>
            <a:prstDash val="solid"/>
          </a:ln>
        </p:spPr>
      </p:sp>
      <p:sp>
        <p:nvSpPr>
          <p:cNvPr id="10" name="Text 8"/>
          <p:cNvSpPr txBox="1"/>
          <p:nvPr/>
        </p:nvSpPr>
        <p:spPr>
          <a:xfrm>
            <a:off x="1371600" y="502920"/>
            <a:ext cx="1051560" cy="310896"/>
          </a:xfrm>
          <a:prstGeom prst="rect">
            <a:avLst/>
          </a:prstGeom>
          <a:noFill/>
          <a:ln/>
        </p:spPr>
        <p:txBody>
          <a:bodyPr wrap="square" lIns="0" tIns="0" rIns="0" bIns="0" rtlCol="0" anchor="ctr"/>
          <a:lstStyle/>
          <a:p>
            <a:pPr algn="ctr" indent="0" marL="0">
              <a:buNone/>
            </a:pPr>
            <a:r>
              <a:rPr lang="en-US" sz="1200" b="1" spc="200" kern="0" dirty="0">
                <a:solidFill>
                  <a:srgbClr val="003087"/>
                </a:solidFill>
                <a:latin typeface="Calibri" pitchFamily="34" charset="0"/>
                <a:ea typeface="Calibri" pitchFamily="34" charset="-122"/>
                <a:cs typeface="Calibri" pitchFamily="34" charset="-120"/>
              </a:rPr>
              <a:t>DRAFT</a:t>
            </a:r>
            <a:endParaRPr lang="en-US" sz="1200" dirty="0"/>
          </a:p>
        </p:txBody>
      </p:sp>
      <p:sp>
        <p:nvSpPr>
          <p:cNvPr id="11" name="Shape 9"/>
          <p:cNvSpPr/>
          <p:nvPr/>
        </p:nvSpPr>
        <p:spPr>
          <a:xfrm>
            <a:off x="1371600" y="1005840"/>
            <a:ext cx="777240" cy="777240"/>
          </a:xfrm>
          <a:prstGeom prst="ellipse">
            <a:avLst/>
          </a:prstGeom>
          <a:solidFill>
            <a:srgbClr val="0072CE"/>
          </a:solidFill>
          <a:ln w="12700">
            <a:solidFill>
              <a:srgbClr val="0072CE"/>
            </a:solidFill>
            <a:prstDash val="solid"/>
          </a:ln>
        </p:spPr>
      </p:sp>
      <p:pic>
        <p:nvPicPr>
          <p:cNvPr id="12" name="Image 0" descr="/tmp/claude-0/-home-claude/0392ef1a-ea77-535e-abf6-0e4ef3a33421/scratchpad/build/icons/w1.png">    </p:cNvPr>
          <p:cNvPicPr>
            <a:picLocks noChangeAspect="1"/>
          </p:cNvPicPr>
          <p:nvPr/>
        </p:nvPicPr>
        <p:blipFill>
          <a:blip r:embed="rId1"/>
          <a:stretch>
            <a:fillRect/>
          </a:stretch>
        </p:blipFill>
        <p:spPr>
          <a:xfrm>
            <a:off x="1554480" y="1188720"/>
            <a:ext cx="411480" cy="411480"/>
          </a:xfrm>
          <a:prstGeom prst="rect">
            <a:avLst/>
          </a:prstGeom>
        </p:spPr>
      </p:pic>
      <p:sp>
        <p:nvSpPr>
          <p:cNvPr id="13" name="Text 10"/>
          <p:cNvSpPr txBox="1"/>
          <p:nvPr/>
        </p:nvSpPr>
        <p:spPr>
          <a:xfrm>
            <a:off x="1371600" y="2103120"/>
            <a:ext cx="9601200" cy="274320"/>
          </a:xfrm>
          <a:prstGeom prst="rect">
            <a:avLst/>
          </a:prstGeom>
          <a:noFill/>
          <a:ln/>
        </p:spPr>
        <p:txBody>
          <a:bodyPr wrap="square" lIns="0" tIns="0" rIns="0" bIns="0" rtlCol="0" anchor="ctr"/>
          <a:lstStyle/>
          <a:p>
            <a:pPr indent="0" marL="0">
              <a:buNone/>
            </a:pPr>
            <a:r>
              <a:rPr lang="en-US" sz="1200" b="1" spc="300" kern="0" dirty="0">
                <a:solidFill>
                  <a:srgbClr val="41B6E6"/>
                </a:solidFill>
                <a:latin typeface="Calibri" pitchFamily="34" charset="0"/>
                <a:ea typeface="Calibri" pitchFamily="34" charset="-122"/>
                <a:cs typeface="Calibri" pitchFamily="34" charset="-120"/>
              </a:rPr>
              <a:t>INTERNAL MEDICINE STAGE 2 · GENERAL INTERNAL MEDICINE</a:t>
            </a:r>
            <a:endParaRPr lang="en-US" sz="1200" dirty="0"/>
          </a:p>
        </p:txBody>
      </p:sp>
      <p:sp>
        <p:nvSpPr>
          <p:cNvPr id="14" name="Text 11"/>
          <p:cNvSpPr txBox="1"/>
          <p:nvPr/>
        </p:nvSpPr>
        <p:spPr>
          <a:xfrm>
            <a:off x="1371600" y="2487168"/>
            <a:ext cx="9601200" cy="82296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GIM ARCP</a:t>
            </a:r>
            <a:endParaRPr lang="en-US" sz="4800" dirty="0"/>
          </a:p>
        </p:txBody>
      </p:sp>
      <p:sp>
        <p:nvSpPr>
          <p:cNvPr id="15" name="Text 12"/>
          <p:cNvSpPr txBox="1"/>
          <p:nvPr/>
        </p:nvSpPr>
        <p:spPr>
          <a:xfrm>
            <a:off x="1371600" y="3273552"/>
            <a:ext cx="9601200" cy="73152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Trainee guidance</a:t>
            </a:r>
            <a:endParaRPr lang="en-US" sz="4000" dirty="0"/>
          </a:p>
        </p:txBody>
      </p:sp>
      <p:sp>
        <p:nvSpPr>
          <p:cNvPr id="16" name="Shape 13"/>
          <p:cNvSpPr/>
          <p:nvPr/>
        </p:nvSpPr>
        <p:spPr>
          <a:xfrm>
            <a:off x="1371600" y="4160520"/>
            <a:ext cx="1463040" cy="54864"/>
          </a:xfrm>
          <a:prstGeom prst="rect">
            <a:avLst/>
          </a:prstGeom>
          <a:solidFill>
            <a:srgbClr val="FFB81C"/>
          </a:solidFill>
          <a:ln w="12700">
            <a:solidFill>
              <a:srgbClr val="FFB81C"/>
            </a:solidFill>
            <a:prstDash val="solid"/>
          </a:ln>
        </p:spPr>
      </p:sp>
      <p:sp>
        <p:nvSpPr>
          <p:cNvPr id="17" name="Text 14"/>
          <p:cNvSpPr txBox="1"/>
          <p:nvPr/>
        </p:nvSpPr>
        <p:spPr>
          <a:xfrm>
            <a:off x="1371600" y="4434840"/>
            <a:ext cx="960120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Vinay Reddy-Kolanu · AIM consultant</a:t>
            </a:r>
            <a:endParaRPr lang="en-US" sz="1500" dirty="0"/>
          </a:p>
        </p:txBody>
      </p:sp>
      <p:sp>
        <p:nvSpPr>
          <p:cNvPr id="18" name="Text 15"/>
          <p:cNvSpPr txBox="1"/>
          <p:nvPr/>
        </p:nvSpPr>
        <p:spPr>
          <a:xfrm>
            <a:off x="1371600" y="4736592"/>
            <a:ext cx="9601200" cy="274320"/>
          </a:xfrm>
          <a:prstGeom prst="rect">
            <a:avLst/>
          </a:prstGeom>
          <a:noFill/>
          <a:ln/>
        </p:spPr>
        <p:txBody>
          <a:bodyPr wrap="square" lIns="0" tIns="0" rIns="0" bIns="0" rtlCol="0" anchor="ctr"/>
          <a:lstStyle/>
          <a:p>
            <a:pPr indent="0" marL="0">
              <a:buNone/>
            </a:pPr>
            <a:r>
              <a:rPr lang="en-US" sz="1200" dirty="0">
                <a:solidFill>
                  <a:srgbClr val="41B6E6"/>
                </a:solidFill>
                <a:latin typeface="Calibri" pitchFamily="34" charset="0"/>
                <a:ea typeface="Calibri" pitchFamily="34" charset="-122"/>
                <a:cs typeface="Calibri" pitchFamily="34" charset="-120"/>
              </a:rPr>
              <a:t>GIM co-TPD · AIM support TPD · AIM SAC chair · SAM national QIP lead</a:t>
            </a:r>
            <a:endParaRPr lang="en-US" sz="1200" dirty="0"/>
          </a:p>
        </p:txBody>
      </p:sp>
      <p:sp>
        <p:nvSpPr>
          <p:cNvPr id="19" name="Shape 16"/>
          <p:cNvSpPr/>
          <p:nvPr/>
        </p:nvSpPr>
        <p:spPr>
          <a:xfrm>
            <a:off x="1371600" y="5669280"/>
            <a:ext cx="9418320" cy="457200"/>
          </a:xfrm>
          <a:prstGeom prst="rect">
            <a:avLst/>
          </a:prstGeom>
          <a:solidFill>
            <a:srgbClr val="0A3E92"/>
          </a:solidFill>
          <a:ln w="12700">
            <a:solidFill>
              <a:srgbClr val="0A3E92"/>
            </a:solidFill>
            <a:prstDash val="solid"/>
          </a:ln>
        </p:spPr>
      </p:sp>
      <p:sp>
        <p:nvSpPr>
          <p:cNvPr id="20" name="Shape 17"/>
          <p:cNvSpPr/>
          <p:nvPr/>
        </p:nvSpPr>
        <p:spPr>
          <a:xfrm>
            <a:off x="1371600" y="5669280"/>
            <a:ext cx="64008" cy="457200"/>
          </a:xfrm>
          <a:prstGeom prst="rect">
            <a:avLst/>
          </a:prstGeom>
          <a:solidFill>
            <a:srgbClr val="FFB81C"/>
          </a:solidFill>
          <a:ln w="12700">
            <a:solidFill>
              <a:srgbClr val="FFB81C"/>
            </a:solidFill>
            <a:prstDash val="solid"/>
          </a:ln>
        </p:spPr>
      </p:sp>
      <p:sp>
        <p:nvSpPr>
          <p:cNvPr id="21" name="Text 18"/>
          <p:cNvSpPr txBox="1"/>
          <p:nvPr/>
        </p:nvSpPr>
        <p:spPr>
          <a:xfrm>
            <a:off x="1572768" y="5669280"/>
            <a:ext cx="9052560" cy="457200"/>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Aligned to the Gold Guide, 11th edition (August 2026) and the JRCPTB Internal Medicine Stage 2 ARCP decision aid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10565892" y="361188"/>
            <a:ext cx="118872" cy="118872"/>
          </a:xfrm>
          <a:prstGeom prst="ellipse">
            <a:avLst/>
          </a:prstGeom>
          <a:solidFill>
            <a:srgbClr val="003087"/>
          </a:solidFill>
          <a:ln w="12700">
            <a:solidFill>
              <a:srgbClr val="003087"/>
            </a:solidFill>
            <a:prstDash val="solid"/>
          </a:ln>
        </p:spPr>
      </p:sp>
      <p:sp>
        <p:nvSpPr>
          <p:cNvPr id="3" name="Shape 1"/>
          <p:cNvSpPr/>
          <p:nvPr/>
        </p:nvSpPr>
        <p:spPr>
          <a:xfrm>
            <a:off x="10794492" y="379476"/>
            <a:ext cx="82296" cy="82296"/>
          </a:xfrm>
          <a:prstGeom prst="ellipse">
            <a:avLst/>
          </a:prstGeom>
          <a:solidFill>
            <a:srgbClr val="D8DDE0"/>
          </a:solidFill>
          <a:ln w="12700">
            <a:solidFill>
              <a:srgbClr val="D8DDE0"/>
            </a:solidFill>
            <a:prstDash val="solid"/>
          </a:ln>
        </p:spPr>
      </p:sp>
      <p:sp>
        <p:nvSpPr>
          <p:cNvPr id="4" name="Shape 2"/>
          <p:cNvSpPr/>
          <p:nvPr/>
        </p:nvSpPr>
        <p:spPr>
          <a:xfrm>
            <a:off x="11004804" y="379476"/>
            <a:ext cx="82296" cy="82296"/>
          </a:xfrm>
          <a:prstGeom prst="ellipse">
            <a:avLst/>
          </a:prstGeom>
          <a:solidFill>
            <a:srgbClr val="D8DDE0"/>
          </a:solidFill>
          <a:ln w="12700">
            <a:solidFill>
              <a:srgbClr val="D8DDE0"/>
            </a:solidFill>
            <a:prstDash val="solid"/>
          </a:ln>
        </p:spPr>
      </p:sp>
      <p:sp>
        <p:nvSpPr>
          <p:cNvPr id="5" name="Shape 3"/>
          <p:cNvSpPr/>
          <p:nvPr/>
        </p:nvSpPr>
        <p:spPr>
          <a:xfrm>
            <a:off x="11215116" y="379476"/>
            <a:ext cx="82296" cy="82296"/>
          </a:xfrm>
          <a:prstGeom prst="ellipse">
            <a:avLst/>
          </a:prstGeom>
          <a:solidFill>
            <a:srgbClr val="D8DDE0"/>
          </a:solidFill>
          <a:ln w="12700">
            <a:solidFill>
              <a:srgbClr val="D8DDE0"/>
            </a:solidFill>
            <a:prstDash val="solid"/>
          </a:ln>
        </p:spPr>
      </p:sp>
      <p:sp>
        <p:nvSpPr>
          <p:cNvPr id="6" name="Shape 4"/>
          <p:cNvSpPr/>
          <p:nvPr/>
        </p:nvSpPr>
        <p:spPr>
          <a:xfrm>
            <a:off x="11425428" y="379476"/>
            <a:ext cx="82296" cy="82296"/>
          </a:xfrm>
          <a:prstGeom prst="ellipse">
            <a:avLst/>
          </a:prstGeom>
          <a:solidFill>
            <a:srgbClr val="D8DDE0"/>
          </a:solidFill>
          <a:ln w="12700">
            <a:solidFill>
              <a:srgbClr val="D8DDE0"/>
            </a:solidFill>
            <a:prstDash val="solid"/>
          </a:ln>
        </p:spPr>
      </p:sp>
      <p:sp>
        <p:nvSpPr>
          <p:cNvPr id="7" name="Shape 5"/>
          <p:cNvSpPr/>
          <p:nvPr/>
        </p:nvSpPr>
        <p:spPr>
          <a:xfrm>
            <a:off x="11635740" y="379476"/>
            <a:ext cx="82296" cy="82296"/>
          </a:xfrm>
          <a:prstGeom prst="ellipse">
            <a:avLst/>
          </a:prstGeom>
          <a:solidFill>
            <a:srgbClr val="D8DDE0"/>
          </a:solidFill>
          <a:ln w="12700">
            <a:solidFill>
              <a:srgbClr val="D8DDE0"/>
            </a:solidFill>
            <a:prstDash val="solid"/>
          </a:ln>
        </p:spPr>
      </p:sp>
      <p:sp>
        <p:nvSpPr>
          <p:cNvPr id="8" name="Text 6"/>
          <p:cNvSpPr txBox="1"/>
          <p:nvPr/>
        </p:nvSpPr>
        <p:spPr>
          <a:xfrm>
            <a:off x="457200" y="274320"/>
            <a:ext cx="9875520" cy="256032"/>
          </a:xfrm>
          <a:prstGeom prst="rect">
            <a:avLst/>
          </a:prstGeom>
          <a:noFill/>
          <a:ln/>
        </p:spPr>
        <p:txBody>
          <a:bodyPr wrap="square" lIns="0" tIns="0" rIns="0" bIns="0" rtlCol="0" anchor="ctr"/>
          <a:lstStyle/>
          <a:p>
            <a:pPr indent="0" marL="0">
              <a:buNone/>
            </a:pPr>
            <a:r>
              <a:rPr lang="en-US" sz="1100" b="1" spc="240" kern="0" dirty="0">
                <a:solidFill>
                  <a:srgbClr val="003087"/>
                </a:solidFill>
                <a:latin typeface="Calibri" pitchFamily="34" charset="0"/>
                <a:ea typeface="Calibri" pitchFamily="34" charset="-122"/>
                <a:cs typeface="Calibri" pitchFamily="34" charset="-120"/>
              </a:rPr>
              <a:t>PART 01 · WHAT AN ARCP IS, AND WHO DECIDES</a:t>
            </a:r>
            <a:endParaRPr lang="en-US" sz="1100" dirty="0"/>
          </a:p>
        </p:txBody>
      </p:sp>
      <p:sp>
        <p:nvSpPr>
          <p:cNvPr id="9" name="Text 7"/>
          <p:cNvSpPr txBox="1"/>
          <p:nvPr/>
        </p:nvSpPr>
        <p:spPr>
          <a:xfrm>
            <a:off x="457200" y="512064"/>
            <a:ext cx="11247120" cy="658368"/>
          </a:xfrm>
          <a:prstGeom prst="rect">
            <a:avLst/>
          </a:prstGeom>
          <a:noFill/>
          <a:ln/>
        </p:spPr>
        <p:txBody>
          <a:bodyPr wrap="square" lIns="0" tIns="0" rIns="0" bIns="0" rtlCol="0" anchor="ctr"/>
          <a:lstStyle/>
          <a:p>
            <a:pPr indent="0" marL="0">
              <a:buNone/>
            </a:pPr>
            <a:r>
              <a:rPr lang="en-US" sz="3000" b="1" dirty="0">
                <a:solidFill>
                  <a:srgbClr val="003087"/>
                </a:solidFill>
                <a:latin typeface="Calibri" pitchFamily="34" charset="0"/>
                <a:ea typeface="Calibri" pitchFamily="34" charset="-122"/>
                <a:cs typeface="Calibri" pitchFamily="34" charset="-120"/>
              </a:rPr>
              <a:t>A review of evidence, not an examination</a:t>
            </a:r>
            <a:endParaRPr lang="en-US" sz="3000" dirty="0"/>
          </a:p>
        </p:txBody>
      </p:sp>
      <p:sp>
        <p:nvSpPr>
          <p:cNvPr id="10" name="Text 8"/>
          <p:cNvSpPr txBox="1"/>
          <p:nvPr/>
        </p:nvSpPr>
        <p:spPr>
          <a:xfrm>
            <a:off x="457200" y="1170432"/>
            <a:ext cx="11247120" cy="411480"/>
          </a:xfrm>
          <a:prstGeom prst="rect">
            <a:avLst/>
          </a:prstGeom>
          <a:noFill/>
          <a:ln/>
        </p:spPr>
        <p:txBody>
          <a:bodyPr wrap="square" lIns="0" tIns="0" rIns="0" bIns="0" rtlCol="0" anchor="t"/>
          <a:lstStyle/>
          <a:p>
            <a:pPr indent="0" marL="0">
              <a:buNone/>
            </a:pPr>
            <a:r>
              <a:rPr lang="en-US" sz="1200" i="1" dirty="0">
                <a:solidFill>
                  <a:srgbClr val="768692"/>
                </a:solidFill>
                <a:latin typeface="Calibri" pitchFamily="34" charset="0"/>
                <a:ea typeface="Calibri" pitchFamily="34" charset="-122"/>
                <a:cs typeface="Calibri" pitchFamily="34" charset="-120"/>
              </a:rPr>
              <a:t>Nothing is assessed on the day. A trained, quorate panel reads what you and your educational supervisor submitted, and judges it against the curriculum.</a:t>
            </a:r>
            <a:endParaRPr lang="en-US" sz="1200" dirty="0"/>
          </a:p>
        </p:txBody>
      </p:sp>
      <p:sp>
        <p:nvSpPr>
          <p:cNvPr id="11" name="Text 9"/>
          <p:cNvSpPr txBox="1"/>
          <p:nvPr/>
        </p:nvSpPr>
        <p:spPr>
          <a:xfrm>
            <a:off x="457200" y="6547104"/>
            <a:ext cx="7315200" cy="274320"/>
          </a:xfrm>
          <a:prstGeom prst="rect">
            <a:avLst/>
          </a:prstGeom>
          <a:noFill/>
          <a:ln/>
        </p:spPr>
        <p:txBody>
          <a:bodyPr wrap="square" lIns="0" tIns="0" rIns="0" bIns="0" rtlCol="0" anchor="ctr"/>
          <a:lstStyle/>
          <a:p>
            <a:pPr indent="0" marL="0">
              <a:buNone/>
            </a:pPr>
            <a:r>
              <a:rPr lang="en-US" sz="900" dirty="0">
                <a:solidFill>
                  <a:srgbClr val="768692"/>
                </a:solidFill>
                <a:latin typeface="Calibri" pitchFamily="34" charset="0"/>
                <a:ea typeface="Calibri" pitchFamily="34" charset="-122"/>
                <a:cs typeface="Calibri" pitchFamily="34" charset="-120"/>
              </a:rPr>
              <a:t>GIM ARCP · trainee guidance · </a:t>
            </a:r>
            <a:pPr indent="0" marL="0">
              <a:buNone/>
            </a:pPr>
            <a:r>
              <a:rPr lang="en-US" sz="900" b="1" dirty="0">
                <a:solidFill>
                  <a:srgbClr val="8A5E00"/>
                </a:solidFill>
                <a:latin typeface="Calibri" pitchFamily="34" charset="0"/>
                <a:ea typeface="Calibri" pitchFamily="34" charset="-122"/>
                <a:cs typeface="Calibri" pitchFamily="34" charset="-120"/>
              </a:rPr>
              <a:t>DRAFT</a:t>
            </a:r>
            <a:endParaRPr lang="en-US" sz="900" dirty="0"/>
          </a:p>
        </p:txBody>
      </p:sp>
      <p:sp>
        <p:nvSpPr>
          <p:cNvPr id="12" name="Text 10"/>
          <p:cNvSpPr txBox="1"/>
          <p:nvPr/>
        </p:nvSpPr>
        <p:spPr>
          <a:xfrm>
            <a:off x="11155680" y="6547104"/>
            <a:ext cx="548640" cy="274320"/>
          </a:xfrm>
          <a:prstGeom prst="rect">
            <a:avLst/>
          </a:prstGeom>
          <a:noFill/>
          <a:ln/>
        </p:spPr>
        <p:txBody>
          <a:bodyPr wrap="square" lIns="0" tIns="0" rIns="0" bIns="0" rtlCol="0" anchor="ctr"/>
          <a:lstStyle/>
          <a:p>
            <a:pPr algn="r" indent="0" marL="0">
              <a:buNone/>
            </a:pPr>
            <a:r>
              <a:rPr lang="en-US" sz="900" dirty="0">
                <a:solidFill>
                  <a:srgbClr val="768692"/>
                </a:solidFill>
                <a:latin typeface="Calibri" pitchFamily="34" charset="0"/>
                <a:ea typeface="Calibri" pitchFamily="34" charset="-122"/>
                <a:cs typeface="Calibri" pitchFamily="34" charset="-120"/>
              </a:rPr>
              <a:t>2</a:t>
            </a:r>
            <a:endParaRPr lang="en-US" sz="900" dirty="0"/>
          </a:p>
        </p:txBody>
      </p:sp>
      <p:sp>
        <p:nvSpPr>
          <p:cNvPr id="13" name="Shape 11"/>
          <p:cNvSpPr/>
          <p:nvPr/>
        </p:nvSpPr>
        <p:spPr>
          <a:xfrm>
            <a:off x="457200" y="1664208"/>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14" name="Shape 12"/>
          <p:cNvSpPr/>
          <p:nvPr/>
        </p:nvSpPr>
        <p:spPr>
          <a:xfrm>
            <a:off x="457200" y="1664208"/>
            <a:ext cx="73152" cy="2103120"/>
          </a:xfrm>
          <a:prstGeom prst="rect">
            <a:avLst/>
          </a:prstGeom>
          <a:solidFill>
            <a:srgbClr val="003087"/>
          </a:solidFill>
          <a:ln w="12700">
            <a:solidFill>
              <a:srgbClr val="003087"/>
            </a:solidFill>
            <a:prstDash val="solid"/>
          </a:ln>
        </p:spPr>
      </p:sp>
      <p:sp>
        <p:nvSpPr>
          <p:cNvPr id="15" name="Shape 13"/>
          <p:cNvSpPr/>
          <p:nvPr/>
        </p:nvSpPr>
        <p:spPr>
          <a:xfrm>
            <a:off x="621792" y="1874520"/>
            <a:ext cx="502920" cy="502920"/>
          </a:xfrm>
          <a:prstGeom prst="ellipse">
            <a:avLst/>
          </a:prstGeom>
          <a:solidFill>
            <a:srgbClr val="003087"/>
          </a:solidFill>
          <a:ln w="12700">
            <a:solidFill>
              <a:srgbClr val="003087"/>
            </a:solidFill>
            <a:prstDash val="solid"/>
          </a:ln>
        </p:spPr>
      </p:sp>
      <p:pic>
        <p:nvPicPr>
          <p:cNvPr id="16" name="Image 0" descr="/tmp/claude-0/-home-claude/0392ef1a-ea77-535e-abf6-0e4ef3a33421/scratchpad/build/icons/w10.png">    </p:cNvPr>
          <p:cNvPicPr>
            <a:picLocks noChangeAspect="1"/>
          </p:cNvPicPr>
          <p:nvPr/>
        </p:nvPicPr>
        <p:blipFill>
          <a:blip r:embed="rId1"/>
          <a:stretch>
            <a:fillRect/>
          </a:stretch>
        </p:blipFill>
        <p:spPr>
          <a:xfrm>
            <a:off x="740664" y="1993392"/>
            <a:ext cx="265176" cy="265176"/>
          </a:xfrm>
          <a:prstGeom prst="rect">
            <a:avLst/>
          </a:prstGeom>
        </p:spPr>
      </p:pic>
      <p:sp>
        <p:nvSpPr>
          <p:cNvPr id="17" name="Text 14"/>
          <p:cNvSpPr txBox="1"/>
          <p:nvPr/>
        </p:nvSpPr>
        <p:spPr>
          <a:xfrm>
            <a:off x="1280160" y="1865376"/>
            <a:ext cx="2697480" cy="219456"/>
          </a:xfrm>
          <a:prstGeom prst="rect">
            <a:avLst/>
          </a:prstGeom>
          <a:noFill/>
          <a:ln/>
        </p:spPr>
        <p:txBody>
          <a:bodyPr wrap="square" lIns="0" tIns="0" rIns="0" bIns="0" rtlCol="0" anchor="ctr"/>
          <a:lstStyle/>
          <a:p>
            <a:pPr indent="0" marL="0">
              <a:buNone/>
            </a:pPr>
            <a:r>
              <a:rPr lang="en-US" sz="1000" b="1" spc="160" kern="0" dirty="0">
                <a:solidFill>
                  <a:srgbClr val="003087"/>
                </a:solidFill>
                <a:latin typeface="Calibri" pitchFamily="34" charset="0"/>
                <a:ea typeface="Calibri" pitchFamily="34" charset="-122"/>
                <a:cs typeface="Calibri" pitchFamily="34" charset="-120"/>
              </a:rPr>
              <a:t>PURPOSE</a:t>
            </a:r>
            <a:endParaRPr lang="en-US" sz="1000" dirty="0"/>
          </a:p>
        </p:txBody>
      </p:sp>
      <p:sp>
        <p:nvSpPr>
          <p:cNvPr id="18" name="Text 15"/>
          <p:cNvSpPr txBox="1"/>
          <p:nvPr/>
        </p:nvSpPr>
        <p:spPr>
          <a:xfrm>
            <a:off x="1280160" y="2084832"/>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Documenting progress</a:t>
            </a:r>
            <a:endParaRPr lang="en-US" sz="1200" dirty="0"/>
          </a:p>
        </p:txBody>
      </p:sp>
      <p:sp>
        <p:nvSpPr>
          <p:cNvPr id="19" name="Text 16"/>
          <p:cNvSpPr txBox="1"/>
          <p:nvPr/>
        </p:nvSpPr>
        <p:spPr>
          <a:xfrm>
            <a:off x="640080" y="2596896"/>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Reviews the evidence you and your ES present, judges it against the GMC-approved curriculum, and documents that capabilities are being gained at the right rate and through the right experience.</a:t>
            </a:r>
            <a:endParaRPr lang="en-US" sz="1000" dirty="0"/>
          </a:p>
        </p:txBody>
      </p:sp>
      <p:sp>
        <p:nvSpPr>
          <p:cNvPr id="20" name="Shape 17"/>
          <p:cNvSpPr/>
          <p:nvPr/>
        </p:nvSpPr>
        <p:spPr>
          <a:xfrm>
            <a:off x="4251960" y="1664208"/>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21" name="Shape 18"/>
          <p:cNvSpPr/>
          <p:nvPr/>
        </p:nvSpPr>
        <p:spPr>
          <a:xfrm>
            <a:off x="4251960" y="1664208"/>
            <a:ext cx="73152" cy="2103120"/>
          </a:xfrm>
          <a:prstGeom prst="rect">
            <a:avLst/>
          </a:prstGeom>
          <a:solidFill>
            <a:srgbClr val="0072CE"/>
          </a:solidFill>
          <a:ln w="12700">
            <a:solidFill>
              <a:srgbClr val="0072CE"/>
            </a:solidFill>
            <a:prstDash val="solid"/>
          </a:ln>
        </p:spPr>
      </p:sp>
      <p:sp>
        <p:nvSpPr>
          <p:cNvPr id="22" name="Shape 19"/>
          <p:cNvSpPr/>
          <p:nvPr/>
        </p:nvSpPr>
        <p:spPr>
          <a:xfrm>
            <a:off x="4416552" y="1874520"/>
            <a:ext cx="502920" cy="502920"/>
          </a:xfrm>
          <a:prstGeom prst="ellipse">
            <a:avLst/>
          </a:prstGeom>
          <a:solidFill>
            <a:srgbClr val="0072CE"/>
          </a:solidFill>
          <a:ln w="12700">
            <a:solidFill>
              <a:srgbClr val="0072CE"/>
            </a:solidFill>
            <a:prstDash val="solid"/>
          </a:ln>
        </p:spPr>
      </p:sp>
      <p:pic>
        <p:nvPicPr>
          <p:cNvPr id="23" name="Image 1" descr="/tmp/claude-0/-home-claude/0392ef1a-ea77-535e-abf6-0e4ef3a33421/scratchpad/build/icons/w15.png">    </p:cNvPr>
          <p:cNvPicPr>
            <a:picLocks noChangeAspect="1"/>
          </p:cNvPicPr>
          <p:nvPr/>
        </p:nvPicPr>
        <p:blipFill>
          <a:blip r:embed="rId2"/>
          <a:stretch>
            <a:fillRect/>
          </a:stretch>
        </p:blipFill>
        <p:spPr>
          <a:xfrm>
            <a:off x="4535424" y="1993392"/>
            <a:ext cx="265176" cy="265176"/>
          </a:xfrm>
          <a:prstGeom prst="rect">
            <a:avLst/>
          </a:prstGeom>
        </p:spPr>
      </p:pic>
      <p:sp>
        <p:nvSpPr>
          <p:cNvPr id="24" name="Text 20"/>
          <p:cNvSpPr txBox="1"/>
          <p:nvPr/>
        </p:nvSpPr>
        <p:spPr>
          <a:xfrm>
            <a:off x="5074920" y="1865376"/>
            <a:ext cx="2697480" cy="219456"/>
          </a:xfrm>
          <a:prstGeom prst="rect">
            <a:avLst/>
          </a:prstGeom>
          <a:noFill/>
          <a:ln/>
        </p:spPr>
        <p:txBody>
          <a:bodyPr wrap="square" lIns="0" tIns="0" rIns="0" bIns="0" rtlCol="0" anchor="ctr"/>
          <a:lstStyle/>
          <a:p>
            <a:pPr indent="0" marL="0">
              <a:buNone/>
            </a:pPr>
            <a:r>
              <a:rPr lang="en-US" sz="1000" b="1" spc="160" kern="0" dirty="0">
                <a:solidFill>
                  <a:srgbClr val="0072CE"/>
                </a:solidFill>
                <a:latin typeface="Calibri" pitchFamily="34" charset="0"/>
                <a:ea typeface="Calibri" pitchFamily="34" charset="-122"/>
                <a:cs typeface="Calibri" pitchFamily="34" charset="-120"/>
              </a:rPr>
              <a:t>FREQUENCY</a:t>
            </a:r>
            <a:endParaRPr lang="en-US" sz="1000" dirty="0"/>
          </a:p>
        </p:txBody>
      </p:sp>
      <p:sp>
        <p:nvSpPr>
          <p:cNvPr id="25" name="Text 21"/>
          <p:cNvSpPr txBox="1"/>
          <p:nvPr/>
        </p:nvSpPr>
        <p:spPr>
          <a:xfrm>
            <a:off x="5074920" y="2084832"/>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Annual, never over 15 months</a:t>
            </a:r>
            <a:endParaRPr lang="en-US" sz="1200" dirty="0"/>
          </a:p>
        </p:txBody>
      </p:sp>
      <p:sp>
        <p:nvSpPr>
          <p:cNvPr id="26" name="Text 22"/>
          <p:cNvSpPr txBox="1"/>
          <p:nvPr/>
        </p:nvSpPr>
        <p:spPr>
          <a:xfrm>
            <a:off x="4434840" y="2596896"/>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At least once every training year, with a maximum interval of 15 months to support revalidation. It can be held earlier to deal with progression concerns — or to accelerate training.</a:t>
            </a:r>
            <a:endParaRPr lang="en-US" sz="1000" dirty="0"/>
          </a:p>
        </p:txBody>
      </p:sp>
      <p:sp>
        <p:nvSpPr>
          <p:cNvPr id="27" name="Shape 23"/>
          <p:cNvSpPr/>
          <p:nvPr/>
        </p:nvSpPr>
        <p:spPr>
          <a:xfrm>
            <a:off x="8046720" y="1664208"/>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28" name="Shape 24"/>
          <p:cNvSpPr/>
          <p:nvPr/>
        </p:nvSpPr>
        <p:spPr>
          <a:xfrm>
            <a:off x="8046720" y="1664208"/>
            <a:ext cx="73152" cy="2103120"/>
          </a:xfrm>
          <a:prstGeom prst="rect">
            <a:avLst/>
          </a:prstGeom>
          <a:solidFill>
            <a:srgbClr val="41B6E6"/>
          </a:solidFill>
          <a:ln w="12700">
            <a:solidFill>
              <a:srgbClr val="41B6E6"/>
            </a:solidFill>
            <a:prstDash val="solid"/>
          </a:ln>
        </p:spPr>
      </p:sp>
      <p:sp>
        <p:nvSpPr>
          <p:cNvPr id="29" name="Shape 25"/>
          <p:cNvSpPr/>
          <p:nvPr/>
        </p:nvSpPr>
        <p:spPr>
          <a:xfrm>
            <a:off x="8211312" y="1874520"/>
            <a:ext cx="502920" cy="502920"/>
          </a:xfrm>
          <a:prstGeom prst="ellipse">
            <a:avLst/>
          </a:prstGeom>
          <a:solidFill>
            <a:srgbClr val="41B6E6"/>
          </a:solidFill>
          <a:ln w="12700">
            <a:solidFill>
              <a:srgbClr val="41B6E6"/>
            </a:solidFill>
            <a:prstDash val="solid"/>
          </a:ln>
        </p:spPr>
      </p:sp>
      <p:pic>
        <p:nvPicPr>
          <p:cNvPr id="30" name="Image 2" descr="/tmp/claude-0/-home-claude/0392ef1a-ea77-535e-abf6-0e4ef3a33421/scratchpad/build/icons/n13.png">    </p:cNvPr>
          <p:cNvPicPr>
            <a:picLocks noChangeAspect="1"/>
          </p:cNvPicPr>
          <p:nvPr/>
        </p:nvPicPr>
        <p:blipFill>
          <a:blip r:embed="rId3"/>
          <a:stretch>
            <a:fillRect/>
          </a:stretch>
        </p:blipFill>
        <p:spPr>
          <a:xfrm>
            <a:off x="8330184" y="1993392"/>
            <a:ext cx="265176" cy="265176"/>
          </a:xfrm>
          <a:prstGeom prst="rect">
            <a:avLst/>
          </a:prstGeom>
        </p:spPr>
      </p:pic>
      <p:sp>
        <p:nvSpPr>
          <p:cNvPr id="31" name="Text 26"/>
          <p:cNvSpPr txBox="1"/>
          <p:nvPr/>
        </p:nvSpPr>
        <p:spPr>
          <a:xfrm>
            <a:off x="8869680" y="1865376"/>
            <a:ext cx="2697480" cy="219456"/>
          </a:xfrm>
          <a:prstGeom prst="rect">
            <a:avLst/>
          </a:prstGeom>
          <a:noFill/>
          <a:ln/>
        </p:spPr>
        <p:txBody>
          <a:bodyPr wrap="square" lIns="0" tIns="0" rIns="0" bIns="0" rtlCol="0" anchor="ctr"/>
          <a:lstStyle/>
          <a:p>
            <a:pPr indent="0" marL="0">
              <a:buNone/>
            </a:pPr>
            <a:r>
              <a:rPr lang="en-US" sz="1000" b="1" spc="160" kern="0" dirty="0">
                <a:solidFill>
                  <a:srgbClr val="1B7FA6"/>
                </a:solidFill>
                <a:latin typeface="Calibri" pitchFamily="34" charset="0"/>
                <a:ea typeface="Calibri" pitchFamily="34" charset="-122"/>
                <a:cs typeface="Calibri" pitchFamily="34" charset="-120"/>
              </a:rPr>
              <a:t>TWO PROCESSES</a:t>
            </a:r>
            <a:endParaRPr lang="en-US" sz="1000" dirty="0"/>
          </a:p>
        </p:txBody>
      </p:sp>
      <p:sp>
        <p:nvSpPr>
          <p:cNvPr id="32" name="Text 27"/>
          <p:cNvSpPr txBox="1"/>
          <p:nvPr/>
        </p:nvSpPr>
        <p:spPr>
          <a:xfrm>
            <a:off x="8869680" y="2084832"/>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Formative is not summative</a:t>
            </a:r>
            <a:endParaRPr lang="en-US" sz="1200" dirty="0"/>
          </a:p>
        </p:txBody>
      </p:sp>
      <p:sp>
        <p:nvSpPr>
          <p:cNvPr id="33" name="Text 28"/>
          <p:cNvSpPr txBox="1"/>
          <p:nvPr/>
        </p:nvSpPr>
        <p:spPr>
          <a:xfrm>
            <a:off x="8229600" y="2596896"/>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Educational review, learning needs and the PDP are formative. The ARCP is the summative half: one global judgement of progression, made on documents alone.</a:t>
            </a:r>
            <a:endParaRPr lang="en-US" sz="1000" dirty="0"/>
          </a:p>
        </p:txBody>
      </p:sp>
      <p:sp>
        <p:nvSpPr>
          <p:cNvPr id="34" name="Shape 29"/>
          <p:cNvSpPr/>
          <p:nvPr/>
        </p:nvSpPr>
        <p:spPr>
          <a:xfrm>
            <a:off x="457200" y="3895344"/>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35" name="Shape 30"/>
          <p:cNvSpPr/>
          <p:nvPr/>
        </p:nvSpPr>
        <p:spPr>
          <a:xfrm>
            <a:off x="457200" y="3895344"/>
            <a:ext cx="73152" cy="2103120"/>
          </a:xfrm>
          <a:prstGeom prst="rect">
            <a:avLst/>
          </a:prstGeom>
          <a:solidFill>
            <a:srgbClr val="009639"/>
          </a:solidFill>
          <a:ln w="12700">
            <a:solidFill>
              <a:srgbClr val="009639"/>
            </a:solidFill>
            <a:prstDash val="solid"/>
          </a:ln>
        </p:spPr>
      </p:sp>
      <p:sp>
        <p:nvSpPr>
          <p:cNvPr id="36" name="Shape 31"/>
          <p:cNvSpPr/>
          <p:nvPr/>
        </p:nvSpPr>
        <p:spPr>
          <a:xfrm>
            <a:off x="621792" y="4105656"/>
            <a:ext cx="502920" cy="502920"/>
          </a:xfrm>
          <a:prstGeom prst="ellipse">
            <a:avLst/>
          </a:prstGeom>
          <a:solidFill>
            <a:srgbClr val="009639"/>
          </a:solidFill>
          <a:ln w="12700">
            <a:solidFill>
              <a:srgbClr val="009639"/>
            </a:solidFill>
            <a:prstDash val="solid"/>
          </a:ln>
        </p:spPr>
      </p:sp>
      <p:pic>
        <p:nvPicPr>
          <p:cNvPr id="37" name="Image 3" descr="/tmp/claude-0/-home-claude/0392ef1a-ea77-535e-abf6-0e4ef3a33421/scratchpad/build/icons/w12.png">    </p:cNvPr>
          <p:cNvPicPr>
            <a:picLocks noChangeAspect="1"/>
          </p:cNvPicPr>
          <p:nvPr/>
        </p:nvPicPr>
        <p:blipFill>
          <a:blip r:embed="rId4"/>
          <a:stretch>
            <a:fillRect/>
          </a:stretch>
        </p:blipFill>
        <p:spPr>
          <a:xfrm>
            <a:off x="740664" y="4224528"/>
            <a:ext cx="265176" cy="265176"/>
          </a:xfrm>
          <a:prstGeom prst="rect">
            <a:avLst/>
          </a:prstGeom>
        </p:spPr>
      </p:pic>
      <p:sp>
        <p:nvSpPr>
          <p:cNvPr id="38" name="Text 32"/>
          <p:cNvSpPr txBox="1"/>
          <p:nvPr/>
        </p:nvSpPr>
        <p:spPr>
          <a:xfrm>
            <a:off x="1280160" y="4096512"/>
            <a:ext cx="2697480" cy="219456"/>
          </a:xfrm>
          <a:prstGeom prst="rect">
            <a:avLst/>
          </a:prstGeom>
          <a:noFill/>
          <a:ln/>
        </p:spPr>
        <p:txBody>
          <a:bodyPr wrap="square" lIns="0" tIns="0" rIns="0" bIns="0" rtlCol="0" anchor="ctr"/>
          <a:lstStyle/>
          <a:p>
            <a:pPr indent="0" marL="0">
              <a:buNone/>
            </a:pPr>
            <a:r>
              <a:rPr lang="en-US" sz="1000" b="1" spc="160" kern="0" dirty="0">
                <a:solidFill>
                  <a:srgbClr val="009639"/>
                </a:solidFill>
                <a:latin typeface="Calibri" pitchFamily="34" charset="0"/>
                <a:ea typeface="Calibri" pitchFamily="34" charset="-122"/>
                <a:cs typeface="Calibri" pitchFamily="34" charset="-120"/>
              </a:rPr>
              <a:t>WHAT IS REVIEWED</a:t>
            </a:r>
            <a:endParaRPr lang="en-US" sz="1000" dirty="0"/>
          </a:p>
        </p:txBody>
      </p:sp>
      <p:sp>
        <p:nvSpPr>
          <p:cNvPr id="39" name="Text 33"/>
          <p:cNvSpPr txBox="1"/>
          <p:nvPr/>
        </p:nvSpPr>
        <p:spPr>
          <a:xfrm>
            <a:off x="1280160" y="4315968"/>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Portfolio and assessments</a:t>
            </a:r>
            <a:endParaRPr lang="en-US" sz="1200" dirty="0"/>
          </a:p>
        </p:txBody>
      </p:sp>
      <p:sp>
        <p:nvSpPr>
          <p:cNvPr id="40" name="Text 34"/>
          <p:cNvSpPr txBox="1"/>
          <p:nvPr/>
        </p:nvSpPr>
        <p:spPr>
          <a:xfrm>
            <a:off x="640080" y="4828032"/>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A structured ES report, the documented assessments the curriculum requires, time out of training, and your suitability to progress — plus advice to your RO for revalidation.</a:t>
            </a:r>
            <a:endParaRPr lang="en-US" sz="1000" dirty="0"/>
          </a:p>
        </p:txBody>
      </p:sp>
      <p:sp>
        <p:nvSpPr>
          <p:cNvPr id="41" name="Shape 35"/>
          <p:cNvSpPr/>
          <p:nvPr/>
        </p:nvSpPr>
        <p:spPr>
          <a:xfrm>
            <a:off x="4251960" y="3895344"/>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42" name="Shape 36"/>
          <p:cNvSpPr/>
          <p:nvPr/>
        </p:nvSpPr>
        <p:spPr>
          <a:xfrm>
            <a:off x="4251960" y="3895344"/>
            <a:ext cx="73152" cy="2103120"/>
          </a:xfrm>
          <a:prstGeom prst="rect">
            <a:avLst/>
          </a:prstGeom>
          <a:solidFill>
            <a:srgbClr val="FFB81C"/>
          </a:solidFill>
          <a:ln w="12700">
            <a:solidFill>
              <a:srgbClr val="FFB81C"/>
            </a:solidFill>
            <a:prstDash val="solid"/>
          </a:ln>
        </p:spPr>
      </p:sp>
      <p:sp>
        <p:nvSpPr>
          <p:cNvPr id="43" name="Shape 37"/>
          <p:cNvSpPr/>
          <p:nvPr/>
        </p:nvSpPr>
        <p:spPr>
          <a:xfrm>
            <a:off x="4416552" y="4105656"/>
            <a:ext cx="502920" cy="502920"/>
          </a:xfrm>
          <a:prstGeom prst="ellipse">
            <a:avLst/>
          </a:prstGeom>
          <a:solidFill>
            <a:srgbClr val="FFB81C"/>
          </a:solidFill>
          <a:ln w="12700">
            <a:solidFill>
              <a:srgbClr val="FFB81C"/>
            </a:solidFill>
            <a:prstDash val="solid"/>
          </a:ln>
        </p:spPr>
      </p:sp>
      <p:pic>
        <p:nvPicPr>
          <p:cNvPr id="44" name="Image 4" descr="/tmp/claude-0/-home-claude/0392ef1a-ea77-535e-abf6-0e4ef3a33421/scratchpad/build/icons/n5.png">    </p:cNvPr>
          <p:cNvPicPr>
            <a:picLocks noChangeAspect="1"/>
          </p:cNvPicPr>
          <p:nvPr/>
        </p:nvPicPr>
        <p:blipFill>
          <a:blip r:embed="rId5"/>
          <a:stretch>
            <a:fillRect/>
          </a:stretch>
        </p:blipFill>
        <p:spPr>
          <a:xfrm>
            <a:off x="4535424" y="4224528"/>
            <a:ext cx="265176" cy="265176"/>
          </a:xfrm>
          <a:prstGeom prst="rect">
            <a:avLst/>
          </a:prstGeom>
        </p:spPr>
      </p:pic>
      <p:sp>
        <p:nvSpPr>
          <p:cNvPr id="45" name="Text 38"/>
          <p:cNvSpPr txBox="1"/>
          <p:nvPr/>
        </p:nvSpPr>
        <p:spPr>
          <a:xfrm>
            <a:off x="5074920" y="4096512"/>
            <a:ext cx="2697480" cy="219456"/>
          </a:xfrm>
          <a:prstGeom prst="rect">
            <a:avLst/>
          </a:prstGeom>
          <a:noFill/>
          <a:ln/>
        </p:spPr>
        <p:txBody>
          <a:bodyPr wrap="square" lIns="0" tIns="0" rIns="0" bIns="0" rtlCol="0" anchor="ctr"/>
          <a:lstStyle/>
          <a:p>
            <a:pPr indent="0" marL="0">
              <a:buNone/>
            </a:pPr>
            <a:r>
              <a:rPr lang="en-US" sz="1000" b="1" spc="160" kern="0" dirty="0">
                <a:solidFill>
                  <a:srgbClr val="8A5E00"/>
                </a:solidFill>
                <a:latin typeface="Calibri" pitchFamily="34" charset="0"/>
                <a:ea typeface="Calibri" pitchFamily="34" charset="-122"/>
                <a:cs typeface="Calibri" pitchFamily="34" charset="-120"/>
              </a:rPr>
              <a:t>THE PANEL</a:t>
            </a:r>
            <a:endParaRPr lang="en-US" sz="1000" dirty="0"/>
          </a:p>
        </p:txBody>
      </p:sp>
      <p:sp>
        <p:nvSpPr>
          <p:cNvPr id="46" name="Text 39"/>
          <p:cNvSpPr txBox="1"/>
          <p:nvPr/>
        </p:nvSpPr>
        <p:spPr>
          <a:xfrm>
            <a:off x="5074920" y="4315968"/>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At least three trained members</a:t>
            </a:r>
            <a:endParaRPr lang="en-US" sz="1200" dirty="0"/>
          </a:p>
        </p:txBody>
      </p:sp>
      <p:sp>
        <p:nvSpPr>
          <p:cNvPr id="47" name="Text 40"/>
          <p:cNvSpPr txBox="1"/>
          <p:nvPr/>
        </p:nvSpPr>
        <p:spPr>
          <a:xfrm>
            <a:off x="4434840" y="4828032"/>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One must be the Postgraduate Dean or deputy, a Head of School or a TPD. In the West Midlands: TPD, two college tutors and a deanery representative.</a:t>
            </a:r>
            <a:endParaRPr lang="en-US" sz="1000" dirty="0"/>
          </a:p>
        </p:txBody>
      </p:sp>
      <p:sp>
        <p:nvSpPr>
          <p:cNvPr id="48" name="Shape 41"/>
          <p:cNvSpPr/>
          <p:nvPr/>
        </p:nvSpPr>
        <p:spPr>
          <a:xfrm>
            <a:off x="8046720" y="3895344"/>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49" name="Shape 42"/>
          <p:cNvSpPr/>
          <p:nvPr/>
        </p:nvSpPr>
        <p:spPr>
          <a:xfrm>
            <a:off x="8046720" y="3895344"/>
            <a:ext cx="73152" cy="2103120"/>
          </a:xfrm>
          <a:prstGeom prst="rect">
            <a:avLst/>
          </a:prstGeom>
          <a:solidFill>
            <a:srgbClr val="330072"/>
          </a:solidFill>
          <a:ln w="12700">
            <a:solidFill>
              <a:srgbClr val="330072"/>
            </a:solidFill>
            <a:prstDash val="solid"/>
          </a:ln>
        </p:spPr>
      </p:sp>
      <p:sp>
        <p:nvSpPr>
          <p:cNvPr id="50" name="Shape 43"/>
          <p:cNvSpPr/>
          <p:nvPr/>
        </p:nvSpPr>
        <p:spPr>
          <a:xfrm>
            <a:off x="8211312" y="4105656"/>
            <a:ext cx="502920" cy="502920"/>
          </a:xfrm>
          <a:prstGeom prst="ellipse">
            <a:avLst/>
          </a:prstGeom>
          <a:solidFill>
            <a:srgbClr val="330072"/>
          </a:solidFill>
          <a:ln w="12700">
            <a:solidFill>
              <a:srgbClr val="330072"/>
            </a:solidFill>
            <a:prstDash val="solid"/>
          </a:ln>
        </p:spPr>
      </p:sp>
      <p:pic>
        <p:nvPicPr>
          <p:cNvPr id="51" name="Image 5" descr="/tmp/claude-0/-home-claude/0392ef1a-ea77-535e-abf6-0e4ef3a33421/scratchpad/build/icons/w11.png">    </p:cNvPr>
          <p:cNvPicPr>
            <a:picLocks noChangeAspect="1"/>
          </p:cNvPicPr>
          <p:nvPr/>
        </p:nvPicPr>
        <p:blipFill>
          <a:blip r:embed="rId6"/>
          <a:stretch>
            <a:fillRect/>
          </a:stretch>
        </p:blipFill>
        <p:spPr>
          <a:xfrm>
            <a:off x="8330184" y="4224528"/>
            <a:ext cx="265176" cy="265176"/>
          </a:xfrm>
          <a:prstGeom prst="rect">
            <a:avLst/>
          </a:prstGeom>
        </p:spPr>
      </p:pic>
      <p:sp>
        <p:nvSpPr>
          <p:cNvPr id="52" name="Text 44"/>
          <p:cNvSpPr txBox="1"/>
          <p:nvPr/>
        </p:nvSpPr>
        <p:spPr>
          <a:xfrm>
            <a:off x="8869680" y="4096512"/>
            <a:ext cx="2697480" cy="219456"/>
          </a:xfrm>
          <a:prstGeom prst="rect">
            <a:avLst/>
          </a:prstGeom>
          <a:noFill/>
          <a:ln/>
        </p:spPr>
        <p:txBody>
          <a:bodyPr wrap="square" lIns="0" tIns="0" rIns="0" bIns="0" rtlCol="0" anchor="ctr"/>
          <a:lstStyle/>
          <a:p>
            <a:pPr indent="0" marL="0">
              <a:buNone/>
            </a:pPr>
            <a:r>
              <a:rPr lang="en-US" sz="1000" b="1" spc="160" kern="0" dirty="0">
                <a:solidFill>
                  <a:srgbClr val="330072"/>
                </a:solidFill>
                <a:latin typeface="Calibri" pitchFamily="34" charset="0"/>
                <a:ea typeface="Calibri" pitchFamily="34" charset="-122"/>
                <a:cs typeface="Calibri" pitchFamily="34" charset="-120"/>
              </a:rPr>
              <a:t>CONFLICT OF INTEREST</a:t>
            </a:r>
            <a:endParaRPr lang="en-US" sz="1000" dirty="0"/>
          </a:p>
        </p:txBody>
      </p:sp>
      <p:sp>
        <p:nvSpPr>
          <p:cNvPr id="53" name="Text 45"/>
          <p:cNvSpPr txBox="1"/>
          <p:nvPr/>
        </p:nvSpPr>
        <p:spPr>
          <a:xfrm>
            <a:off x="8869680" y="4315968"/>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Your own ES steps back</a:t>
            </a:r>
            <a:endParaRPr lang="en-US" sz="1200" dirty="0"/>
          </a:p>
        </p:txBody>
      </p:sp>
      <p:sp>
        <p:nvSpPr>
          <p:cNvPr id="54" name="Text 46"/>
          <p:cNvSpPr txBox="1"/>
          <p:nvPr/>
        </p:nvSpPr>
        <p:spPr>
          <a:xfrm>
            <a:off x="8229600" y="4828032"/>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A supervisor must declare an interest if their own trainee is being considered by a panel they sit on. Where there are concerns about progress they withdraw while your case is discussed, and the panel must remain quorate without them (GG 4.77).</a:t>
            </a:r>
            <a:endParaRPr lang="en-US" sz="1000" dirty="0"/>
          </a:p>
        </p:txBody>
      </p:sp>
      <p:sp>
        <p:nvSpPr>
          <p:cNvPr id="55" name="Shape 47"/>
          <p:cNvSpPr/>
          <p:nvPr/>
        </p:nvSpPr>
        <p:spPr>
          <a:xfrm>
            <a:off x="457200" y="6071616"/>
            <a:ext cx="11247120" cy="438912"/>
          </a:xfrm>
          <a:prstGeom prst="rect">
            <a:avLst/>
          </a:prstGeom>
          <a:solidFill>
            <a:srgbClr val="F0F4F5"/>
          </a:solidFill>
          <a:ln w="12700">
            <a:solidFill>
              <a:srgbClr val="F0F4F5"/>
            </a:solidFill>
            <a:prstDash val="solid"/>
          </a:ln>
        </p:spPr>
      </p:sp>
      <p:sp>
        <p:nvSpPr>
          <p:cNvPr id="56" name="Shape 48"/>
          <p:cNvSpPr/>
          <p:nvPr/>
        </p:nvSpPr>
        <p:spPr>
          <a:xfrm>
            <a:off x="457200" y="6071616"/>
            <a:ext cx="73152" cy="438912"/>
          </a:xfrm>
          <a:prstGeom prst="rect">
            <a:avLst/>
          </a:prstGeom>
          <a:solidFill>
            <a:srgbClr val="0072CE"/>
          </a:solidFill>
          <a:ln w="12700">
            <a:solidFill>
              <a:srgbClr val="0072CE"/>
            </a:solidFill>
            <a:prstDash val="solid"/>
          </a:ln>
        </p:spPr>
      </p:sp>
      <p:sp>
        <p:nvSpPr>
          <p:cNvPr id="57" name="Text 49"/>
          <p:cNvSpPr txBox="1"/>
          <p:nvPr/>
        </p:nvSpPr>
        <p:spPr>
          <a:xfrm>
            <a:off x="658368" y="6071616"/>
            <a:ext cx="10881360" cy="438912"/>
          </a:xfrm>
          <a:prstGeom prst="rect">
            <a:avLst/>
          </a:prstGeom>
          <a:noFill/>
          <a:ln/>
        </p:spPr>
        <p:txBody>
          <a:bodyPr wrap="square" lIns="0" tIns="0" rIns="0" bIns="0" rtlCol="0" anchor="ctr"/>
          <a:lstStyle/>
          <a:p>
            <a:pPr indent="0" marL="0">
              <a:buNone/>
            </a:pPr>
            <a:r>
              <a:rPr lang="en-US" sz="1000" i="1" dirty="0">
                <a:solidFill>
                  <a:srgbClr val="212B32"/>
                </a:solidFill>
                <a:latin typeface="Calibri" pitchFamily="34" charset="0"/>
                <a:ea typeface="Calibri" pitchFamily="34" charset="-122"/>
                <a:cs typeface="Calibri" pitchFamily="34" charset="-120"/>
              </a:rPr>
              <a:t>You are not in the room — the panel considers your outcome without you. And unless it is an Outcome 2, 3 or 4, no one sits you down afterwards to explain it (Gold Guide 4.81, 4.83).</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10565892" y="361188"/>
            <a:ext cx="118872" cy="118872"/>
          </a:xfrm>
          <a:prstGeom prst="ellipse">
            <a:avLst/>
          </a:prstGeom>
          <a:solidFill>
            <a:srgbClr val="003087"/>
          </a:solidFill>
          <a:ln w="12700">
            <a:solidFill>
              <a:srgbClr val="003087"/>
            </a:solidFill>
            <a:prstDash val="solid"/>
          </a:ln>
        </p:spPr>
      </p:sp>
      <p:sp>
        <p:nvSpPr>
          <p:cNvPr id="3" name="Shape 1"/>
          <p:cNvSpPr/>
          <p:nvPr/>
        </p:nvSpPr>
        <p:spPr>
          <a:xfrm>
            <a:off x="10794492" y="379476"/>
            <a:ext cx="82296" cy="82296"/>
          </a:xfrm>
          <a:prstGeom prst="ellipse">
            <a:avLst/>
          </a:prstGeom>
          <a:solidFill>
            <a:srgbClr val="D8DDE0"/>
          </a:solidFill>
          <a:ln w="12700">
            <a:solidFill>
              <a:srgbClr val="D8DDE0"/>
            </a:solidFill>
            <a:prstDash val="solid"/>
          </a:ln>
        </p:spPr>
      </p:sp>
      <p:sp>
        <p:nvSpPr>
          <p:cNvPr id="4" name="Shape 2"/>
          <p:cNvSpPr/>
          <p:nvPr/>
        </p:nvSpPr>
        <p:spPr>
          <a:xfrm>
            <a:off x="11004804" y="379476"/>
            <a:ext cx="82296" cy="82296"/>
          </a:xfrm>
          <a:prstGeom prst="ellipse">
            <a:avLst/>
          </a:prstGeom>
          <a:solidFill>
            <a:srgbClr val="D8DDE0"/>
          </a:solidFill>
          <a:ln w="12700">
            <a:solidFill>
              <a:srgbClr val="D8DDE0"/>
            </a:solidFill>
            <a:prstDash val="solid"/>
          </a:ln>
        </p:spPr>
      </p:sp>
      <p:sp>
        <p:nvSpPr>
          <p:cNvPr id="5" name="Shape 3"/>
          <p:cNvSpPr/>
          <p:nvPr/>
        </p:nvSpPr>
        <p:spPr>
          <a:xfrm>
            <a:off x="11215116" y="379476"/>
            <a:ext cx="82296" cy="82296"/>
          </a:xfrm>
          <a:prstGeom prst="ellipse">
            <a:avLst/>
          </a:prstGeom>
          <a:solidFill>
            <a:srgbClr val="D8DDE0"/>
          </a:solidFill>
          <a:ln w="12700">
            <a:solidFill>
              <a:srgbClr val="D8DDE0"/>
            </a:solidFill>
            <a:prstDash val="solid"/>
          </a:ln>
        </p:spPr>
      </p:sp>
      <p:sp>
        <p:nvSpPr>
          <p:cNvPr id="6" name="Shape 4"/>
          <p:cNvSpPr/>
          <p:nvPr/>
        </p:nvSpPr>
        <p:spPr>
          <a:xfrm>
            <a:off x="11425428" y="379476"/>
            <a:ext cx="82296" cy="82296"/>
          </a:xfrm>
          <a:prstGeom prst="ellipse">
            <a:avLst/>
          </a:prstGeom>
          <a:solidFill>
            <a:srgbClr val="D8DDE0"/>
          </a:solidFill>
          <a:ln w="12700">
            <a:solidFill>
              <a:srgbClr val="D8DDE0"/>
            </a:solidFill>
            <a:prstDash val="solid"/>
          </a:ln>
        </p:spPr>
      </p:sp>
      <p:sp>
        <p:nvSpPr>
          <p:cNvPr id="7" name="Shape 5"/>
          <p:cNvSpPr/>
          <p:nvPr/>
        </p:nvSpPr>
        <p:spPr>
          <a:xfrm>
            <a:off x="11635740" y="379476"/>
            <a:ext cx="82296" cy="82296"/>
          </a:xfrm>
          <a:prstGeom prst="ellipse">
            <a:avLst/>
          </a:prstGeom>
          <a:solidFill>
            <a:srgbClr val="D8DDE0"/>
          </a:solidFill>
          <a:ln w="12700">
            <a:solidFill>
              <a:srgbClr val="D8DDE0"/>
            </a:solidFill>
            <a:prstDash val="solid"/>
          </a:ln>
        </p:spPr>
      </p:sp>
      <p:sp>
        <p:nvSpPr>
          <p:cNvPr id="8" name="Text 6"/>
          <p:cNvSpPr txBox="1"/>
          <p:nvPr/>
        </p:nvSpPr>
        <p:spPr>
          <a:xfrm>
            <a:off x="457200" y="274320"/>
            <a:ext cx="9875520" cy="256032"/>
          </a:xfrm>
          <a:prstGeom prst="rect">
            <a:avLst/>
          </a:prstGeom>
          <a:noFill/>
          <a:ln/>
        </p:spPr>
        <p:txBody>
          <a:bodyPr wrap="square" lIns="0" tIns="0" rIns="0" bIns="0" rtlCol="0" anchor="ctr"/>
          <a:lstStyle/>
          <a:p>
            <a:pPr indent="0" marL="0">
              <a:buNone/>
            </a:pPr>
            <a:r>
              <a:rPr lang="en-US" sz="1100" b="1" spc="240" kern="0" dirty="0">
                <a:solidFill>
                  <a:srgbClr val="003087"/>
                </a:solidFill>
                <a:latin typeface="Calibri" pitchFamily="34" charset="0"/>
                <a:ea typeface="Calibri" pitchFamily="34" charset="-122"/>
                <a:cs typeface="Calibri" pitchFamily="34" charset="-120"/>
              </a:rPr>
              <a:t>PART 01 · THE ARCP YEAR</a:t>
            </a:r>
            <a:endParaRPr lang="en-US" sz="1100" dirty="0"/>
          </a:p>
        </p:txBody>
      </p:sp>
      <p:sp>
        <p:nvSpPr>
          <p:cNvPr id="9" name="Text 7"/>
          <p:cNvSpPr txBox="1"/>
          <p:nvPr/>
        </p:nvSpPr>
        <p:spPr>
          <a:xfrm>
            <a:off x="457200" y="512064"/>
            <a:ext cx="11247120" cy="658368"/>
          </a:xfrm>
          <a:prstGeom prst="rect">
            <a:avLst/>
          </a:prstGeom>
          <a:noFill/>
          <a:ln/>
        </p:spPr>
        <p:txBody>
          <a:bodyPr wrap="square" lIns="0" tIns="0" rIns="0" bIns="0" rtlCol="0" anchor="ctr"/>
          <a:lstStyle/>
          <a:p>
            <a:pPr indent="0" marL="0">
              <a:buNone/>
            </a:pPr>
            <a:r>
              <a:rPr lang="en-US" sz="3000" b="1" dirty="0">
                <a:solidFill>
                  <a:srgbClr val="003087"/>
                </a:solidFill>
                <a:latin typeface="Calibri" pitchFamily="34" charset="0"/>
                <a:ea typeface="Calibri" pitchFamily="34" charset="-122"/>
                <a:cs typeface="Calibri" pitchFamily="34" charset="-120"/>
              </a:rPr>
              <a:t>The deadlines that are not negotiable</a:t>
            </a:r>
            <a:endParaRPr lang="en-US" sz="3000" dirty="0"/>
          </a:p>
        </p:txBody>
      </p:sp>
      <p:sp>
        <p:nvSpPr>
          <p:cNvPr id="10" name="Text 8"/>
          <p:cNvSpPr txBox="1"/>
          <p:nvPr/>
        </p:nvSpPr>
        <p:spPr>
          <a:xfrm>
            <a:off x="457200" y="1170432"/>
            <a:ext cx="11247120" cy="411480"/>
          </a:xfrm>
          <a:prstGeom prst="rect">
            <a:avLst/>
          </a:prstGeom>
          <a:noFill/>
          <a:ln/>
        </p:spPr>
        <p:txBody>
          <a:bodyPr wrap="square" lIns="0" tIns="0" rIns="0" bIns="0" rtlCol="0" anchor="t"/>
          <a:lstStyle/>
          <a:p>
            <a:pPr indent="0" marL="0">
              <a:buNone/>
            </a:pPr>
            <a:r>
              <a:rPr lang="en-US" sz="1200" i="1" dirty="0">
                <a:solidFill>
                  <a:srgbClr val="768692"/>
                </a:solidFill>
                <a:latin typeface="Calibri" pitchFamily="34" charset="0"/>
                <a:ea typeface="Calibri" pitchFamily="34" charset="-122"/>
                <a:cs typeface="Calibri" pitchFamily="34" charset="-120"/>
              </a:rPr>
              <a:t>Two of these are set nationally by the Gold Guide. The rest are local — confirm them at induction.</a:t>
            </a:r>
            <a:endParaRPr lang="en-US" sz="1200" dirty="0"/>
          </a:p>
        </p:txBody>
      </p:sp>
      <p:sp>
        <p:nvSpPr>
          <p:cNvPr id="11" name="Text 9"/>
          <p:cNvSpPr txBox="1"/>
          <p:nvPr/>
        </p:nvSpPr>
        <p:spPr>
          <a:xfrm>
            <a:off x="457200" y="6547104"/>
            <a:ext cx="7315200" cy="274320"/>
          </a:xfrm>
          <a:prstGeom prst="rect">
            <a:avLst/>
          </a:prstGeom>
          <a:noFill/>
          <a:ln/>
        </p:spPr>
        <p:txBody>
          <a:bodyPr wrap="square" lIns="0" tIns="0" rIns="0" bIns="0" rtlCol="0" anchor="ctr"/>
          <a:lstStyle/>
          <a:p>
            <a:pPr indent="0" marL="0">
              <a:buNone/>
            </a:pPr>
            <a:r>
              <a:rPr lang="en-US" sz="900" dirty="0">
                <a:solidFill>
                  <a:srgbClr val="768692"/>
                </a:solidFill>
                <a:latin typeface="Calibri" pitchFamily="34" charset="0"/>
                <a:ea typeface="Calibri" pitchFamily="34" charset="-122"/>
                <a:cs typeface="Calibri" pitchFamily="34" charset="-120"/>
              </a:rPr>
              <a:t>GIM ARCP · trainee guidance · </a:t>
            </a:r>
            <a:pPr indent="0" marL="0">
              <a:buNone/>
            </a:pPr>
            <a:r>
              <a:rPr lang="en-US" sz="900" b="1" dirty="0">
                <a:solidFill>
                  <a:srgbClr val="8A5E00"/>
                </a:solidFill>
                <a:latin typeface="Calibri" pitchFamily="34" charset="0"/>
                <a:ea typeface="Calibri" pitchFamily="34" charset="-122"/>
                <a:cs typeface="Calibri" pitchFamily="34" charset="-120"/>
              </a:rPr>
              <a:t>DRAFT</a:t>
            </a:r>
            <a:endParaRPr lang="en-US" sz="900" dirty="0"/>
          </a:p>
        </p:txBody>
      </p:sp>
      <p:sp>
        <p:nvSpPr>
          <p:cNvPr id="12" name="Text 10"/>
          <p:cNvSpPr txBox="1"/>
          <p:nvPr/>
        </p:nvSpPr>
        <p:spPr>
          <a:xfrm>
            <a:off x="11155680" y="6547104"/>
            <a:ext cx="548640" cy="274320"/>
          </a:xfrm>
          <a:prstGeom prst="rect">
            <a:avLst/>
          </a:prstGeom>
          <a:noFill/>
          <a:ln/>
        </p:spPr>
        <p:txBody>
          <a:bodyPr wrap="square" lIns="0" tIns="0" rIns="0" bIns="0" rtlCol="0" anchor="ctr"/>
          <a:lstStyle/>
          <a:p>
            <a:pPr algn="r" indent="0" marL="0">
              <a:buNone/>
            </a:pPr>
            <a:r>
              <a:rPr lang="en-US" sz="900" dirty="0">
                <a:solidFill>
                  <a:srgbClr val="768692"/>
                </a:solidFill>
                <a:latin typeface="Calibri" pitchFamily="34" charset="0"/>
                <a:ea typeface="Calibri" pitchFamily="34" charset="-122"/>
                <a:cs typeface="Calibri" pitchFamily="34" charset="-120"/>
              </a:rPr>
              <a:t>3</a:t>
            </a:r>
            <a:endParaRPr lang="en-US" sz="900" dirty="0"/>
          </a:p>
        </p:txBody>
      </p:sp>
      <p:sp>
        <p:nvSpPr>
          <p:cNvPr id="13" name="Shape 11"/>
          <p:cNvSpPr/>
          <p:nvPr/>
        </p:nvSpPr>
        <p:spPr>
          <a:xfrm>
            <a:off x="548640" y="2896362"/>
            <a:ext cx="11064240" cy="27432"/>
          </a:xfrm>
          <a:prstGeom prst="rect">
            <a:avLst/>
          </a:prstGeom>
          <a:solidFill>
            <a:srgbClr val="D8DDE0"/>
          </a:solidFill>
          <a:ln w="12700">
            <a:solidFill>
              <a:srgbClr val="D8DDE0"/>
            </a:solidFill>
            <a:prstDash val="solid"/>
          </a:ln>
        </p:spPr>
      </p:sp>
      <p:sp>
        <p:nvSpPr>
          <p:cNvPr id="14" name="Shape 12"/>
          <p:cNvSpPr/>
          <p:nvPr/>
        </p:nvSpPr>
        <p:spPr>
          <a:xfrm>
            <a:off x="1349654" y="2736342"/>
            <a:ext cx="347472" cy="347472"/>
          </a:xfrm>
          <a:prstGeom prst="ellipse">
            <a:avLst/>
          </a:prstGeom>
          <a:solidFill>
            <a:srgbClr val="003087"/>
          </a:solidFill>
          <a:ln w="25400">
            <a:solidFill>
              <a:srgbClr val="FFFFFF"/>
            </a:solidFill>
            <a:prstDash val="solid"/>
          </a:ln>
        </p:spPr>
      </p:sp>
      <p:sp>
        <p:nvSpPr>
          <p:cNvPr id="15" name="Text 13"/>
          <p:cNvSpPr txBox="1"/>
          <p:nvPr/>
        </p:nvSpPr>
        <p:spPr>
          <a:xfrm>
            <a:off x="1349654" y="273634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6" name="Text 14"/>
          <p:cNvSpPr txBox="1"/>
          <p:nvPr/>
        </p:nvSpPr>
        <p:spPr>
          <a:xfrm>
            <a:off x="457200" y="2329434"/>
            <a:ext cx="2132381" cy="384048"/>
          </a:xfrm>
          <a:prstGeom prst="rect">
            <a:avLst/>
          </a:prstGeom>
          <a:noFill/>
          <a:ln/>
        </p:spPr>
        <p:txBody>
          <a:bodyPr wrap="square" lIns="0" tIns="0" rIns="0" bIns="0" rtlCol="0" anchor="ctr"/>
          <a:lstStyle/>
          <a:p>
            <a:pPr algn="ctr" indent="0" marL="0">
              <a:buNone/>
            </a:pPr>
            <a:r>
              <a:rPr lang="en-US" sz="1500" b="1" dirty="0">
                <a:solidFill>
                  <a:srgbClr val="003087"/>
                </a:solidFill>
                <a:latin typeface="Calibri" pitchFamily="34" charset="0"/>
                <a:ea typeface="Calibri" pitchFamily="34" charset="-122"/>
                <a:cs typeface="Calibri" pitchFamily="34" charset="-120"/>
              </a:rPr>
              <a:t>≥ 6 weeks</a:t>
            </a:r>
            <a:endParaRPr lang="en-US" sz="1500" dirty="0"/>
          </a:p>
        </p:txBody>
      </p:sp>
      <p:sp>
        <p:nvSpPr>
          <p:cNvPr id="17" name="Shape 15"/>
          <p:cNvSpPr/>
          <p:nvPr/>
        </p:nvSpPr>
        <p:spPr>
          <a:xfrm>
            <a:off x="457200" y="3262122"/>
            <a:ext cx="2132381" cy="2071116"/>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18" name="Shape 16"/>
          <p:cNvSpPr/>
          <p:nvPr/>
        </p:nvSpPr>
        <p:spPr>
          <a:xfrm>
            <a:off x="457200" y="3262122"/>
            <a:ext cx="2132381" cy="64008"/>
          </a:xfrm>
          <a:prstGeom prst="rect">
            <a:avLst/>
          </a:prstGeom>
          <a:solidFill>
            <a:srgbClr val="003087"/>
          </a:solidFill>
          <a:ln w="12700">
            <a:solidFill>
              <a:srgbClr val="003087"/>
            </a:solidFill>
            <a:prstDash val="solid"/>
          </a:ln>
        </p:spPr>
      </p:sp>
      <p:sp>
        <p:nvSpPr>
          <p:cNvPr id="19" name="Text 17"/>
          <p:cNvSpPr txBox="1"/>
          <p:nvPr/>
        </p:nvSpPr>
        <p:spPr>
          <a:xfrm>
            <a:off x="585216" y="3463290"/>
            <a:ext cx="1876349" cy="50292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Notice of both dates</a:t>
            </a:r>
            <a:endParaRPr lang="en-US" sz="1200" dirty="0"/>
          </a:p>
        </p:txBody>
      </p:sp>
      <p:sp>
        <p:nvSpPr>
          <p:cNvPr id="20" name="Text 18"/>
          <p:cNvSpPr txBox="1"/>
          <p:nvPr/>
        </p:nvSpPr>
        <p:spPr>
          <a:xfrm>
            <a:off x="585216" y="4011930"/>
            <a:ext cx="1876349" cy="11567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You and your trainers must be given at least six weeks' notice of the date by which your portfolio is required (GG 4.57). We aim to give all resident doctors the same six weeks' notice of the ARCP itself.</a:t>
            </a:r>
            <a:endParaRPr lang="en-US" sz="1000" dirty="0"/>
          </a:p>
        </p:txBody>
      </p:sp>
      <p:sp>
        <p:nvSpPr>
          <p:cNvPr id="21" name="Shape 19"/>
          <p:cNvSpPr/>
          <p:nvPr/>
        </p:nvSpPr>
        <p:spPr>
          <a:xfrm>
            <a:off x="3628339" y="2736342"/>
            <a:ext cx="347472" cy="347472"/>
          </a:xfrm>
          <a:prstGeom prst="ellipse">
            <a:avLst/>
          </a:prstGeom>
          <a:solidFill>
            <a:srgbClr val="0072CE"/>
          </a:solidFill>
          <a:ln w="25400">
            <a:solidFill>
              <a:srgbClr val="FFFFFF"/>
            </a:solidFill>
            <a:prstDash val="solid"/>
          </a:ln>
        </p:spPr>
      </p:sp>
      <p:sp>
        <p:nvSpPr>
          <p:cNvPr id="22" name="Text 20"/>
          <p:cNvSpPr txBox="1"/>
          <p:nvPr/>
        </p:nvSpPr>
        <p:spPr>
          <a:xfrm>
            <a:off x="3628339" y="273634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3" name="Text 21"/>
          <p:cNvSpPr txBox="1"/>
          <p:nvPr/>
        </p:nvSpPr>
        <p:spPr>
          <a:xfrm>
            <a:off x="2735885" y="2329434"/>
            <a:ext cx="2132381" cy="384048"/>
          </a:xfrm>
          <a:prstGeom prst="rect">
            <a:avLst/>
          </a:prstGeom>
          <a:noFill/>
          <a:ln/>
        </p:spPr>
        <p:txBody>
          <a:bodyPr wrap="square" lIns="0" tIns="0" rIns="0" bIns="0" rtlCol="0" anchor="ctr"/>
          <a:lstStyle/>
          <a:p>
            <a:pPr algn="ctr" indent="0" marL="0">
              <a:buNone/>
            </a:pPr>
            <a:r>
              <a:rPr lang="en-US" sz="1500" b="1" dirty="0">
                <a:solidFill>
                  <a:srgbClr val="0072CE"/>
                </a:solidFill>
                <a:latin typeface="Calibri" pitchFamily="34" charset="0"/>
                <a:ea typeface="Calibri" pitchFamily="34" charset="-122"/>
                <a:cs typeface="Calibri" pitchFamily="34" charset="-120"/>
              </a:rPr>
              <a:t>4 → 2 weeks</a:t>
            </a:r>
            <a:endParaRPr lang="en-US" sz="1500" dirty="0"/>
          </a:p>
        </p:txBody>
      </p:sp>
      <p:sp>
        <p:nvSpPr>
          <p:cNvPr id="24" name="Shape 22"/>
          <p:cNvSpPr/>
          <p:nvPr/>
        </p:nvSpPr>
        <p:spPr>
          <a:xfrm>
            <a:off x="2735885" y="3262122"/>
            <a:ext cx="2132381" cy="2071116"/>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25" name="Shape 23"/>
          <p:cNvSpPr/>
          <p:nvPr/>
        </p:nvSpPr>
        <p:spPr>
          <a:xfrm>
            <a:off x="2735885" y="3262122"/>
            <a:ext cx="2132381" cy="64008"/>
          </a:xfrm>
          <a:prstGeom prst="rect">
            <a:avLst/>
          </a:prstGeom>
          <a:solidFill>
            <a:srgbClr val="0072CE"/>
          </a:solidFill>
          <a:ln w="12700">
            <a:solidFill>
              <a:srgbClr val="0072CE"/>
            </a:solidFill>
            <a:prstDash val="solid"/>
          </a:ln>
        </p:spPr>
      </p:sp>
      <p:sp>
        <p:nvSpPr>
          <p:cNvPr id="26" name="Text 24"/>
          <p:cNvSpPr txBox="1"/>
          <p:nvPr/>
        </p:nvSpPr>
        <p:spPr>
          <a:xfrm>
            <a:off x="2863901" y="3463290"/>
            <a:ext cx="1876349" cy="50292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ES report written</a:t>
            </a:r>
            <a:endParaRPr lang="en-US" sz="1200" dirty="0"/>
          </a:p>
        </p:txBody>
      </p:sp>
      <p:sp>
        <p:nvSpPr>
          <p:cNvPr id="27" name="Text 25"/>
          <p:cNvSpPr txBox="1"/>
          <p:nvPr/>
        </p:nvSpPr>
        <p:spPr>
          <a:xfrm>
            <a:off x="2863901" y="4011930"/>
            <a:ext cx="1876349" cy="11567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Local expectation: completed at most four weeks before the ARCP, and ideally at least two weeks before it. Discussed with you before it is submitted.</a:t>
            </a:r>
            <a:endParaRPr lang="en-US" sz="1000" dirty="0"/>
          </a:p>
        </p:txBody>
      </p:sp>
      <p:sp>
        <p:nvSpPr>
          <p:cNvPr id="28" name="Shape 26"/>
          <p:cNvSpPr/>
          <p:nvPr/>
        </p:nvSpPr>
        <p:spPr>
          <a:xfrm>
            <a:off x="5907024" y="2736342"/>
            <a:ext cx="347472" cy="347472"/>
          </a:xfrm>
          <a:prstGeom prst="ellipse">
            <a:avLst/>
          </a:prstGeom>
          <a:solidFill>
            <a:srgbClr val="41B6E6"/>
          </a:solidFill>
          <a:ln w="25400">
            <a:solidFill>
              <a:srgbClr val="FFFFFF"/>
            </a:solidFill>
            <a:prstDash val="solid"/>
          </a:ln>
        </p:spPr>
      </p:sp>
      <p:sp>
        <p:nvSpPr>
          <p:cNvPr id="29" name="Text 27"/>
          <p:cNvSpPr txBox="1"/>
          <p:nvPr/>
        </p:nvSpPr>
        <p:spPr>
          <a:xfrm>
            <a:off x="5907024" y="2736342"/>
            <a:ext cx="347472" cy="347472"/>
          </a:xfrm>
          <a:prstGeom prst="rect">
            <a:avLst/>
          </a:prstGeom>
          <a:noFill/>
          <a:ln/>
        </p:spPr>
        <p:txBody>
          <a:bodyPr wrap="square" lIns="0" tIns="0" rIns="0" bIns="0" rtlCol="0" anchor="ctr"/>
          <a:lstStyle/>
          <a:p>
            <a:pPr algn="ctr" indent="0" marL="0">
              <a:buNone/>
            </a:pPr>
            <a:r>
              <a:rPr lang="en-US" sz="1200" b="1" dirty="0">
                <a:solidFill>
                  <a:srgbClr val="003087"/>
                </a:solidFill>
                <a:latin typeface="Calibri" pitchFamily="34" charset="0"/>
                <a:ea typeface="Calibri" pitchFamily="34" charset="-122"/>
                <a:cs typeface="Calibri" pitchFamily="34" charset="-120"/>
              </a:rPr>
              <a:t>3</a:t>
            </a:r>
            <a:endParaRPr lang="en-US" sz="1200" dirty="0"/>
          </a:p>
        </p:txBody>
      </p:sp>
      <p:sp>
        <p:nvSpPr>
          <p:cNvPr id="30" name="Text 28"/>
          <p:cNvSpPr txBox="1"/>
          <p:nvPr/>
        </p:nvSpPr>
        <p:spPr>
          <a:xfrm>
            <a:off x="5014570" y="2329434"/>
            <a:ext cx="2132381" cy="384048"/>
          </a:xfrm>
          <a:prstGeom prst="rect">
            <a:avLst/>
          </a:prstGeom>
          <a:noFill/>
          <a:ln/>
        </p:spPr>
        <p:txBody>
          <a:bodyPr wrap="square" lIns="0" tIns="0" rIns="0" bIns="0" rtlCol="0" anchor="ctr"/>
          <a:lstStyle/>
          <a:p>
            <a:pPr algn="ctr" indent="0" marL="0">
              <a:buNone/>
            </a:pPr>
            <a:r>
              <a:rPr lang="en-US" sz="1500" b="1" dirty="0">
                <a:solidFill>
                  <a:srgbClr val="1B7FA6"/>
                </a:solidFill>
                <a:latin typeface="Calibri" pitchFamily="34" charset="0"/>
                <a:ea typeface="Calibri" pitchFamily="34" charset="-122"/>
                <a:cs typeface="Calibri" pitchFamily="34" charset="-120"/>
              </a:rPr>
              <a:t>≥ 2 weeks</a:t>
            </a:r>
            <a:endParaRPr lang="en-US" sz="1500" dirty="0"/>
          </a:p>
        </p:txBody>
      </p:sp>
      <p:sp>
        <p:nvSpPr>
          <p:cNvPr id="31" name="Shape 29"/>
          <p:cNvSpPr/>
          <p:nvPr/>
        </p:nvSpPr>
        <p:spPr>
          <a:xfrm>
            <a:off x="5014570" y="3262122"/>
            <a:ext cx="2132381" cy="2071116"/>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32" name="Shape 30"/>
          <p:cNvSpPr/>
          <p:nvPr/>
        </p:nvSpPr>
        <p:spPr>
          <a:xfrm>
            <a:off x="5014570" y="3262122"/>
            <a:ext cx="2132381" cy="64008"/>
          </a:xfrm>
          <a:prstGeom prst="rect">
            <a:avLst/>
          </a:prstGeom>
          <a:solidFill>
            <a:srgbClr val="41B6E6"/>
          </a:solidFill>
          <a:ln w="12700">
            <a:solidFill>
              <a:srgbClr val="41B6E6"/>
            </a:solidFill>
            <a:prstDash val="solid"/>
          </a:ln>
        </p:spPr>
      </p:sp>
      <p:sp>
        <p:nvSpPr>
          <p:cNvPr id="33" name="Text 31"/>
          <p:cNvSpPr txBox="1"/>
          <p:nvPr/>
        </p:nvSpPr>
        <p:spPr>
          <a:xfrm>
            <a:off x="5142586" y="3463290"/>
            <a:ext cx="1876349" cy="50292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Portfolio submitted</a:t>
            </a:r>
            <a:endParaRPr lang="en-US" sz="1200" dirty="0"/>
          </a:p>
        </p:txBody>
      </p:sp>
      <p:sp>
        <p:nvSpPr>
          <p:cNvPr id="34" name="Text 32"/>
          <p:cNvSpPr txBox="1"/>
          <p:nvPr/>
        </p:nvSpPr>
        <p:spPr>
          <a:xfrm>
            <a:off x="5142586" y="4011930"/>
            <a:ext cx="1876349" cy="11567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Your educational portfolio must be made available to the deanery at least two weeks before the panel meets (GG 4.57).</a:t>
            </a:r>
            <a:endParaRPr lang="en-US" sz="1000" dirty="0"/>
          </a:p>
        </p:txBody>
      </p:sp>
      <p:sp>
        <p:nvSpPr>
          <p:cNvPr id="35" name="Shape 33"/>
          <p:cNvSpPr/>
          <p:nvPr/>
        </p:nvSpPr>
        <p:spPr>
          <a:xfrm>
            <a:off x="8185709" y="2736342"/>
            <a:ext cx="347472" cy="347472"/>
          </a:xfrm>
          <a:prstGeom prst="ellipse">
            <a:avLst/>
          </a:prstGeom>
          <a:solidFill>
            <a:srgbClr val="009639"/>
          </a:solidFill>
          <a:ln w="25400">
            <a:solidFill>
              <a:srgbClr val="FFFFFF"/>
            </a:solidFill>
            <a:prstDash val="solid"/>
          </a:ln>
        </p:spPr>
      </p:sp>
      <p:sp>
        <p:nvSpPr>
          <p:cNvPr id="36" name="Text 34"/>
          <p:cNvSpPr txBox="1"/>
          <p:nvPr/>
        </p:nvSpPr>
        <p:spPr>
          <a:xfrm>
            <a:off x="8185709" y="273634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7" name="Text 35"/>
          <p:cNvSpPr txBox="1"/>
          <p:nvPr/>
        </p:nvSpPr>
        <p:spPr>
          <a:xfrm>
            <a:off x="7293254" y="2329434"/>
            <a:ext cx="2132381" cy="384048"/>
          </a:xfrm>
          <a:prstGeom prst="rect">
            <a:avLst/>
          </a:prstGeom>
          <a:noFill/>
          <a:ln/>
        </p:spPr>
        <p:txBody>
          <a:bodyPr wrap="square" lIns="0" tIns="0" rIns="0" bIns="0" rtlCol="0" anchor="ctr"/>
          <a:lstStyle/>
          <a:p>
            <a:pPr algn="ctr" indent="0" marL="0">
              <a:buNone/>
            </a:pPr>
            <a:r>
              <a:rPr lang="en-US" sz="1500" b="1" dirty="0">
                <a:solidFill>
                  <a:srgbClr val="009639"/>
                </a:solidFill>
                <a:latin typeface="Calibri" pitchFamily="34" charset="0"/>
                <a:ea typeface="Calibri" pitchFamily="34" charset="-122"/>
                <a:cs typeface="Calibri" pitchFamily="34" charset="-120"/>
              </a:rPr>
              <a:t>Panel day</a:t>
            </a:r>
            <a:endParaRPr lang="en-US" sz="1500" dirty="0"/>
          </a:p>
        </p:txBody>
      </p:sp>
      <p:sp>
        <p:nvSpPr>
          <p:cNvPr id="38" name="Shape 36"/>
          <p:cNvSpPr/>
          <p:nvPr/>
        </p:nvSpPr>
        <p:spPr>
          <a:xfrm>
            <a:off x="7293254" y="3262122"/>
            <a:ext cx="2132381" cy="2071116"/>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39" name="Shape 37"/>
          <p:cNvSpPr/>
          <p:nvPr/>
        </p:nvSpPr>
        <p:spPr>
          <a:xfrm>
            <a:off x="7293254" y="3262122"/>
            <a:ext cx="2132381" cy="64008"/>
          </a:xfrm>
          <a:prstGeom prst="rect">
            <a:avLst/>
          </a:prstGeom>
          <a:solidFill>
            <a:srgbClr val="009639"/>
          </a:solidFill>
          <a:ln w="12700">
            <a:solidFill>
              <a:srgbClr val="009639"/>
            </a:solidFill>
            <a:prstDash val="solid"/>
          </a:ln>
        </p:spPr>
      </p:sp>
      <p:sp>
        <p:nvSpPr>
          <p:cNvPr id="40" name="Text 38"/>
          <p:cNvSpPr txBox="1"/>
          <p:nvPr/>
        </p:nvSpPr>
        <p:spPr>
          <a:xfrm>
            <a:off x="7421270" y="3463290"/>
            <a:ext cx="1876349" cy="50292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Documentary review</a:t>
            </a:r>
            <a:endParaRPr lang="en-US" sz="1200" dirty="0"/>
          </a:p>
        </p:txBody>
      </p:sp>
      <p:sp>
        <p:nvSpPr>
          <p:cNvPr id="41" name="Text 39"/>
          <p:cNvSpPr txBox="1"/>
          <p:nvPr/>
        </p:nvSpPr>
        <p:spPr>
          <a:xfrm>
            <a:off x="7421270" y="4011930"/>
            <a:ext cx="1876349" cy="11567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The panel reviews the submitted evidence and agrees an outcome. You are not present, and nothing is assessed live (GG 4.81).</a:t>
            </a:r>
            <a:endParaRPr lang="en-US" sz="1000" dirty="0"/>
          </a:p>
        </p:txBody>
      </p:sp>
      <p:sp>
        <p:nvSpPr>
          <p:cNvPr id="42" name="Shape 40"/>
          <p:cNvSpPr/>
          <p:nvPr/>
        </p:nvSpPr>
        <p:spPr>
          <a:xfrm>
            <a:off x="10464394" y="2736342"/>
            <a:ext cx="347472" cy="347472"/>
          </a:xfrm>
          <a:prstGeom prst="ellipse">
            <a:avLst/>
          </a:prstGeom>
          <a:solidFill>
            <a:srgbClr val="FFB81C"/>
          </a:solidFill>
          <a:ln w="25400">
            <a:solidFill>
              <a:srgbClr val="FFFFFF"/>
            </a:solidFill>
            <a:prstDash val="solid"/>
          </a:ln>
        </p:spPr>
      </p:sp>
      <p:sp>
        <p:nvSpPr>
          <p:cNvPr id="43" name="Text 41"/>
          <p:cNvSpPr txBox="1"/>
          <p:nvPr/>
        </p:nvSpPr>
        <p:spPr>
          <a:xfrm>
            <a:off x="10464394" y="2736342"/>
            <a:ext cx="347472" cy="347472"/>
          </a:xfrm>
          <a:prstGeom prst="rect">
            <a:avLst/>
          </a:prstGeom>
          <a:noFill/>
          <a:ln/>
        </p:spPr>
        <p:txBody>
          <a:bodyPr wrap="square" lIns="0" tIns="0" rIns="0" bIns="0" rtlCol="0" anchor="ctr"/>
          <a:lstStyle/>
          <a:p>
            <a:pPr algn="ctr" indent="0" marL="0">
              <a:buNone/>
            </a:pPr>
            <a:r>
              <a:rPr lang="en-US" sz="1200" b="1" dirty="0">
                <a:solidFill>
                  <a:srgbClr val="003087"/>
                </a:solidFill>
                <a:latin typeface="Calibri" pitchFamily="34" charset="0"/>
                <a:ea typeface="Calibri" pitchFamily="34" charset="-122"/>
                <a:cs typeface="Calibri" pitchFamily="34" charset="-120"/>
              </a:rPr>
              <a:t>5</a:t>
            </a:r>
            <a:endParaRPr lang="en-US" sz="1200" dirty="0"/>
          </a:p>
        </p:txBody>
      </p:sp>
      <p:sp>
        <p:nvSpPr>
          <p:cNvPr id="44" name="Text 42"/>
          <p:cNvSpPr txBox="1"/>
          <p:nvPr/>
        </p:nvSpPr>
        <p:spPr>
          <a:xfrm>
            <a:off x="9571939" y="2329434"/>
            <a:ext cx="2132381" cy="384048"/>
          </a:xfrm>
          <a:prstGeom prst="rect">
            <a:avLst/>
          </a:prstGeom>
          <a:noFill/>
          <a:ln/>
        </p:spPr>
        <p:txBody>
          <a:bodyPr wrap="square" lIns="0" tIns="0" rIns="0" bIns="0" rtlCol="0" anchor="ctr"/>
          <a:lstStyle/>
          <a:p>
            <a:pPr algn="ctr" indent="0" marL="0">
              <a:buNone/>
            </a:pPr>
            <a:r>
              <a:rPr lang="en-US" sz="1500" b="1" dirty="0">
                <a:solidFill>
                  <a:srgbClr val="8A5E00"/>
                </a:solidFill>
                <a:latin typeface="Calibri" pitchFamily="34" charset="0"/>
                <a:ea typeface="Calibri" pitchFamily="34" charset="-122"/>
                <a:cs typeface="Calibri" pitchFamily="34" charset="-120"/>
              </a:rPr>
              <a:t>After</a:t>
            </a:r>
            <a:endParaRPr lang="en-US" sz="1500" dirty="0"/>
          </a:p>
        </p:txBody>
      </p:sp>
      <p:sp>
        <p:nvSpPr>
          <p:cNvPr id="45" name="Shape 43"/>
          <p:cNvSpPr/>
          <p:nvPr/>
        </p:nvSpPr>
        <p:spPr>
          <a:xfrm>
            <a:off x="9571939" y="3262122"/>
            <a:ext cx="2132381" cy="2071116"/>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46" name="Shape 44"/>
          <p:cNvSpPr/>
          <p:nvPr/>
        </p:nvSpPr>
        <p:spPr>
          <a:xfrm>
            <a:off x="9571939" y="3262122"/>
            <a:ext cx="2132381" cy="64008"/>
          </a:xfrm>
          <a:prstGeom prst="rect">
            <a:avLst/>
          </a:prstGeom>
          <a:solidFill>
            <a:srgbClr val="FFB81C"/>
          </a:solidFill>
          <a:ln w="12700">
            <a:solidFill>
              <a:srgbClr val="FFB81C"/>
            </a:solidFill>
            <a:prstDash val="solid"/>
          </a:ln>
        </p:spPr>
      </p:sp>
      <p:sp>
        <p:nvSpPr>
          <p:cNvPr id="47" name="Text 45"/>
          <p:cNvSpPr txBox="1"/>
          <p:nvPr/>
        </p:nvSpPr>
        <p:spPr>
          <a:xfrm>
            <a:off x="9699955" y="3463290"/>
            <a:ext cx="1876349" cy="50292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Outcome, then the plan</a:t>
            </a:r>
            <a:endParaRPr lang="en-US" sz="1200" dirty="0"/>
          </a:p>
        </p:txBody>
      </p:sp>
      <p:sp>
        <p:nvSpPr>
          <p:cNvPr id="48" name="Text 46"/>
          <p:cNvSpPr txBox="1"/>
          <p:nvPr/>
        </p:nvSpPr>
        <p:spPr>
          <a:xfrm>
            <a:off x="9699955" y="4011930"/>
            <a:ext cx="1876349" cy="11567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The outcome is released and next year's plan is agreed with your TPD or ES. A meeting about the outcome itself follows only an Outcome 2, 3 or 4 (GG 4.78, 4.83, 4.117).</a:t>
            </a:r>
            <a:endParaRPr lang="en-US" sz="1000" dirty="0"/>
          </a:p>
        </p:txBody>
      </p:sp>
      <p:sp>
        <p:nvSpPr>
          <p:cNvPr id="49" name="Shape 47"/>
          <p:cNvSpPr/>
          <p:nvPr/>
        </p:nvSpPr>
        <p:spPr>
          <a:xfrm>
            <a:off x="457200" y="6071616"/>
            <a:ext cx="11247120" cy="438912"/>
          </a:xfrm>
          <a:prstGeom prst="rect">
            <a:avLst/>
          </a:prstGeom>
          <a:solidFill>
            <a:srgbClr val="F0F4F5"/>
          </a:solidFill>
          <a:ln w="12700">
            <a:solidFill>
              <a:srgbClr val="F0F4F5"/>
            </a:solidFill>
            <a:prstDash val="solid"/>
          </a:ln>
        </p:spPr>
      </p:sp>
      <p:sp>
        <p:nvSpPr>
          <p:cNvPr id="50" name="Shape 48"/>
          <p:cNvSpPr/>
          <p:nvPr/>
        </p:nvSpPr>
        <p:spPr>
          <a:xfrm>
            <a:off x="457200" y="6071616"/>
            <a:ext cx="73152" cy="438912"/>
          </a:xfrm>
          <a:prstGeom prst="rect">
            <a:avLst/>
          </a:prstGeom>
          <a:solidFill>
            <a:srgbClr val="0072CE"/>
          </a:solidFill>
          <a:ln w="12700">
            <a:solidFill>
              <a:srgbClr val="0072CE"/>
            </a:solidFill>
            <a:prstDash val="solid"/>
          </a:ln>
        </p:spPr>
      </p:sp>
      <p:sp>
        <p:nvSpPr>
          <p:cNvPr id="51" name="Text 49"/>
          <p:cNvSpPr txBox="1"/>
          <p:nvPr/>
        </p:nvSpPr>
        <p:spPr>
          <a:xfrm>
            <a:off x="658368" y="6071616"/>
            <a:ext cx="10881360" cy="438912"/>
          </a:xfrm>
          <a:prstGeom prst="rect">
            <a:avLst/>
          </a:prstGeom>
          <a:noFill/>
          <a:ln/>
        </p:spPr>
        <p:txBody>
          <a:bodyPr wrap="square" lIns="0" tIns="0" rIns="0" bIns="0" rtlCol="0" anchor="ctr"/>
          <a:lstStyle/>
          <a:p>
            <a:pPr indent="0" marL="0">
              <a:buNone/>
            </a:pPr>
            <a:r>
              <a:rPr lang="en-US" sz="1050" i="1" dirty="0">
                <a:solidFill>
                  <a:srgbClr val="212B32"/>
                </a:solidFill>
                <a:latin typeface="Calibri" pitchFamily="34" charset="0"/>
                <a:ea typeface="Calibri" pitchFamily="34" charset="-122"/>
                <a:cs typeface="Calibri" pitchFamily="34" charset="-120"/>
              </a:rPr>
              <a:t>The Gold Guide fixes the notice period and the submission deadline, but not the date of your ARCP. We aim to give you six weeks' notice of that too.</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10565892" y="361188"/>
            <a:ext cx="118872" cy="118872"/>
          </a:xfrm>
          <a:prstGeom prst="ellipse">
            <a:avLst/>
          </a:prstGeom>
          <a:solidFill>
            <a:srgbClr val="003087"/>
          </a:solidFill>
          <a:ln w="12700">
            <a:solidFill>
              <a:srgbClr val="003087"/>
            </a:solidFill>
            <a:prstDash val="solid"/>
          </a:ln>
        </p:spPr>
      </p:sp>
      <p:sp>
        <p:nvSpPr>
          <p:cNvPr id="3" name="Shape 1"/>
          <p:cNvSpPr/>
          <p:nvPr/>
        </p:nvSpPr>
        <p:spPr>
          <a:xfrm>
            <a:off x="10794492" y="379476"/>
            <a:ext cx="82296" cy="82296"/>
          </a:xfrm>
          <a:prstGeom prst="ellipse">
            <a:avLst/>
          </a:prstGeom>
          <a:solidFill>
            <a:srgbClr val="D8DDE0"/>
          </a:solidFill>
          <a:ln w="12700">
            <a:solidFill>
              <a:srgbClr val="D8DDE0"/>
            </a:solidFill>
            <a:prstDash val="solid"/>
          </a:ln>
        </p:spPr>
      </p:sp>
      <p:sp>
        <p:nvSpPr>
          <p:cNvPr id="4" name="Shape 2"/>
          <p:cNvSpPr/>
          <p:nvPr/>
        </p:nvSpPr>
        <p:spPr>
          <a:xfrm>
            <a:off x="11004804" y="379476"/>
            <a:ext cx="82296" cy="82296"/>
          </a:xfrm>
          <a:prstGeom prst="ellipse">
            <a:avLst/>
          </a:prstGeom>
          <a:solidFill>
            <a:srgbClr val="D8DDE0"/>
          </a:solidFill>
          <a:ln w="12700">
            <a:solidFill>
              <a:srgbClr val="D8DDE0"/>
            </a:solidFill>
            <a:prstDash val="solid"/>
          </a:ln>
        </p:spPr>
      </p:sp>
      <p:sp>
        <p:nvSpPr>
          <p:cNvPr id="5" name="Shape 3"/>
          <p:cNvSpPr/>
          <p:nvPr/>
        </p:nvSpPr>
        <p:spPr>
          <a:xfrm>
            <a:off x="11215116" y="379476"/>
            <a:ext cx="82296" cy="82296"/>
          </a:xfrm>
          <a:prstGeom prst="ellipse">
            <a:avLst/>
          </a:prstGeom>
          <a:solidFill>
            <a:srgbClr val="D8DDE0"/>
          </a:solidFill>
          <a:ln w="12700">
            <a:solidFill>
              <a:srgbClr val="D8DDE0"/>
            </a:solidFill>
            <a:prstDash val="solid"/>
          </a:ln>
        </p:spPr>
      </p:sp>
      <p:sp>
        <p:nvSpPr>
          <p:cNvPr id="6" name="Shape 4"/>
          <p:cNvSpPr/>
          <p:nvPr/>
        </p:nvSpPr>
        <p:spPr>
          <a:xfrm>
            <a:off x="11425428" y="379476"/>
            <a:ext cx="82296" cy="82296"/>
          </a:xfrm>
          <a:prstGeom prst="ellipse">
            <a:avLst/>
          </a:prstGeom>
          <a:solidFill>
            <a:srgbClr val="D8DDE0"/>
          </a:solidFill>
          <a:ln w="12700">
            <a:solidFill>
              <a:srgbClr val="D8DDE0"/>
            </a:solidFill>
            <a:prstDash val="solid"/>
          </a:ln>
        </p:spPr>
      </p:sp>
      <p:sp>
        <p:nvSpPr>
          <p:cNvPr id="7" name="Shape 5"/>
          <p:cNvSpPr/>
          <p:nvPr/>
        </p:nvSpPr>
        <p:spPr>
          <a:xfrm>
            <a:off x="11635740" y="379476"/>
            <a:ext cx="82296" cy="82296"/>
          </a:xfrm>
          <a:prstGeom prst="ellipse">
            <a:avLst/>
          </a:prstGeom>
          <a:solidFill>
            <a:srgbClr val="D8DDE0"/>
          </a:solidFill>
          <a:ln w="12700">
            <a:solidFill>
              <a:srgbClr val="D8DDE0"/>
            </a:solidFill>
            <a:prstDash val="solid"/>
          </a:ln>
        </p:spPr>
      </p:sp>
      <p:sp>
        <p:nvSpPr>
          <p:cNvPr id="8" name="Text 6"/>
          <p:cNvSpPr txBox="1"/>
          <p:nvPr/>
        </p:nvSpPr>
        <p:spPr>
          <a:xfrm>
            <a:off x="457200" y="274320"/>
            <a:ext cx="9875520" cy="256032"/>
          </a:xfrm>
          <a:prstGeom prst="rect">
            <a:avLst/>
          </a:prstGeom>
          <a:noFill/>
          <a:ln/>
        </p:spPr>
        <p:txBody>
          <a:bodyPr wrap="square" lIns="0" tIns="0" rIns="0" bIns="0" rtlCol="0" anchor="ctr"/>
          <a:lstStyle/>
          <a:p>
            <a:pPr indent="0" marL="0">
              <a:buNone/>
            </a:pPr>
            <a:r>
              <a:rPr lang="en-US" sz="1100" b="1" spc="240" kern="0" dirty="0">
                <a:solidFill>
                  <a:srgbClr val="003087"/>
                </a:solidFill>
                <a:latin typeface="Calibri" pitchFamily="34" charset="0"/>
                <a:ea typeface="Calibri" pitchFamily="34" charset="-122"/>
                <a:cs typeface="Calibri" pitchFamily="34" charset="-120"/>
              </a:rPr>
              <a:t>PART 01 · WHAT TO EXPECT, AND WHAT IS LOCAL</a:t>
            </a:r>
            <a:endParaRPr lang="en-US" sz="1100" dirty="0"/>
          </a:p>
        </p:txBody>
      </p:sp>
      <p:sp>
        <p:nvSpPr>
          <p:cNvPr id="9" name="Text 7"/>
          <p:cNvSpPr txBox="1"/>
          <p:nvPr/>
        </p:nvSpPr>
        <p:spPr>
          <a:xfrm>
            <a:off x="457200" y="512064"/>
            <a:ext cx="11247120" cy="658368"/>
          </a:xfrm>
          <a:prstGeom prst="rect">
            <a:avLst/>
          </a:prstGeom>
          <a:noFill/>
          <a:ln/>
        </p:spPr>
        <p:txBody>
          <a:bodyPr wrap="square" lIns="0" tIns="0" rIns="0" bIns="0" rtlCol="0" anchor="ctr"/>
          <a:lstStyle/>
          <a:p>
            <a:pPr indent="0" marL="0">
              <a:buNone/>
            </a:pPr>
            <a:r>
              <a:rPr lang="en-US" sz="3000" b="1" dirty="0">
                <a:solidFill>
                  <a:srgbClr val="003087"/>
                </a:solidFill>
                <a:latin typeface="Calibri" pitchFamily="34" charset="0"/>
                <a:ea typeface="Calibri" pitchFamily="34" charset="-122"/>
                <a:cs typeface="Calibri" pitchFamily="34" charset="-120"/>
              </a:rPr>
              <a:t>On the day — and if the day moves</a:t>
            </a:r>
            <a:endParaRPr lang="en-US" sz="3000" dirty="0"/>
          </a:p>
        </p:txBody>
      </p:sp>
      <p:sp>
        <p:nvSpPr>
          <p:cNvPr id="10" name="Text 8"/>
          <p:cNvSpPr txBox="1"/>
          <p:nvPr/>
        </p:nvSpPr>
        <p:spPr>
          <a:xfrm>
            <a:off x="457200" y="1170432"/>
            <a:ext cx="11247120" cy="411480"/>
          </a:xfrm>
          <a:prstGeom prst="rect">
            <a:avLst/>
          </a:prstGeom>
          <a:noFill/>
          <a:ln/>
        </p:spPr>
        <p:txBody>
          <a:bodyPr wrap="square" lIns="0" tIns="0" rIns="0" bIns="0" rtlCol="0" anchor="t"/>
          <a:lstStyle/>
          <a:p>
            <a:pPr indent="0" marL="0">
              <a:buNone/>
            </a:pPr>
            <a:r>
              <a:rPr lang="en-US" sz="1200" i="1" dirty="0">
                <a:solidFill>
                  <a:srgbClr val="768692"/>
                </a:solidFill>
                <a:latin typeface="Calibri" pitchFamily="34" charset="0"/>
                <a:ea typeface="Calibri" pitchFamily="34" charset="-122"/>
                <a:cs typeface="Calibri" pitchFamily="34" charset="-120"/>
              </a:rPr>
              <a:t>Most of the anxiety about ARCPs comes from not knowing this list. None of the first four is discretionary.</a:t>
            </a:r>
            <a:endParaRPr lang="en-US" sz="1200" dirty="0"/>
          </a:p>
        </p:txBody>
      </p:sp>
      <p:sp>
        <p:nvSpPr>
          <p:cNvPr id="11" name="Text 9"/>
          <p:cNvSpPr txBox="1"/>
          <p:nvPr/>
        </p:nvSpPr>
        <p:spPr>
          <a:xfrm>
            <a:off x="457200" y="6547104"/>
            <a:ext cx="7315200" cy="274320"/>
          </a:xfrm>
          <a:prstGeom prst="rect">
            <a:avLst/>
          </a:prstGeom>
          <a:noFill/>
          <a:ln/>
        </p:spPr>
        <p:txBody>
          <a:bodyPr wrap="square" lIns="0" tIns="0" rIns="0" bIns="0" rtlCol="0" anchor="ctr"/>
          <a:lstStyle/>
          <a:p>
            <a:pPr indent="0" marL="0">
              <a:buNone/>
            </a:pPr>
            <a:r>
              <a:rPr lang="en-US" sz="900" dirty="0">
                <a:solidFill>
                  <a:srgbClr val="768692"/>
                </a:solidFill>
                <a:latin typeface="Calibri" pitchFamily="34" charset="0"/>
                <a:ea typeface="Calibri" pitchFamily="34" charset="-122"/>
                <a:cs typeface="Calibri" pitchFamily="34" charset="-120"/>
              </a:rPr>
              <a:t>GIM ARCP · trainee guidance · </a:t>
            </a:r>
            <a:pPr indent="0" marL="0">
              <a:buNone/>
            </a:pPr>
            <a:r>
              <a:rPr lang="en-US" sz="900" b="1" dirty="0">
                <a:solidFill>
                  <a:srgbClr val="8A5E00"/>
                </a:solidFill>
                <a:latin typeface="Calibri" pitchFamily="34" charset="0"/>
                <a:ea typeface="Calibri" pitchFamily="34" charset="-122"/>
                <a:cs typeface="Calibri" pitchFamily="34" charset="-120"/>
              </a:rPr>
              <a:t>DRAFT</a:t>
            </a:r>
            <a:endParaRPr lang="en-US" sz="900" dirty="0"/>
          </a:p>
        </p:txBody>
      </p:sp>
      <p:sp>
        <p:nvSpPr>
          <p:cNvPr id="12" name="Text 10"/>
          <p:cNvSpPr txBox="1"/>
          <p:nvPr/>
        </p:nvSpPr>
        <p:spPr>
          <a:xfrm>
            <a:off x="11155680" y="6547104"/>
            <a:ext cx="548640" cy="274320"/>
          </a:xfrm>
          <a:prstGeom prst="rect">
            <a:avLst/>
          </a:prstGeom>
          <a:noFill/>
          <a:ln/>
        </p:spPr>
        <p:txBody>
          <a:bodyPr wrap="square" lIns="0" tIns="0" rIns="0" bIns="0" rtlCol="0" anchor="ctr"/>
          <a:lstStyle/>
          <a:p>
            <a:pPr algn="r" indent="0" marL="0">
              <a:buNone/>
            </a:pPr>
            <a:r>
              <a:rPr lang="en-US" sz="900" dirty="0">
                <a:solidFill>
                  <a:srgbClr val="768692"/>
                </a:solidFill>
                <a:latin typeface="Calibri" pitchFamily="34" charset="0"/>
                <a:ea typeface="Calibri" pitchFamily="34" charset="-122"/>
                <a:cs typeface="Calibri" pitchFamily="34" charset="-120"/>
              </a:rPr>
              <a:t>4</a:t>
            </a:r>
            <a:endParaRPr lang="en-US" sz="900" dirty="0"/>
          </a:p>
        </p:txBody>
      </p:sp>
      <p:sp>
        <p:nvSpPr>
          <p:cNvPr id="13" name="Shape 11"/>
          <p:cNvSpPr/>
          <p:nvPr/>
        </p:nvSpPr>
        <p:spPr>
          <a:xfrm>
            <a:off x="457200" y="1664208"/>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14" name="Shape 12"/>
          <p:cNvSpPr/>
          <p:nvPr/>
        </p:nvSpPr>
        <p:spPr>
          <a:xfrm>
            <a:off x="457200" y="1664208"/>
            <a:ext cx="73152" cy="2103120"/>
          </a:xfrm>
          <a:prstGeom prst="rect">
            <a:avLst/>
          </a:prstGeom>
          <a:solidFill>
            <a:srgbClr val="003087"/>
          </a:solidFill>
          <a:ln w="12700">
            <a:solidFill>
              <a:srgbClr val="003087"/>
            </a:solidFill>
            <a:prstDash val="solid"/>
          </a:ln>
        </p:spPr>
      </p:sp>
      <p:sp>
        <p:nvSpPr>
          <p:cNvPr id="15" name="Shape 13"/>
          <p:cNvSpPr/>
          <p:nvPr/>
        </p:nvSpPr>
        <p:spPr>
          <a:xfrm>
            <a:off x="621792" y="1874520"/>
            <a:ext cx="502920" cy="502920"/>
          </a:xfrm>
          <a:prstGeom prst="ellipse">
            <a:avLst/>
          </a:prstGeom>
          <a:solidFill>
            <a:srgbClr val="003087"/>
          </a:solidFill>
          <a:ln w="12700">
            <a:solidFill>
              <a:srgbClr val="003087"/>
            </a:solidFill>
            <a:prstDash val="solid"/>
          </a:ln>
        </p:spPr>
      </p:sp>
      <p:pic>
        <p:nvPicPr>
          <p:cNvPr id="16" name="Image 0" descr="/tmp/claude-0/-home-claude/0392ef1a-ea77-535e-abf6-0e4ef3a33421/scratchpad/build/icons/w10.png">    </p:cNvPr>
          <p:cNvPicPr>
            <a:picLocks noChangeAspect="1"/>
          </p:cNvPicPr>
          <p:nvPr/>
        </p:nvPicPr>
        <p:blipFill>
          <a:blip r:embed="rId1"/>
          <a:stretch>
            <a:fillRect/>
          </a:stretch>
        </p:blipFill>
        <p:spPr>
          <a:xfrm>
            <a:off x="740664" y="1993392"/>
            <a:ext cx="265176" cy="265176"/>
          </a:xfrm>
          <a:prstGeom prst="rect">
            <a:avLst/>
          </a:prstGeom>
        </p:spPr>
      </p:pic>
      <p:sp>
        <p:nvSpPr>
          <p:cNvPr id="17" name="Text 14"/>
          <p:cNvSpPr txBox="1"/>
          <p:nvPr/>
        </p:nvSpPr>
        <p:spPr>
          <a:xfrm>
            <a:off x="1280160" y="1865376"/>
            <a:ext cx="2697480" cy="219456"/>
          </a:xfrm>
          <a:prstGeom prst="rect">
            <a:avLst/>
          </a:prstGeom>
          <a:noFill/>
          <a:ln/>
        </p:spPr>
        <p:txBody>
          <a:bodyPr wrap="square" lIns="0" tIns="0" rIns="0" bIns="0" rtlCol="0" anchor="ctr"/>
          <a:lstStyle/>
          <a:p>
            <a:pPr indent="0" marL="0">
              <a:buNone/>
            </a:pPr>
            <a:r>
              <a:rPr lang="en-US" sz="1000" b="1" spc="160" kern="0" dirty="0">
                <a:solidFill>
                  <a:srgbClr val="003087"/>
                </a:solidFill>
                <a:latin typeface="Calibri" pitchFamily="34" charset="0"/>
                <a:ea typeface="Calibri" pitchFamily="34" charset="-122"/>
                <a:cs typeface="Calibri" pitchFamily="34" charset="-120"/>
              </a:rPr>
              <a:t>NO SURPRISES</a:t>
            </a:r>
            <a:endParaRPr lang="en-US" sz="1000" dirty="0"/>
          </a:p>
        </p:txBody>
      </p:sp>
      <p:sp>
        <p:nvSpPr>
          <p:cNvPr id="18" name="Text 15"/>
          <p:cNvSpPr txBox="1"/>
          <p:nvPr/>
        </p:nvSpPr>
        <p:spPr>
          <a:xfrm>
            <a:off x="1280160" y="2084832"/>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You are told in advance</a:t>
            </a:r>
            <a:endParaRPr lang="en-US" sz="1200" dirty="0"/>
          </a:p>
        </p:txBody>
      </p:sp>
      <p:sp>
        <p:nvSpPr>
          <p:cNvPr id="19" name="Text 16"/>
          <p:cNvSpPr txBox="1"/>
          <p:nvPr/>
        </p:nvSpPr>
        <p:spPr>
          <a:xfrm>
            <a:off x="640080" y="2596896"/>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If your TPD or ES has flagged a possible Outcome 2, 3 or 4, you must be told before the panel meets — usually in the pre-ARCP feedback from your ES (GG 4.83).</a:t>
            </a:r>
            <a:endParaRPr lang="en-US" sz="1000" dirty="0"/>
          </a:p>
        </p:txBody>
      </p:sp>
      <p:sp>
        <p:nvSpPr>
          <p:cNvPr id="20" name="Shape 17"/>
          <p:cNvSpPr/>
          <p:nvPr/>
        </p:nvSpPr>
        <p:spPr>
          <a:xfrm>
            <a:off x="4251960" y="1664208"/>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21" name="Shape 18"/>
          <p:cNvSpPr/>
          <p:nvPr/>
        </p:nvSpPr>
        <p:spPr>
          <a:xfrm>
            <a:off x="4251960" y="1664208"/>
            <a:ext cx="73152" cy="2103120"/>
          </a:xfrm>
          <a:prstGeom prst="rect">
            <a:avLst/>
          </a:prstGeom>
          <a:solidFill>
            <a:srgbClr val="0072CE"/>
          </a:solidFill>
          <a:ln w="12700">
            <a:solidFill>
              <a:srgbClr val="0072CE"/>
            </a:solidFill>
            <a:prstDash val="solid"/>
          </a:ln>
        </p:spPr>
      </p:sp>
      <p:sp>
        <p:nvSpPr>
          <p:cNvPr id="22" name="Shape 19"/>
          <p:cNvSpPr/>
          <p:nvPr/>
        </p:nvSpPr>
        <p:spPr>
          <a:xfrm>
            <a:off x="4416552" y="1874520"/>
            <a:ext cx="502920" cy="502920"/>
          </a:xfrm>
          <a:prstGeom prst="ellipse">
            <a:avLst/>
          </a:prstGeom>
          <a:solidFill>
            <a:srgbClr val="0072CE"/>
          </a:solidFill>
          <a:ln w="12700">
            <a:solidFill>
              <a:srgbClr val="0072CE"/>
            </a:solidFill>
            <a:prstDash val="solid"/>
          </a:ln>
        </p:spPr>
      </p:sp>
      <p:pic>
        <p:nvPicPr>
          <p:cNvPr id="23" name="Image 1" descr="/tmp/claude-0/-home-claude/0392ef1a-ea77-535e-abf6-0e4ef3a33421/scratchpad/build/icons/w14.png">    </p:cNvPr>
          <p:cNvPicPr>
            <a:picLocks noChangeAspect="1"/>
          </p:cNvPicPr>
          <p:nvPr/>
        </p:nvPicPr>
        <p:blipFill>
          <a:blip r:embed="rId2"/>
          <a:stretch>
            <a:fillRect/>
          </a:stretch>
        </p:blipFill>
        <p:spPr>
          <a:xfrm>
            <a:off x="4535424" y="1993392"/>
            <a:ext cx="265176" cy="265176"/>
          </a:xfrm>
          <a:prstGeom prst="rect">
            <a:avLst/>
          </a:prstGeom>
        </p:spPr>
      </p:pic>
      <p:sp>
        <p:nvSpPr>
          <p:cNvPr id="24" name="Text 20"/>
          <p:cNvSpPr txBox="1"/>
          <p:nvPr/>
        </p:nvSpPr>
        <p:spPr>
          <a:xfrm>
            <a:off x="5074920" y="1865376"/>
            <a:ext cx="2697480" cy="219456"/>
          </a:xfrm>
          <a:prstGeom prst="rect">
            <a:avLst/>
          </a:prstGeom>
          <a:noFill/>
          <a:ln/>
        </p:spPr>
        <p:txBody>
          <a:bodyPr wrap="square" lIns="0" tIns="0" rIns="0" bIns="0" rtlCol="0" anchor="ctr"/>
          <a:lstStyle/>
          <a:p>
            <a:pPr indent="0" marL="0">
              <a:buNone/>
            </a:pPr>
            <a:r>
              <a:rPr lang="en-US" sz="1000" b="1" spc="160" kern="0" dirty="0">
                <a:solidFill>
                  <a:srgbClr val="0072CE"/>
                </a:solidFill>
                <a:latin typeface="Calibri" pitchFamily="34" charset="0"/>
                <a:ea typeface="Calibri" pitchFamily="34" charset="-122"/>
                <a:cs typeface="Calibri" pitchFamily="34" charset="-120"/>
              </a:rPr>
              <a:t>YOU CAN RESPOND</a:t>
            </a:r>
            <a:endParaRPr lang="en-US" sz="1000" dirty="0"/>
          </a:p>
        </p:txBody>
      </p:sp>
      <p:sp>
        <p:nvSpPr>
          <p:cNvPr id="25" name="Text 21"/>
          <p:cNvSpPr txBox="1"/>
          <p:nvPr/>
        </p:nvSpPr>
        <p:spPr>
          <a:xfrm>
            <a:off x="5074920" y="2084832"/>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Your written reply counts</a:t>
            </a:r>
            <a:endParaRPr lang="en-US" sz="1200" dirty="0"/>
          </a:p>
        </p:txBody>
      </p:sp>
      <p:sp>
        <p:nvSpPr>
          <p:cNvPr id="26" name="Text 22"/>
          <p:cNvSpPr txBox="1"/>
          <p:nvPr/>
        </p:nvSpPr>
        <p:spPr>
          <a:xfrm>
            <a:off x="4434840" y="2596896"/>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You may submit a response to your supervisor's report, or to any other assessment document, for the panel to take into account (GG 4.63).</a:t>
            </a:r>
            <a:endParaRPr lang="en-US" sz="1000" dirty="0"/>
          </a:p>
        </p:txBody>
      </p:sp>
      <p:sp>
        <p:nvSpPr>
          <p:cNvPr id="27" name="Shape 23"/>
          <p:cNvSpPr/>
          <p:nvPr/>
        </p:nvSpPr>
        <p:spPr>
          <a:xfrm>
            <a:off x="8046720" y="1664208"/>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28" name="Shape 24"/>
          <p:cNvSpPr/>
          <p:nvPr/>
        </p:nvSpPr>
        <p:spPr>
          <a:xfrm>
            <a:off x="8046720" y="1664208"/>
            <a:ext cx="73152" cy="2103120"/>
          </a:xfrm>
          <a:prstGeom prst="rect">
            <a:avLst/>
          </a:prstGeom>
          <a:solidFill>
            <a:srgbClr val="41B6E6"/>
          </a:solidFill>
          <a:ln w="12700">
            <a:solidFill>
              <a:srgbClr val="41B6E6"/>
            </a:solidFill>
            <a:prstDash val="solid"/>
          </a:ln>
        </p:spPr>
      </p:sp>
      <p:sp>
        <p:nvSpPr>
          <p:cNvPr id="29" name="Shape 25"/>
          <p:cNvSpPr/>
          <p:nvPr/>
        </p:nvSpPr>
        <p:spPr>
          <a:xfrm>
            <a:off x="8211312" y="1874520"/>
            <a:ext cx="502920" cy="502920"/>
          </a:xfrm>
          <a:prstGeom prst="ellipse">
            <a:avLst/>
          </a:prstGeom>
          <a:solidFill>
            <a:srgbClr val="41B6E6"/>
          </a:solidFill>
          <a:ln w="12700">
            <a:solidFill>
              <a:srgbClr val="41B6E6"/>
            </a:solidFill>
            <a:prstDash val="solid"/>
          </a:ln>
        </p:spPr>
      </p:sp>
      <p:pic>
        <p:nvPicPr>
          <p:cNvPr id="30" name="Image 2" descr="/tmp/claude-0/-home-claude/0392ef1a-ea77-535e-abf6-0e4ef3a33421/scratchpad/build/icons/n11.png">    </p:cNvPr>
          <p:cNvPicPr>
            <a:picLocks noChangeAspect="1"/>
          </p:cNvPicPr>
          <p:nvPr/>
        </p:nvPicPr>
        <p:blipFill>
          <a:blip r:embed="rId3"/>
          <a:stretch>
            <a:fillRect/>
          </a:stretch>
        </p:blipFill>
        <p:spPr>
          <a:xfrm>
            <a:off x="8330184" y="1993392"/>
            <a:ext cx="265176" cy="265176"/>
          </a:xfrm>
          <a:prstGeom prst="rect">
            <a:avLst/>
          </a:prstGeom>
        </p:spPr>
      </p:pic>
      <p:sp>
        <p:nvSpPr>
          <p:cNvPr id="31" name="Text 26"/>
          <p:cNvSpPr txBox="1"/>
          <p:nvPr/>
        </p:nvSpPr>
        <p:spPr>
          <a:xfrm>
            <a:off x="8869680" y="1865376"/>
            <a:ext cx="2697480" cy="219456"/>
          </a:xfrm>
          <a:prstGeom prst="rect">
            <a:avLst/>
          </a:prstGeom>
          <a:noFill/>
          <a:ln/>
        </p:spPr>
        <p:txBody>
          <a:bodyPr wrap="square" lIns="0" tIns="0" rIns="0" bIns="0" rtlCol="0" anchor="ctr"/>
          <a:lstStyle/>
          <a:p>
            <a:pPr indent="0" marL="0">
              <a:buNone/>
            </a:pPr>
            <a:r>
              <a:rPr lang="en-US" sz="1000" b="1" spc="160" kern="0" dirty="0">
                <a:solidFill>
                  <a:srgbClr val="1B7FA6"/>
                </a:solidFill>
                <a:latin typeface="Calibri" pitchFamily="34" charset="0"/>
                <a:ea typeface="Calibri" pitchFamily="34" charset="-122"/>
                <a:cs typeface="Calibri" pitchFamily="34" charset="-120"/>
              </a:rPr>
              <a:t>SIGNING IT</a:t>
            </a:r>
            <a:endParaRPr lang="en-US" sz="1000" dirty="0"/>
          </a:p>
        </p:txBody>
      </p:sp>
      <p:sp>
        <p:nvSpPr>
          <p:cNvPr id="32" name="Text 27"/>
          <p:cNvSpPr txBox="1"/>
          <p:nvPr/>
        </p:nvSpPr>
        <p:spPr>
          <a:xfrm>
            <a:off x="8869680" y="2084832"/>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Informed, not agreed</a:t>
            </a:r>
            <a:endParaRPr lang="en-US" sz="1200" dirty="0"/>
          </a:p>
        </p:txBody>
      </p:sp>
      <p:sp>
        <p:nvSpPr>
          <p:cNvPr id="33" name="Text 28"/>
          <p:cNvSpPr txBox="1"/>
          <p:nvPr/>
        </p:nvSpPr>
        <p:spPr>
          <a:xfrm>
            <a:off x="8229600" y="2596896"/>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Signing the outcome records that you were informed of it, not that you agree with it — and it does not affect your right to a review or an appeal (GG 4.117).</a:t>
            </a:r>
            <a:endParaRPr lang="en-US" sz="1000" dirty="0"/>
          </a:p>
        </p:txBody>
      </p:sp>
      <p:sp>
        <p:nvSpPr>
          <p:cNvPr id="34" name="Shape 29"/>
          <p:cNvSpPr/>
          <p:nvPr/>
        </p:nvSpPr>
        <p:spPr>
          <a:xfrm>
            <a:off x="457200" y="3895344"/>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35" name="Shape 30"/>
          <p:cNvSpPr/>
          <p:nvPr/>
        </p:nvSpPr>
        <p:spPr>
          <a:xfrm>
            <a:off x="457200" y="3895344"/>
            <a:ext cx="73152" cy="2103120"/>
          </a:xfrm>
          <a:prstGeom prst="rect">
            <a:avLst/>
          </a:prstGeom>
          <a:solidFill>
            <a:srgbClr val="009639"/>
          </a:solidFill>
          <a:ln w="12700">
            <a:solidFill>
              <a:srgbClr val="009639"/>
            </a:solidFill>
            <a:prstDash val="solid"/>
          </a:ln>
        </p:spPr>
      </p:sp>
      <p:sp>
        <p:nvSpPr>
          <p:cNvPr id="36" name="Shape 31"/>
          <p:cNvSpPr/>
          <p:nvPr/>
        </p:nvSpPr>
        <p:spPr>
          <a:xfrm>
            <a:off x="621792" y="4105656"/>
            <a:ext cx="502920" cy="502920"/>
          </a:xfrm>
          <a:prstGeom prst="ellipse">
            <a:avLst/>
          </a:prstGeom>
          <a:solidFill>
            <a:srgbClr val="009639"/>
          </a:solidFill>
          <a:ln w="12700">
            <a:solidFill>
              <a:srgbClr val="009639"/>
            </a:solidFill>
            <a:prstDash val="solid"/>
          </a:ln>
        </p:spPr>
      </p:sp>
      <p:pic>
        <p:nvPicPr>
          <p:cNvPr id="37" name="Image 3" descr="/tmp/claude-0/-home-claude/0392ef1a-ea77-535e-abf6-0e4ef3a33421/scratchpad/build/icons/w13.png">    </p:cNvPr>
          <p:cNvPicPr>
            <a:picLocks noChangeAspect="1"/>
          </p:cNvPicPr>
          <p:nvPr/>
        </p:nvPicPr>
        <p:blipFill>
          <a:blip r:embed="rId4"/>
          <a:stretch>
            <a:fillRect/>
          </a:stretch>
        </p:blipFill>
        <p:spPr>
          <a:xfrm>
            <a:off x="740664" y="4224528"/>
            <a:ext cx="265176" cy="265176"/>
          </a:xfrm>
          <a:prstGeom prst="rect">
            <a:avLst/>
          </a:prstGeom>
        </p:spPr>
      </p:pic>
      <p:sp>
        <p:nvSpPr>
          <p:cNvPr id="38" name="Text 32"/>
          <p:cNvSpPr txBox="1"/>
          <p:nvPr/>
        </p:nvSpPr>
        <p:spPr>
          <a:xfrm>
            <a:off x="1280160" y="4096512"/>
            <a:ext cx="2697480" cy="219456"/>
          </a:xfrm>
          <a:prstGeom prst="rect">
            <a:avLst/>
          </a:prstGeom>
          <a:noFill/>
          <a:ln/>
        </p:spPr>
        <p:txBody>
          <a:bodyPr wrap="square" lIns="0" tIns="0" rIns="0" bIns="0" rtlCol="0" anchor="ctr"/>
          <a:lstStyle/>
          <a:p>
            <a:pPr indent="0" marL="0">
              <a:buNone/>
            </a:pPr>
            <a:r>
              <a:rPr lang="en-US" sz="1000" b="1" spc="160" kern="0" dirty="0">
                <a:solidFill>
                  <a:srgbClr val="009639"/>
                </a:solidFill>
                <a:latin typeface="Calibri" pitchFamily="34" charset="0"/>
                <a:ea typeface="Calibri" pitchFamily="34" charset="-122"/>
                <a:cs typeface="Calibri" pitchFamily="34" charset="-120"/>
              </a:rPr>
              <a:t>MITIGATION</a:t>
            </a:r>
            <a:endParaRPr lang="en-US" sz="1000" dirty="0"/>
          </a:p>
        </p:txBody>
      </p:sp>
      <p:sp>
        <p:nvSpPr>
          <p:cNvPr id="39" name="Text 33"/>
          <p:cNvSpPr txBox="1"/>
          <p:nvPr/>
        </p:nvSpPr>
        <p:spPr>
          <a:xfrm>
            <a:off x="1280160" y="4315968"/>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Circumstances count</a:t>
            </a:r>
            <a:endParaRPr lang="en-US" sz="1200" dirty="0"/>
          </a:p>
        </p:txBody>
      </p:sp>
      <p:sp>
        <p:nvSpPr>
          <p:cNvPr id="40" name="Text 34"/>
          <p:cNvSpPr txBox="1"/>
          <p:nvPr/>
        </p:nvSpPr>
        <p:spPr>
          <a:xfrm>
            <a:off x="640080" y="4828032"/>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The panel must take personal circumstances into account alongside the evidence, so tell your ES early rather than hoping it will not matter (GG 4.91).</a:t>
            </a:r>
            <a:endParaRPr lang="en-US" sz="1000" dirty="0"/>
          </a:p>
        </p:txBody>
      </p:sp>
      <p:sp>
        <p:nvSpPr>
          <p:cNvPr id="41" name="Shape 35"/>
          <p:cNvSpPr/>
          <p:nvPr/>
        </p:nvSpPr>
        <p:spPr>
          <a:xfrm>
            <a:off x="4251960" y="3895344"/>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42" name="Shape 36"/>
          <p:cNvSpPr/>
          <p:nvPr/>
        </p:nvSpPr>
        <p:spPr>
          <a:xfrm>
            <a:off x="4251960" y="3895344"/>
            <a:ext cx="73152" cy="2103120"/>
          </a:xfrm>
          <a:prstGeom prst="rect">
            <a:avLst/>
          </a:prstGeom>
          <a:solidFill>
            <a:srgbClr val="FFB81C"/>
          </a:solidFill>
          <a:ln w="12700">
            <a:solidFill>
              <a:srgbClr val="FFB81C"/>
            </a:solidFill>
            <a:prstDash val="solid"/>
          </a:ln>
        </p:spPr>
      </p:sp>
      <p:sp>
        <p:nvSpPr>
          <p:cNvPr id="43" name="Shape 37"/>
          <p:cNvSpPr/>
          <p:nvPr/>
        </p:nvSpPr>
        <p:spPr>
          <a:xfrm>
            <a:off x="4416552" y="4105656"/>
            <a:ext cx="502920" cy="502920"/>
          </a:xfrm>
          <a:prstGeom prst="ellipse">
            <a:avLst/>
          </a:prstGeom>
          <a:solidFill>
            <a:srgbClr val="FFB81C"/>
          </a:solidFill>
          <a:ln w="12700">
            <a:solidFill>
              <a:srgbClr val="FFB81C"/>
            </a:solidFill>
            <a:prstDash val="solid"/>
          </a:ln>
        </p:spPr>
      </p:sp>
      <p:pic>
        <p:nvPicPr>
          <p:cNvPr id="44" name="Image 4" descr="/tmp/claude-0/-home-claude/0392ef1a-ea77-535e-abf6-0e4ef3a33421/scratchpad/build/icons/n15.png">    </p:cNvPr>
          <p:cNvPicPr>
            <a:picLocks noChangeAspect="1"/>
          </p:cNvPicPr>
          <p:nvPr/>
        </p:nvPicPr>
        <p:blipFill>
          <a:blip r:embed="rId5"/>
          <a:stretch>
            <a:fillRect/>
          </a:stretch>
        </p:blipFill>
        <p:spPr>
          <a:xfrm>
            <a:off x="4535424" y="4224528"/>
            <a:ext cx="265176" cy="265176"/>
          </a:xfrm>
          <a:prstGeom prst="rect">
            <a:avLst/>
          </a:prstGeom>
        </p:spPr>
      </p:pic>
      <p:sp>
        <p:nvSpPr>
          <p:cNvPr id="45" name="Text 38"/>
          <p:cNvSpPr txBox="1"/>
          <p:nvPr/>
        </p:nvSpPr>
        <p:spPr>
          <a:xfrm>
            <a:off x="5074920" y="4096512"/>
            <a:ext cx="2697480" cy="219456"/>
          </a:xfrm>
          <a:prstGeom prst="rect">
            <a:avLst/>
          </a:prstGeom>
          <a:noFill/>
          <a:ln/>
        </p:spPr>
        <p:txBody>
          <a:bodyPr wrap="square" lIns="0" tIns="0" rIns="0" bIns="0" rtlCol="0" anchor="ctr"/>
          <a:lstStyle/>
          <a:p>
            <a:pPr indent="0" marL="0">
              <a:buNone/>
            </a:pPr>
            <a:r>
              <a:rPr lang="en-US" sz="1000" b="1" spc="160" kern="0" dirty="0">
                <a:solidFill>
                  <a:srgbClr val="8A5E00"/>
                </a:solidFill>
                <a:latin typeface="Calibri" pitchFamily="34" charset="0"/>
                <a:ea typeface="Calibri" pitchFamily="34" charset="-122"/>
                <a:cs typeface="Calibri" pitchFamily="34" charset="-120"/>
              </a:rPr>
              <a:t>FIXED NATIONALLY</a:t>
            </a:r>
            <a:endParaRPr lang="en-US" sz="1000" dirty="0"/>
          </a:p>
        </p:txBody>
      </p:sp>
      <p:sp>
        <p:nvSpPr>
          <p:cNvPr id="46" name="Text 39"/>
          <p:cNvSpPr txBox="1"/>
          <p:nvPr/>
        </p:nvSpPr>
        <p:spPr>
          <a:xfrm>
            <a:off x="5074920" y="4315968"/>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What survives a change of date</a:t>
            </a:r>
            <a:endParaRPr lang="en-US" sz="1200" dirty="0"/>
          </a:p>
        </p:txBody>
      </p:sp>
      <p:sp>
        <p:nvSpPr>
          <p:cNvPr id="47" name="Text 40"/>
          <p:cNvSpPr txBox="1"/>
          <p:nvPr/>
        </p:nvSpPr>
        <p:spPr>
          <a:xfrm>
            <a:off x="4434840" y="4828032"/>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An ARCP at least annually and never more than 15 months apart; six weeks' notice of the evidence deadline; the portfolio submitted two weeks before the panel.</a:t>
            </a:r>
            <a:endParaRPr lang="en-US" sz="1000" dirty="0"/>
          </a:p>
        </p:txBody>
      </p:sp>
      <p:sp>
        <p:nvSpPr>
          <p:cNvPr id="48" name="Shape 41"/>
          <p:cNvSpPr/>
          <p:nvPr/>
        </p:nvSpPr>
        <p:spPr>
          <a:xfrm>
            <a:off x="8046720" y="3895344"/>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49" name="Shape 42"/>
          <p:cNvSpPr/>
          <p:nvPr/>
        </p:nvSpPr>
        <p:spPr>
          <a:xfrm>
            <a:off x="8046720" y="3895344"/>
            <a:ext cx="73152" cy="2103120"/>
          </a:xfrm>
          <a:prstGeom prst="rect">
            <a:avLst/>
          </a:prstGeom>
          <a:solidFill>
            <a:srgbClr val="330072"/>
          </a:solidFill>
          <a:ln w="12700">
            <a:solidFill>
              <a:srgbClr val="330072"/>
            </a:solidFill>
            <a:prstDash val="solid"/>
          </a:ln>
        </p:spPr>
      </p:sp>
      <p:sp>
        <p:nvSpPr>
          <p:cNvPr id="50" name="Shape 43"/>
          <p:cNvSpPr/>
          <p:nvPr/>
        </p:nvSpPr>
        <p:spPr>
          <a:xfrm>
            <a:off x="8211312" y="4105656"/>
            <a:ext cx="502920" cy="502920"/>
          </a:xfrm>
          <a:prstGeom prst="ellipse">
            <a:avLst/>
          </a:prstGeom>
          <a:solidFill>
            <a:srgbClr val="330072"/>
          </a:solidFill>
          <a:ln w="12700">
            <a:solidFill>
              <a:srgbClr val="330072"/>
            </a:solidFill>
            <a:prstDash val="solid"/>
          </a:ln>
        </p:spPr>
      </p:sp>
      <p:pic>
        <p:nvPicPr>
          <p:cNvPr id="51" name="Image 5" descr="/tmp/claude-0/-home-claude/0392ef1a-ea77-535e-abf6-0e4ef3a33421/scratchpad/build/icons/w4.png">    </p:cNvPr>
          <p:cNvPicPr>
            <a:picLocks noChangeAspect="1"/>
          </p:cNvPicPr>
          <p:nvPr/>
        </p:nvPicPr>
        <p:blipFill>
          <a:blip r:embed="rId6"/>
          <a:stretch>
            <a:fillRect/>
          </a:stretch>
        </p:blipFill>
        <p:spPr>
          <a:xfrm>
            <a:off x="8330184" y="4224528"/>
            <a:ext cx="265176" cy="265176"/>
          </a:xfrm>
          <a:prstGeom prst="rect">
            <a:avLst/>
          </a:prstGeom>
        </p:spPr>
      </p:pic>
      <p:sp>
        <p:nvSpPr>
          <p:cNvPr id="52" name="Text 44"/>
          <p:cNvSpPr txBox="1"/>
          <p:nvPr/>
        </p:nvSpPr>
        <p:spPr>
          <a:xfrm>
            <a:off x="8869680" y="4096512"/>
            <a:ext cx="2697480" cy="219456"/>
          </a:xfrm>
          <a:prstGeom prst="rect">
            <a:avLst/>
          </a:prstGeom>
          <a:noFill/>
          <a:ln/>
        </p:spPr>
        <p:txBody>
          <a:bodyPr wrap="square" lIns="0" tIns="0" rIns="0" bIns="0" rtlCol="0" anchor="ctr"/>
          <a:lstStyle/>
          <a:p>
            <a:pPr indent="0" marL="0">
              <a:buNone/>
            </a:pPr>
            <a:r>
              <a:rPr lang="en-US" sz="1000" b="1" spc="160" kern="0" dirty="0">
                <a:solidFill>
                  <a:srgbClr val="330072"/>
                </a:solidFill>
                <a:latin typeface="Calibri" pitchFamily="34" charset="0"/>
                <a:ea typeface="Calibri" pitchFamily="34" charset="-122"/>
                <a:cs typeface="Calibri" pitchFamily="34" charset="-120"/>
              </a:rPr>
              <a:t>DECIDED LOCALLY</a:t>
            </a:r>
            <a:endParaRPr lang="en-US" sz="1000" dirty="0"/>
          </a:p>
        </p:txBody>
      </p:sp>
      <p:sp>
        <p:nvSpPr>
          <p:cNvPr id="53" name="Text 45"/>
          <p:cNvSpPr txBox="1"/>
          <p:nvPr/>
        </p:nvSpPr>
        <p:spPr>
          <a:xfrm>
            <a:off x="8869680" y="4315968"/>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Ask about these at induction</a:t>
            </a:r>
            <a:endParaRPr lang="en-US" sz="1200" dirty="0"/>
          </a:p>
        </p:txBody>
      </p:sp>
      <p:sp>
        <p:nvSpPr>
          <p:cNvPr id="54" name="Text 46"/>
          <p:cNvSpPr txBox="1"/>
          <p:nvPr/>
        </p:nvSpPr>
        <p:spPr>
          <a:xfrm>
            <a:off x="8229600" y="4828032"/>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We aim to give six weeks' notice of the ARCP itself. A panel is only cancelled if a third panel member cannot be found — you are told as soon as we know, with no fixed notice period but usually around two weeks.</a:t>
            </a:r>
            <a:endParaRPr lang="en-US" sz="1000" dirty="0"/>
          </a:p>
        </p:txBody>
      </p:sp>
      <p:sp>
        <p:nvSpPr>
          <p:cNvPr id="55" name="Shape 47"/>
          <p:cNvSpPr/>
          <p:nvPr/>
        </p:nvSpPr>
        <p:spPr>
          <a:xfrm>
            <a:off x="457200" y="6071616"/>
            <a:ext cx="11247120" cy="438912"/>
          </a:xfrm>
          <a:prstGeom prst="rect">
            <a:avLst/>
          </a:prstGeom>
          <a:solidFill>
            <a:srgbClr val="F0F4F5"/>
          </a:solidFill>
          <a:ln w="12700">
            <a:solidFill>
              <a:srgbClr val="F0F4F5"/>
            </a:solidFill>
            <a:prstDash val="solid"/>
          </a:ln>
        </p:spPr>
      </p:sp>
      <p:sp>
        <p:nvSpPr>
          <p:cNvPr id="56" name="Shape 48"/>
          <p:cNvSpPr/>
          <p:nvPr/>
        </p:nvSpPr>
        <p:spPr>
          <a:xfrm>
            <a:off x="457200" y="6071616"/>
            <a:ext cx="73152" cy="438912"/>
          </a:xfrm>
          <a:prstGeom prst="rect">
            <a:avLst/>
          </a:prstGeom>
          <a:solidFill>
            <a:srgbClr val="FFB81C"/>
          </a:solidFill>
          <a:ln w="12700">
            <a:solidFill>
              <a:srgbClr val="FFB81C"/>
            </a:solidFill>
            <a:prstDash val="solid"/>
          </a:ln>
        </p:spPr>
      </p:sp>
      <p:sp>
        <p:nvSpPr>
          <p:cNvPr id="57" name="Text 49"/>
          <p:cNvSpPr txBox="1"/>
          <p:nvPr/>
        </p:nvSpPr>
        <p:spPr>
          <a:xfrm>
            <a:off x="658368" y="6071616"/>
            <a:ext cx="10881360" cy="438912"/>
          </a:xfrm>
          <a:prstGeom prst="rect">
            <a:avLst/>
          </a:prstGeom>
          <a:noFill/>
          <a:ln/>
        </p:spPr>
        <p:txBody>
          <a:bodyPr wrap="square" lIns="0" tIns="0" rIns="0" bIns="0" rtlCol="0" anchor="ctr"/>
          <a:lstStyle/>
          <a:p>
            <a:pPr indent="0" marL="0">
              <a:buNone/>
            </a:pPr>
            <a:r>
              <a:rPr lang="en-US" sz="1050" i="1" dirty="0">
                <a:solidFill>
                  <a:srgbClr val="212B32"/>
                </a:solidFill>
                <a:latin typeface="Calibri" pitchFamily="34" charset="0"/>
                <a:ea typeface="Calibri" pitchFamily="34" charset="-122"/>
                <a:cs typeface="Calibri" pitchFamily="34" charset="-120"/>
              </a:rPr>
              <a:t>The Gold Guide is silent on cancellation, but the 15-month maximum interval still applies — a cancelled panel has to be rescheduled inside it.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10584180" y="379476"/>
            <a:ext cx="82296" cy="82296"/>
          </a:xfrm>
          <a:prstGeom prst="ellipse">
            <a:avLst/>
          </a:prstGeom>
          <a:solidFill>
            <a:srgbClr val="D8DDE0"/>
          </a:solidFill>
          <a:ln w="12700">
            <a:solidFill>
              <a:srgbClr val="D8DDE0"/>
            </a:solidFill>
            <a:prstDash val="solid"/>
          </a:ln>
        </p:spPr>
      </p:sp>
      <p:sp>
        <p:nvSpPr>
          <p:cNvPr id="3" name="Shape 1"/>
          <p:cNvSpPr/>
          <p:nvPr/>
        </p:nvSpPr>
        <p:spPr>
          <a:xfrm>
            <a:off x="10776204" y="361188"/>
            <a:ext cx="118872" cy="118872"/>
          </a:xfrm>
          <a:prstGeom prst="ellipse">
            <a:avLst/>
          </a:prstGeom>
          <a:solidFill>
            <a:srgbClr val="0072CE"/>
          </a:solidFill>
          <a:ln w="12700">
            <a:solidFill>
              <a:srgbClr val="0072CE"/>
            </a:solidFill>
            <a:prstDash val="solid"/>
          </a:ln>
        </p:spPr>
      </p:sp>
      <p:sp>
        <p:nvSpPr>
          <p:cNvPr id="4" name="Shape 2"/>
          <p:cNvSpPr/>
          <p:nvPr/>
        </p:nvSpPr>
        <p:spPr>
          <a:xfrm>
            <a:off x="11004804" y="379476"/>
            <a:ext cx="82296" cy="82296"/>
          </a:xfrm>
          <a:prstGeom prst="ellipse">
            <a:avLst/>
          </a:prstGeom>
          <a:solidFill>
            <a:srgbClr val="D8DDE0"/>
          </a:solidFill>
          <a:ln w="12700">
            <a:solidFill>
              <a:srgbClr val="D8DDE0"/>
            </a:solidFill>
            <a:prstDash val="solid"/>
          </a:ln>
        </p:spPr>
      </p:sp>
      <p:sp>
        <p:nvSpPr>
          <p:cNvPr id="5" name="Shape 3"/>
          <p:cNvSpPr/>
          <p:nvPr/>
        </p:nvSpPr>
        <p:spPr>
          <a:xfrm>
            <a:off x="11215116" y="379476"/>
            <a:ext cx="82296" cy="82296"/>
          </a:xfrm>
          <a:prstGeom prst="ellipse">
            <a:avLst/>
          </a:prstGeom>
          <a:solidFill>
            <a:srgbClr val="D8DDE0"/>
          </a:solidFill>
          <a:ln w="12700">
            <a:solidFill>
              <a:srgbClr val="D8DDE0"/>
            </a:solidFill>
            <a:prstDash val="solid"/>
          </a:ln>
        </p:spPr>
      </p:sp>
      <p:sp>
        <p:nvSpPr>
          <p:cNvPr id="6" name="Shape 4"/>
          <p:cNvSpPr/>
          <p:nvPr/>
        </p:nvSpPr>
        <p:spPr>
          <a:xfrm>
            <a:off x="11425428" y="379476"/>
            <a:ext cx="82296" cy="82296"/>
          </a:xfrm>
          <a:prstGeom prst="ellipse">
            <a:avLst/>
          </a:prstGeom>
          <a:solidFill>
            <a:srgbClr val="D8DDE0"/>
          </a:solidFill>
          <a:ln w="12700">
            <a:solidFill>
              <a:srgbClr val="D8DDE0"/>
            </a:solidFill>
            <a:prstDash val="solid"/>
          </a:ln>
        </p:spPr>
      </p:sp>
      <p:sp>
        <p:nvSpPr>
          <p:cNvPr id="7" name="Shape 5"/>
          <p:cNvSpPr/>
          <p:nvPr/>
        </p:nvSpPr>
        <p:spPr>
          <a:xfrm>
            <a:off x="11635740" y="379476"/>
            <a:ext cx="82296" cy="82296"/>
          </a:xfrm>
          <a:prstGeom prst="ellipse">
            <a:avLst/>
          </a:prstGeom>
          <a:solidFill>
            <a:srgbClr val="D8DDE0"/>
          </a:solidFill>
          <a:ln w="12700">
            <a:solidFill>
              <a:srgbClr val="D8DDE0"/>
            </a:solidFill>
            <a:prstDash val="solid"/>
          </a:ln>
        </p:spPr>
      </p:sp>
      <p:sp>
        <p:nvSpPr>
          <p:cNvPr id="8" name="Text 6"/>
          <p:cNvSpPr txBox="1"/>
          <p:nvPr/>
        </p:nvSpPr>
        <p:spPr>
          <a:xfrm>
            <a:off x="457200" y="274320"/>
            <a:ext cx="9875520" cy="256032"/>
          </a:xfrm>
          <a:prstGeom prst="rect">
            <a:avLst/>
          </a:prstGeom>
          <a:noFill/>
          <a:ln/>
        </p:spPr>
        <p:txBody>
          <a:bodyPr wrap="square" lIns="0" tIns="0" rIns="0" bIns="0" rtlCol="0" anchor="ctr"/>
          <a:lstStyle/>
          <a:p>
            <a:pPr indent="0" marL="0">
              <a:buNone/>
            </a:pPr>
            <a:r>
              <a:rPr lang="en-US" sz="1100" b="1" spc="240" kern="0" dirty="0">
                <a:solidFill>
                  <a:srgbClr val="0072CE"/>
                </a:solidFill>
                <a:latin typeface="Calibri" pitchFamily="34" charset="0"/>
                <a:ea typeface="Calibri" pitchFamily="34" charset="-122"/>
                <a:cs typeface="Calibri" pitchFamily="34" charset="-120"/>
              </a:rPr>
              <a:t>PART 02 · FROM PANEL TO OUTCOME</a:t>
            </a:r>
            <a:endParaRPr lang="en-US" sz="1100" dirty="0"/>
          </a:p>
        </p:txBody>
      </p:sp>
      <p:sp>
        <p:nvSpPr>
          <p:cNvPr id="9" name="Text 7"/>
          <p:cNvSpPr txBox="1"/>
          <p:nvPr/>
        </p:nvSpPr>
        <p:spPr>
          <a:xfrm>
            <a:off x="457200" y="512064"/>
            <a:ext cx="11247120" cy="658368"/>
          </a:xfrm>
          <a:prstGeom prst="rect">
            <a:avLst/>
          </a:prstGeom>
          <a:noFill/>
          <a:ln/>
        </p:spPr>
        <p:txBody>
          <a:bodyPr wrap="square" lIns="0" tIns="0" rIns="0" bIns="0" rtlCol="0" anchor="ctr"/>
          <a:lstStyle/>
          <a:p>
            <a:pPr indent="0" marL="0">
              <a:buNone/>
            </a:pPr>
            <a:r>
              <a:rPr lang="en-US" sz="3000" b="1" dirty="0">
                <a:solidFill>
                  <a:srgbClr val="003087"/>
                </a:solidFill>
                <a:latin typeface="Calibri" pitchFamily="34" charset="0"/>
                <a:ea typeface="Calibri" pitchFamily="34" charset="-122"/>
                <a:cs typeface="Calibri" pitchFamily="34" charset="-120"/>
              </a:rPr>
              <a:t>What happens after the panel sits</a:t>
            </a:r>
            <a:endParaRPr lang="en-US" sz="3000" dirty="0"/>
          </a:p>
        </p:txBody>
      </p:sp>
      <p:sp>
        <p:nvSpPr>
          <p:cNvPr id="10" name="Text 8"/>
          <p:cNvSpPr txBox="1"/>
          <p:nvPr/>
        </p:nvSpPr>
        <p:spPr>
          <a:xfrm>
            <a:off x="457200" y="1170432"/>
            <a:ext cx="11247120" cy="411480"/>
          </a:xfrm>
          <a:prstGeom prst="rect">
            <a:avLst/>
          </a:prstGeom>
          <a:noFill/>
          <a:ln/>
        </p:spPr>
        <p:txBody>
          <a:bodyPr wrap="square" lIns="0" tIns="0" rIns="0" bIns="0" rtlCol="0" anchor="t"/>
          <a:lstStyle/>
          <a:p>
            <a:pPr indent="0" marL="0">
              <a:buNone/>
            </a:pPr>
            <a:r>
              <a:rPr lang="en-US" sz="1200" i="1" dirty="0">
                <a:solidFill>
                  <a:srgbClr val="768692"/>
                </a:solidFill>
                <a:latin typeface="Calibri" pitchFamily="34" charset="0"/>
                <a:ea typeface="Calibri" pitchFamily="34" charset="-122"/>
                <a:cs typeface="Calibri" pitchFamily="34" charset="-120"/>
              </a:rPr>
              <a:t>Your ARCP result should reach you within 24 hours of the panel — West Midlands guidance. The Gold Guide fixes the sequence below, but sets no national interval of its own.</a:t>
            </a:r>
            <a:endParaRPr lang="en-US" sz="1200" dirty="0"/>
          </a:p>
        </p:txBody>
      </p:sp>
      <p:sp>
        <p:nvSpPr>
          <p:cNvPr id="11" name="Text 9"/>
          <p:cNvSpPr txBox="1"/>
          <p:nvPr/>
        </p:nvSpPr>
        <p:spPr>
          <a:xfrm>
            <a:off x="457200" y="6547104"/>
            <a:ext cx="7315200" cy="274320"/>
          </a:xfrm>
          <a:prstGeom prst="rect">
            <a:avLst/>
          </a:prstGeom>
          <a:noFill/>
          <a:ln/>
        </p:spPr>
        <p:txBody>
          <a:bodyPr wrap="square" lIns="0" tIns="0" rIns="0" bIns="0" rtlCol="0" anchor="ctr"/>
          <a:lstStyle/>
          <a:p>
            <a:pPr indent="0" marL="0">
              <a:buNone/>
            </a:pPr>
            <a:r>
              <a:rPr lang="en-US" sz="900" dirty="0">
                <a:solidFill>
                  <a:srgbClr val="768692"/>
                </a:solidFill>
                <a:latin typeface="Calibri" pitchFamily="34" charset="0"/>
                <a:ea typeface="Calibri" pitchFamily="34" charset="-122"/>
                <a:cs typeface="Calibri" pitchFamily="34" charset="-120"/>
              </a:rPr>
              <a:t>GIM ARCP · trainee guidance · </a:t>
            </a:r>
            <a:pPr indent="0" marL="0">
              <a:buNone/>
            </a:pPr>
            <a:r>
              <a:rPr lang="en-US" sz="900" b="1" dirty="0">
                <a:solidFill>
                  <a:srgbClr val="8A5E00"/>
                </a:solidFill>
                <a:latin typeface="Calibri" pitchFamily="34" charset="0"/>
                <a:ea typeface="Calibri" pitchFamily="34" charset="-122"/>
                <a:cs typeface="Calibri" pitchFamily="34" charset="-120"/>
              </a:rPr>
              <a:t>DRAFT</a:t>
            </a:r>
            <a:endParaRPr lang="en-US" sz="900" dirty="0"/>
          </a:p>
        </p:txBody>
      </p:sp>
      <p:sp>
        <p:nvSpPr>
          <p:cNvPr id="12" name="Text 10"/>
          <p:cNvSpPr txBox="1"/>
          <p:nvPr/>
        </p:nvSpPr>
        <p:spPr>
          <a:xfrm>
            <a:off x="11155680" y="6547104"/>
            <a:ext cx="548640" cy="274320"/>
          </a:xfrm>
          <a:prstGeom prst="rect">
            <a:avLst/>
          </a:prstGeom>
          <a:noFill/>
          <a:ln/>
        </p:spPr>
        <p:txBody>
          <a:bodyPr wrap="square" lIns="0" tIns="0" rIns="0" bIns="0" rtlCol="0" anchor="ctr"/>
          <a:lstStyle/>
          <a:p>
            <a:pPr algn="r" indent="0" marL="0">
              <a:buNone/>
            </a:pPr>
            <a:r>
              <a:rPr lang="en-US" sz="900" dirty="0">
                <a:solidFill>
                  <a:srgbClr val="768692"/>
                </a:solidFill>
                <a:latin typeface="Calibri" pitchFamily="34" charset="0"/>
                <a:ea typeface="Calibri" pitchFamily="34" charset="-122"/>
                <a:cs typeface="Calibri" pitchFamily="34" charset="-120"/>
              </a:rPr>
              <a:t>5</a:t>
            </a:r>
            <a:endParaRPr lang="en-US" sz="900" dirty="0"/>
          </a:p>
        </p:txBody>
      </p:sp>
      <p:sp>
        <p:nvSpPr>
          <p:cNvPr id="13" name="Shape 11"/>
          <p:cNvSpPr/>
          <p:nvPr/>
        </p:nvSpPr>
        <p:spPr>
          <a:xfrm>
            <a:off x="548640" y="2576322"/>
            <a:ext cx="11064240" cy="27432"/>
          </a:xfrm>
          <a:prstGeom prst="rect">
            <a:avLst/>
          </a:prstGeom>
          <a:solidFill>
            <a:srgbClr val="D8DDE0"/>
          </a:solidFill>
          <a:ln w="12700">
            <a:solidFill>
              <a:srgbClr val="D8DDE0"/>
            </a:solidFill>
            <a:prstDash val="solid"/>
          </a:ln>
        </p:spPr>
      </p:sp>
      <p:sp>
        <p:nvSpPr>
          <p:cNvPr id="14" name="Shape 12"/>
          <p:cNvSpPr/>
          <p:nvPr/>
        </p:nvSpPr>
        <p:spPr>
          <a:xfrm>
            <a:off x="1349654" y="2416302"/>
            <a:ext cx="347472" cy="347472"/>
          </a:xfrm>
          <a:prstGeom prst="ellipse">
            <a:avLst/>
          </a:prstGeom>
          <a:solidFill>
            <a:srgbClr val="003087"/>
          </a:solidFill>
          <a:ln w="25400">
            <a:solidFill>
              <a:srgbClr val="FFFFFF"/>
            </a:solidFill>
            <a:prstDash val="solid"/>
          </a:ln>
        </p:spPr>
      </p:sp>
      <p:sp>
        <p:nvSpPr>
          <p:cNvPr id="15" name="Text 13"/>
          <p:cNvSpPr txBox="1"/>
          <p:nvPr/>
        </p:nvSpPr>
        <p:spPr>
          <a:xfrm>
            <a:off x="1349654" y="241630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6" name="Text 14"/>
          <p:cNvSpPr txBox="1"/>
          <p:nvPr/>
        </p:nvSpPr>
        <p:spPr>
          <a:xfrm>
            <a:off x="457200" y="2009394"/>
            <a:ext cx="2132381" cy="384048"/>
          </a:xfrm>
          <a:prstGeom prst="rect">
            <a:avLst/>
          </a:prstGeom>
          <a:noFill/>
          <a:ln/>
        </p:spPr>
        <p:txBody>
          <a:bodyPr wrap="square" lIns="0" tIns="0" rIns="0" bIns="0" rtlCol="0" anchor="ctr"/>
          <a:lstStyle/>
          <a:p>
            <a:pPr algn="ctr" indent="0" marL="0">
              <a:buNone/>
            </a:pPr>
            <a:r>
              <a:rPr lang="en-US" sz="1500" b="1" dirty="0">
                <a:solidFill>
                  <a:srgbClr val="003087"/>
                </a:solidFill>
                <a:latin typeface="Calibri" pitchFamily="34" charset="0"/>
                <a:ea typeface="Calibri" pitchFamily="34" charset="-122"/>
                <a:cs typeface="Calibri" pitchFamily="34" charset="-120"/>
              </a:rPr>
              <a:t>Panel</a:t>
            </a:r>
            <a:endParaRPr lang="en-US" sz="1500" dirty="0"/>
          </a:p>
        </p:txBody>
      </p:sp>
      <p:sp>
        <p:nvSpPr>
          <p:cNvPr id="17" name="Shape 15"/>
          <p:cNvSpPr/>
          <p:nvPr/>
        </p:nvSpPr>
        <p:spPr>
          <a:xfrm>
            <a:off x="457200" y="2942082"/>
            <a:ext cx="2132381" cy="2711196"/>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18" name="Shape 16"/>
          <p:cNvSpPr/>
          <p:nvPr/>
        </p:nvSpPr>
        <p:spPr>
          <a:xfrm>
            <a:off x="457200" y="2942082"/>
            <a:ext cx="2132381" cy="64008"/>
          </a:xfrm>
          <a:prstGeom prst="rect">
            <a:avLst/>
          </a:prstGeom>
          <a:solidFill>
            <a:srgbClr val="003087"/>
          </a:solidFill>
          <a:ln w="12700">
            <a:solidFill>
              <a:srgbClr val="003087"/>
            </a:solidFill>
            <a:prstDash val="solid"/>
          </a:ln>
        </p:spPr>
      </p:sp>
      <p:sp>
        <p:nvSpPr>
          <p:cNvPr id="19" name="Text 17"/>
          <p:cNvSpPr txBox="1"/>
          <p:nvPr/>
        </p:nvSpPr>
        <p:spPr>
          <a:xfrm>
            <a:off x="585216" y="3143250"/>
            <a:ext cx="1876349" cy="50292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Evidence reviewed</a:t>
            </a:r>
            <a:endParaRPr lang="en-US" sz="1200" dirty="0"/>
          </a:p>
        </p:txBody>
      </p:sp>
      <p:sp>
        <p:nvSpPr>
          <p:cNvPr id="20" name="Text 18"/>
          <p:cNvSpPr txBox="1"/>
          <p:nvPr/>
        </p:nvSpPr>
        <p:spPr>
          <a:xfrm>
            <a:off x="585216" y="3691890"/>
            <a:ext cx="1876349" cy="179679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The panel reviews the evidence you and your ES submitted and agrees a recommended outcome. You are not present for it, and nothing is assessed live (GG 4.81).</a:t>
            </a:r>
            <a:endParaRPr lang="en-US" sz="1000" dirty="0"/>
          </a:p>
        </p:txBody>
      </p:sp>
      <p:sp>
        <p:nvSpPr>
          <p:cNvPr id="21" name="Shape 19"/>
          <p:cNvSpPr/>
          <p:nvPr/>
        </p:nvSpPr>
        <p:spPr>
          <a:xfrm>
            <a:off x="3628339" y="2416302"/>
            <a:ext cx="347472" cy="347472"/>
          </a:xfrm>
          <a:prstGeom prst="ellipse">
            <a:avLst/>
          </a:prstGeom>
          <a:solidFill>
            <a:srgbClr val="0072CE"/>
          </a:solidFill>
          <a:ln w="25400">
            <a:solidFill>
              <a:srgbClr val="FFFFFF"/>
            </a:solidFill>
            <a:prstDash val="solid"/>
          </a:ln>
        </p:spPr>
      </p:sp>
      <p:sp>
        <p:nvSpPr>
          <p:cNvPr id="22" name="Text 20"/>
          <p:cNvSpPr txBox="1"/>
          <p:nvPr/>
        </p:nvSpPr>
        <p:spPr>
          <a:xfrm>
            <a:off x="3628339" y="241630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3" name="Text 21"/>
          <p:cNvSpPr txBox="1"/>
          <p:nvPr/>
        </p:nvSpPr>
        <p:spPr>
          <a:xfrm>
            <a:off x="2735885" y="2009394"/>
            <a:ext cx="2132381" cy="384048"/>
          </a:xfrm>
          <a:prstGeom prst="rect">
            <a:avLst/>
          </a:prstGeom>
          <a:noFill/>
          <a:ln/>
        </p:spPr>
        <p:txBody>
          <a:bodyPr wrap="square" lIns="0" tIns="0" rIns="0" bIns="0" rtlCol="0" anchor="ctr"/>
          <a:lstStyle/>
          <a:p>
            <a:pPr algn="ctr" indent="0" marL="0">
              <a:buNone/>
            </a:pPr>
            <a:r>
              <a:rPr lang="en-US" sz="1500" b="1" dirty="0">
                <a:solidFill>
                  <a:srgbClr val="0072CE"/>
                </a:solidFill>
                <a:latin typeface="Calibri" pitchFamily="34" charset="0"/>
                <a:ea typeface="Calibri" pitchFamily="34" charset="-122"/>
                <a:cs typeface="Calibri" pitchFamily="34" charset="-120"/>
              </a:rPr>
              <a:t>Checks</a:t>
            </a:r>
            <a:endParaRPr lang="en-US" sz="1500" dirty="0"/>
          </a:p>
        </p:txBody>
      </p:sp>
      <p:sp>
        <p:nvSpPr>
          <p:cNvPr id="24" name="Shape 22"/>
          <p:cNvSpPr/>
          <p:nvPr/>
        </p:nvSpPr>
        <p:spPr>
          <a:xfrm>
            <a:off x="2735885" y="2942082"/>
            <a:ext cx="2132381" cy="2711196"/>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25" name="Shape 23"/>
          <p:cNvSpPr/>
          <p:nvPr/>
        </p:nvSpPr>
        <p:spPr>
          <a:xfrm>
            <a:off x="2735885" y="2942082"/>
            <a:ext cx="2132381" cy="64008"/>
          </a:xfrm>
          <a:prstGeom prst="rect">
            <a:avLst/>
          </a:prstGeom>
          <a:solidFill>
            <a:srgbClr val="0072CE"/>
          </a:solidFill>
          <a:ln w="12700">
            <a:solidFill>
              <a:srgbClr val="0072CE"/>
            </a:solidFill>
            <a:prstDash val="solid"/>
          </a:ln>
        </p:spPr>
      </p:sp>
      <p:sp>
        <p:nvSpPr>
          <p:cNvPr id="26" name="Text 24"/>
          <p:cNvSpPr txBox="1"/>
          <p:nvPr/>
        </p:nvSpPr>
        <p:spPr>
          <a:xfrm>
            <a:off x="2863901" y="3143250"/>
            <a:ext cx="1876349" cy="50292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Provisional outcome</a:t>
            </a:r>
            <a:endParaRPr lang="en-US" sz="1200" dirty="0"/>
          </a:p>
        </p:txBody>
      </p:sp>
      <p:sp>
        <p:nvSpPr>
          <p:cNvPr id="27" name="Text 25"/>
          <p:cNvSpPr txBox="1"/>
          <p:nvPr/>
        </p:nvSpPr>
        <p:spPr>
          <a:xfrm>
            <a:off x="2863901" y="3691890"/>
            <a:ext cx="1876349" cy="179679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The outcome recommended by the panel may be provisional until quality management checks have been completed, so what you first see is not always the final position (GG 4.117).</a:t>
            </a:r>
            <a:endParaRPr lang="en-US" sz="1000" dirty="0"/>
          </a:p>
        </p:txBody>
      </p:sp>
      <p:sp>
        <p:nvSpPr>
          <p:cNvPr id="28" name="Shape 26"/>
          <p:cNvSpPr/>
          <p:nvPr/>
        </p:nvSpPr>
        <p:spPr>
          <a:xfrm>
            <a:off x="5907024" y="2416302"/>
            <a:ext cx="347472" cy="347472"/>
          </a:xfrm>
          <a:prstGeom prst="ellipse">
            <a:avLst/>
          </a:prstGeom>
          <a:solidFill>
            <a:srgbClr val="41B6E6"/>
          </a:solidFill>
          <a:ln w="25400">
            <a:solidFill>
              <a:srgbClr val="FFFFFF"/>
            </a:solidFill>
            <a:prstDash val="solid"/>
          </a:ln>
        </p:spPr>
      </p:sp>
      <p:sp>
        <p:nvSpPr>
          <p:cNvPr id="29" name="Text 27"/>
          <p:cNvSpPr txBox="1"/>
          <p:nvPr/>
        </p:nvSpPr>
        <p:spPr>
          <a:xfrm>
            <a:off x="5907024" y="2416302"/>
            <a:ext cx="347472" cy="347472"/>
          </a:xfrm>
          <a:prstGeom prst="rect">
            <a:avLst/>
          </a:prstGeom>
          <a:noFill/>
          <a:ln/>
        </p:spPr>
        <p:txBody>
          <a:bodyPr wrap="square" lIns="0" tIns="0" rIns="0" bIns="0" rtlCol="0" anchor="ctr"/>
          <a:lstStyle/>
          <a:p>
            <a:pPr algn="ctr" indent="0" marL="0">
              <a:buNone/>
            </a:pPr>
            <a:r>
              <a:rPr lang="en-US" sz="1200" b="1" dirty="0">
                <a:solidFill>
                  <a:srgbClr val="003087"/>
                </a:solidFill>
                <a:latin typeface="Calibri" pitchFamily="34" charset="0"/>
                <a:ea typeface="Calibri" pitchFamily="34" charset="-122"/>
                <a:cs typeface="Calibri" pitchFamily="34" charset="-120"/>
              </a:rPr>
              <a:t>3</a:t>
            </a:r>
            <a:endParaRPr lang="en-US" sz="1200" dirty="0"/>
          </a:p>
        </p:txBody>
      </p:sp>
      <p:sp>
        <p:nvSpPr>
          <p:cNvPr id="30" name="Text 28"/>
          <p:cNvSpPr txBox="1"/>
          <p:nvPr/>
        </p:nvSpPr>
        <p:spPr>
          <a:xfrm>
            <a:off x="5014570" y="2009394"/>
            <a:ext cx="2132381" cy="384048"/>
          </a:xfrm>
          <a:prstGeom prst="rect">
            <a:avLst/>
          </a:prstGeom>
          <a:noFill/>
          <a:ln/>
        </p:spPr>
        <p:txBody>
          <a:bodyPr wrap="square" lIns="0" tIns="0" rIns="0" bIns="0" rtlCol="0" anchor="ctr"/>
          <a:lstStyle/>
          <a:p>
            <a:pPr algn="ctr" indent="0" marL="0">
              <a:buNone/>
            </a:pPr>
            <a:r>
              <a:rPr lang="en-US" sz="1500" b="1" dirty="0">
                <a:solidFill>
                  <a:srgbClr val="1B7FA6"/>
                </a:solidFill>
                <a:latin typeface="Calibri" pitchFamily="34" charset="0"/>
                <a:ea typeface="Calibri" pitchFamily="34" charset="-122"/>
                <a:cs typeface="Calibri" pitchFamily="34" charset="-120"/>
              </a:rPr>
              <a:t>Within 24 hours</a:t>
            </a:r>
            <a:endParaRPr lang="en-US" sz="1500" dirty="0"/>
          </a:p>
        </p:txBody>
      </p:sp>
      <p:sp>
        <p:nvSpPr>
          <p:cNvPr id="31" name="Shape 29"/>
          <p:cNvSpPr/>
          <p:nvPr/>
        </p:nvSpPr>
        <p:spPr>
          <a:xfrm>
            <a:off x="5014570" y="2942082"/>
            <a:ext cx="2132381" cy="2711196"/>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32" name="Shape 30"/>
          <p:cNvSpPr/>
          <p:nvPr/>
        </p:nvSpPr>
        <p:spPr>
          <a:xfrm>
            <a:off x="5014570" y="2942082"/>
            <a:ext cx="2132381" cy="64008"/>
          </a:xfrm>
          <a:prstGeom prst="rect">
            <a:avLst/>
          </a:prstGeom>
          <a:solidFill>
            <a:srgbClr val="41B6E6"/>
          </a:solidFill>
          <a:ln w="12700">
            <a:solidFill>
              <a:srgbClr val="41B6E6"/>
            </a:solidFill>
            <a:prstDash val="solid"/>
          </a:ln>
        </p:spPr>
      </p:sp>
      <p:sp>
        <p:nvSpPr>
          <p:cNvPr id="33" name="Text 31"/>
          <p:cNvSpPr txBox="1"/>
          <p:nvPr/>
        </p:nvSpPr>
        <p:spPr>
          <a:xfrm>
            <a:off x="5142586" y="3143250"/>
            <a:ext cx="1876349" cy="50292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Your result is released</a:t>
            </a:r>
            <a:endParaRPr lang="en-US" sz="1200" dirty="0"/>
          </a:p>
        </p:txBody>
      </p:sp>
      <p:sp>
        <p:nvSpPr>
          <p:cNvPr id="34" name="Text 32"/>
          <p:cNvSpPr txBox="1"/>
          <p:nvPr/>
        </p:nvSpPr>
        <p:spPr>
          <a:xfrm>
            <a:off x="5142586" y="3691890"/>
            <a:ext cx="1876349" cy="179679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West Midlands guidance: the outcome is delivered within 24 hours of the panel — and where an Outcome 5 was issued, within 24 hours of the deadline date for the missing evidence. It goes to you, your TPD and your ES, and you sign it (GG 4.117).</a:t>
            </a:r>
            <a:endParaRPr lang="en-US" sz="1000" dirty="0"/>
          </a:p>
        </p:txBody>
      </p:sp>
      <p:sp>
        <p:nvSpPr>
          <p:cNvPr id="35" name="Shape 33"/>
          <p:cNvSpPr/>
          <p:nvPr/>
        </p:nvSpPr>
        <p:spPr>
          <a:xfrm>
            <a:off x="8185709" y="2416302"/>
            <a:ext cx="347472" cy="347472"/>
          </a:xfrm>
          <a:prstGeom prst="ellipse">
            <a:avLst/>
          </a:prstGeom>
          <a:solidFill>
            <a:srgbClr val="009639"/>
          </a:solidFill>
          <a:ln w="25400">
            <a:solidFill>
              <a:srgbClr val="FFFFFF"/>
            </a:solidFill>
            <a:prstDash val="solid"/>
          </a:ln>
        </p:spPr>
      </p:sp>
      <p:sp>
        <p:nvSpPr>
          <p:cNvPr id="36" name="Text 34"/>
          <p:cNvSpPr txBox="1"/>
          <p:nvPr/>
        </p:nvSpPr>
        <p:spPr>
          <a:xfrm>
            <a:off x="8185709" y="241630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7" name="Text 35"/>
          <p:cNvSpPr txBox="1"/>
          <p:nvPr/>
        </p:nvSpPr>
        <p:spPr>
          <a:xfrm>
            <a:off x="7293254" y="2009394"/>
            <a:ext cx="2132381" cy="384048"/>
          </a:xfrm>
          <a:prstGeom prst="rect">
            <a:avLst/>
          </a:prstGeom>
          <a:noFill/>
          <a:ln/>
        </p:spPr>
        <p:txBody>
          <a:bodyPr wrap="square" lIns="0" tIns="0" rIns="0" bIns="0" rtlCol="0" anchor="ctr"/>
          <a:lstStyle/>
          <a:p>
            <a:pPr algn="ctr" indent="0" marL="0">
              <a:buNone/>
            </a:pPr>
            <a:r>
              <a:rPr lang="en-US" sz="1500" b="1" dirty="0">
                <a:solidFill>
                  <a:srgbClr val="009639"/>
                </a:solidFill>
                <a:latin typeface="Calibri" pitchFamily="34" charset="0"/>
                <a:ea typeface="Calibri" pitchFamily="34" charset="-122"/>
                <a:cs typeface="Calibri" pitchFamily="34" charset="-120"/>
              </a:rPr>
              <a:t>If 2, 3 or 4</a:t>
            </a:r>
            <a:endParaRPr lang="en-US" sz="1500" dirty="0"/>
          </a:p>
        </p:txBody>
      </p:sp>
      <p:sp>
        <p:nvSpPr>
          <p:cNvPr id="38" name="Shape 36"/>
          <p:cNvSpPr/>
          <p:nvPr/>
        </p:nvSpPr>
        <p:spPr>
          <a:xfrm>
            <a:off x="7293254" y="2942082"/>
            <a:ext cx="2132381" cy="2711196"/>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39" name="Shape 37"/>
          <p:cNvSpPr/>
          <p:nvPr/>
        </p:nvSpPr>
        <p:spPr>
          <a:xfrm>
            <a:off x="7293254" y="2942082"/>
            <a:ext cx="2132381" cy="64008"/>
          </a:xfrm>
          <a:prstGeom prst="rect">
            <a:avLst/>
          </a:prstGeom>
          <a:solidFill>
            <a:srgbClr val="009639"/>
          </a:solidFill>
          <a:ln w="12700">
            <a:solidFill>
              <a:srgbClr val="009639"/>
            </a:solidFill>
            <a:prstDash val="solid"/>
          </a:ln>
        </p:spPr>
      </p:sp>
      <p:sp>
        <p:nvSpPr>
          <p:cNvPr id="40" name="Text 38"/>
          <p:cNvSpPr txBox="1"/>
          <p:nvPr/>
        </p:nvSpPr>
        <p:spPr>
          <a:xfrm>
            <a:off x="7421270" y="3143250"/>
            <a:ext cx="1876349" cy="50292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You meet the panel</a:t>
            </a:r>
            <a:endParaRPr lang="en-US" sz="1200" dirty="0"/>
          </a:p>
        </p:txBody>
      </p:sp>
      <p:sp>
        <p:nvSpPr>
          <p:cNvPr id="41" name="Text 39"/>
          <p:cNvSpPr txBox="1"/>
          <p:nvPr/>
        </p:nvSpPr>
        <p:spPr>
          <a:xfrm>
            <a:off x="7421270" y="3691890"/>
            <a:ext cx="1876349" cy="179679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An Outcome 1 is not discussed with you. It is released, and next year's plan is picked up at your next ES meeting. Where an Outcome 2/10.1, 3/10.2 or 4 is recommended you must meet the panel or a senior educator at the earliest opportunity, to agree remedial training or make clear what you leave with (GG 4.83, 4.158-4.159).</a:t>
            </a:r>
            <a:endParaRPr lang="en-US" sz="1000" dirty="0"/>
          </a:p>
        </p:txBody>
      </p:sp>
      <p:sp>
        <p:nvSpPr>
          <p:cNvPr id="42" name="Shape 40"/>
          <p:cNvSpPr/>
          <p:nvPr/>
        </p:nvSpPr>
        <p:spPr>
          <a:xfrm>
            <a:off x="10464394" y="2416302"/>
            <a:ext cx="347472" cy="347472"/>
          </a:xfrm>
          <a:prstGeom prst="ellipse">
            <a:avLst/>
          </a:prstGeom>
          <a:solidFill>
            <a:srgbClr val="FFB81C"/>
          </a:solidFill>
          <a:ln w="25400">
            <a:solidFill>
              <a:srgbClr val="FFFFFF"/>
            </a:solidFill>
            <a:prstDash val="solid"/>
          </a:ln>
        </p:spPr>
      </p:sp>
      <p:sp>
        <p:nvSpPr>
          <p:cNvPr id="43" name="Text 41"/>
          <p:cNvSpPr txBox="1"/>
          <p:nvPr/>
        </p:nvSpPr>
        <p:spPr>
          <a:xfrm>
            <a:off x="10464394" y="2416302"/>
            <a:ext cx="347472" cy="347472"/>
          </a:xfrm>
          <a:prstGeom prst="rect">
            <a:avLst/>
          </a:prstGeom>
          <a:noFill/>
          <a:ln/>
        </p:spPr>
        <p:txBody>
          <a:bodyPr wrap="square" lIns="0" tIns="0" rIns="0" bIns="0" rtlCol="0" anchor="ctr"/>
          <a:lstStyle/>
          <a:p>
            <a:pPr algn="ctr" indent="0" marL="0">
              <a:buNone/>
            </a:pPr>
            <a:r>
              <a:rPr lang="en-US" sz="1200" b="1" dirty="0">
                <a:solidFill>
                  <a:srgbClr val="003087"/>
                </a:solidFill>
                <a:latin typeface="Calibri" pitchFamily="34" charset="0"/>
                <a:ea typeface="Calibri" pitchFamily="34" charset="-122"/>
                <a:cs typeface="Calibri" pitchFamily="34" charset="-120"/>
              </a:rPr>
              <a:t>5</a:t>
            </a:r>
            <a:endParaRPr lang="en-US" sz="1200" dirty="0"/>
          </a:p>
        </p:txBody>
      </p:sp>
      <p:sp>
        <p:nvSpPr>
          <p:cNvPr id="44" name="Text 42"/>
          <p:cNvSpPr txBox="1"/>
          <p:nvPr/>
        </p:nvSpPr>
        <p:spPr>
          <a:xfrm>
            <a:off x="9571939" y="2009394"/>
            <a:ext cx="2132381" cy="384048"/>
          </a:xfrm>
          <a:prstGeom prst="rect">
            <a:avLst/>
          </a:prstGeom>
          <a:noFill/>
          <a:ln/>
        </p:spPr>
        <p:txBody>
          <a:bodyPr wrap="square" lIns="0" tIns="0" rIns="0" bIns="0" rtlCol="0" anchor="ctr"/>
          <a:lstStyle/>
          <a:p>
            <a:pPr algn="ctr" indent="0" marL="0">
              <a:buNone/>
            </a:pPr>
            <a:r>
              <a:rPr lang="en-US" sz="1500" b="1" dirty="0">
                <a:solidFill>
                  <a:srgbClr val="8A5E00"/>
                </a:solidFill>
                <a:latin typeface="Calibri" pitchFamily="34" charset="0"/>
                <a:ea typeface="Calibri" pitchFamily="34" charset="-122"/>
                <a:cs typeface="Calibri" pitchFamily="34" charset="-120"/>
              </a:rPr>
              <a:t>Confirmed</a:t>
            </a:r>
            <a:endParaRPr lang="en-US" sz="1500" dirty="0"/>
          </a:p>
        </p:txBody>
      </p:sp>
      <p:sp>
        <p:nvSpPr>
          <p:cNvPr id="45" name="Shape 43"/>
          <p:cNvSpPr/>
          <p:nvPr/>
        </p:nvSpPr>
        <p:spPr>
          <a:xfrm>
            <a:off x="9571939" y="2942082"/>
            <a:ext cx="2132381" cy="2711196"/>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46" name="Shape 44"/>
          <p:cNvSpPr/>
          <p:nvPr/>
        </p:nvSpPr>
        <p:spPr>
          <a:xfrm>
            <a:off x="9571939" y="2942082"/>
            <a:ext cx="2132381" cy="64008"/>
          </a:xfrm>
          <a:prstGeom prst="rect">
            <a:avLst/>
          </a:prstGeom>
          <a:solidFill>
            <a:srgbClr val="FFB81C"/>
          </a:solidFill>
          <a:ln w="12700">
            <a:solidFill>
              <a:srgbClr val="FFB81C"/>
            </a:solidFill>
            <a:prstDash val="solid"/>
          </a:ln>
        </p:spPr>
      </p:sp>
      <p:sp>
        <p:nvSpPr>
          <p:cNvPr id="47" name="Text 45"/>
          <p:cNvSpPr txBox="1"/>
          <p:nvPr/>
        </p:nvSpPr>
        <p:spPr>
          <a:xfrm>
            <a:off x="9699955" y="3143250"/>
            <a:ext cx="1876349" cy="50292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In writing, then to the GMC</a:t>
            </a:r>
            <a:endParaRPr lang="en-US" sz="1200" dirty="0"/>
          </a:p>
        </p:txBody>
      </p:sp>
      <p:sp>
        <p:nvSpPr>
          <p:cNvPr id="48" name="Text 46"/>
          <p:cNvSpPr txBox="1"/>
          <p:nvPr/>
        </p:nvSpPr>
        <p:spPr>
          <a:xfrm>
            <a:off x="9699955" y="3691890"/>
            <a:ext cx="1876349" cy="179679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Written guidance accompanies every outcome — through the e-portfolio for an Outcome 1 or 6. An Outcome 3/10.2 or 4 is confirmed in writing by the Postgraduate Dean with your review and appeal rights. Outcomes are then submitted to the GMC (GG 4.92, 4.118–4.120).</a:t>
            </a:r>
            <a:endParaRPr lang="en-US" sz="1000" dirty="0"/>
          </a:p>
        </p:txBody>
      </p:sp>
      <p:sp>
        <p:nvSpPr>
          <p:cNvPr id="49" name="Shape 47"/>
          <p:cNvSpPr/>
          <p:nvPr/>
        </p:nvSpPr>
        <p:spPr>
          <a:xfrm>
            <a:off x="457200" y="6071616"/>
            <a:ext cx="11247120" cy="438912"/>
          </a:xfrm>
          <a:prstGeom prst="rect">
            <a:avLst/>
          </a:prstGeom>
          <a:solidFill>
            <a:srgbClr val="F0F4F5"/>
          </a:solidFill>
          <a:ln w="12700">
            <a:solidFill>
              <a:srgbClr val="F0F4F5"/>
            </a:solidFill>
            <a:prstDash val="solid"/>
          </a:ln>
        </p:spPr>
      </p:sp>
      <p:sp>
        <p:nvSpPr>
          <p:cNvPr id="50" name="Shape 48"/>
          <p:cNvSpPr/>
          <p:nvPr/>
        </p:nvSpPr>
        <p:spPr>
          <a:xfrm>
            <a:off x="457200" y="6071616"/>
            <a:ext cx="73152" cy="438912"/>
          </a:xfrm>
          <a:prstGeom prst="rect">
            <a:avLst/>
          </a:prstGeom>
          <a:solidFill>
            <a:srgbClr val="0072CE"/>
          </a:solidFill>
          <a:ln w="12700">
            <a:solidFill>
              <a:srgbClr val="0072CE"/>
            </a:solidFill>
            <a:prstDash val="solid"/>
          </a:ln>
        </p:spPr>
      </p:sp>
      <p:sp>
        <p:nvSpPr>
          <p:cNvPr id="51" name="Text 49"/>
          <p:cNvSpPr txBox="1"/>
          <p:nvPr/>
        </p:nvSpPr>
        <p:spPr>
          <a:xfrm>
            <a:off x="658368" y="6071616"/>
            <a:ext cx="10881360" cy="438912"/>
          </a:xfrm>
          <a:prstGeom prst="rect">
            <a:avLst/>
          </a:prstGeom>
          <a:noFill/>
          <a:ln/>
        </p:spPr>
        <p:txBody>
          <a:bodyPr wrap="square" lIns="0" tIns="0" rIns="0" bIns="0" rtlCol="0" anchor="ctr"/>
          <a:lstStyle/>
          <a:p>
            <a:pPr indent="0" marL="0">
              <a:buNone/>
            </a:pPr>
            <a:r>
              <a:rPr lang="en-US" sz="1000" i="1" dirty="0">
                <a:solidFill>
                  <a:srgbClr val="212B32"/>
                </a:solidFill>
                <a:latin typeface="Calibri" pitchFamily="34" charset="0"/>
                <a:ea typeface="Calibri" pitchFamily="34" charset="-122"/>
                <a:cs typeface="Calibri" pitchFamily="34" charset="-120"/>
              </a:rPr>
              <a:t>Request a review or an appeal and the clock stops here: the Dean does not sign off the outcome, and your training number is not removed, until the process concludes — Gold Guide 4.161.</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10584180" y="379476"/>
            <a:ext cx="82296" cy="82296"/>
          </a:xfrm>
          <a:prstGeom prst="ellipse">
            <a:avLst/>
          </a:prstGeom>
          <a:solidFill>
            <a:srgbClr val="D8DDE0"/>
          </a:solidFill>
          <a:ln w="12700">
            <a:solidFill>
              <a:srgbClr val="D8DDE0"/>
            </a:solidFill>
            <a:prstDash val="solid"/>
          </a:ln>
        </p:spPr>
      </p:sp>
      <p:sp>
        <p:nvSpPr>
          <p:cNvPr id="3" name="Shape 1"/>
          <p:cNvSpPr/>
          <p:nvPr/>
        </p:nvSpPr>
        <p:spPr>
          <a:xfrm>
            <a:off x="10776204" y="361188"/>
            <a:ext cx="118872" cy="118872"/>
          </a:xfrm>
          <a:prstGeom prst="ellipse">
            <a:avLst/>
          </a:prstGeom>
          <a:solidFill>
            <a:srgbClr val="0072CE"/>
          </a:solidFill>
          <a:ln w="12700">
            <a:solidFill>
              <a:srgbClr val="0072CE"/>
            </a:solidFill>
            <a:prstDash val="solid"/>
          </a:ln>
        </p:spPr>
      </p:sp>
      <p:sp>
        <p:nvSpPr>
          <p:cNvPr id="4" name="Shape 2"/>
          <p:cNvSpPr/>
          <p:nvPr/>
        </p:nvSpPr>
        <p:spPr>
          <a:xfrm>
            <a:off x="11004804" y="379476"/>
            <a:ext cx="82296" cy="82296"/>
          </a:xfrm>
          <a:prstGeom prst="ellipse">
            <a:avLst/>
          </a:prstGeom>
          <a:solidFill>
            <a:srgbClr val="D8DDE0"/>
          </a:solidFill>
          <a:ln w="12700">
            <a:solidFill>
              <a:srgbClr val="D8DDE0"/>
            </a:solidFill>
            <a:prstDash val="solid"/>
          </a:ln>
        </p:spPr>
      </p:sp>
      <p:sp>
        <p:nvSpPr>
          <p:cNvPr id="5" name="Shape 3"/>
          <p:cNvSpPr/>
          <p:nvPr/>
        </p:nvSpPr>
        <p:spPr>
          <a:xfrm>
            <a:off x="11215116" y="379476"/>
            <a:ext cx="82296" cy="82296"/>
          </a:xfrm>
          <a:prstGeom prst="ellipse">
            <a:avLst/>
          </a:prstGeom>
          <a:solidFill>
            <a:srgbClr val="D8DDE0"/>
          </a:solidFill>
          <a:ln w="12700">
            <a:solidFill>
              <a:srgbClr val="D8DDE0"/>
            </a:solidFill>
            <a:prstDash val="solid"/>
          </a:ln>
        </p:spPr>
      </p:sp>
      <p:sp>
        <p:nvSpPr>
          <p:cNvPr id="6" name="Shape 4"/>
          <p:cNvSpPr/>
          <p:nvPr/>
        </p:nvSpPr>
        <p:spPr>
          <a:xfrm>
            <a:off x="11425428" y="379476"/>
            <a:ext cx="82296" cy="82296"/>
          </a:xfrm>
          <a:prstGeom prst="ellipse">
            <a:avLst/>
          </a:prstGeom>
          <a:solidFill>
            <a:srgbClr val="D8DDE0"/>
          </a:solidFill>
          <a:ln w="12700">
            <a:solidFill>
              <a:srgbClr val="D8DDE0"/>
            </a:solidFill>
            <a:prstDash val="solid"/>
          </a:ln>
        </p:spPr>
      </p:sp>
      <p:sp>
        <p:nvSpPr>
          <p:cNvPr id="7" name="Shape 5"/>
          <p:cNvSpPr/>
          <p:nvPr/>
        </p:nvSpPr>
        <p:spPr>
          <a:xfrm>
            <a:off x="11635740" y="379476"/>
            <a:ext cx="82296" cy="82296"/>
          </a:xfrm>
          <a:prstGeom prst="ellipse">
            <a:avLst/>
          </a:prstGeom>
          <a:solidFill>
            <a:srgbClr val="D8DDE0"/>
          </a:solidFill>
          <a:ln w="12700">
            <a:solidFill>
              <a:srgbClr val="D8DDE0"/>
            </a:solidFill>
            <a:prstDash val="solid"/>
          </a:ln>
        </p:spPr>
      </p:sp>
      <p:sp>
        <p:nvSpPr>
          <p:cNvPr id="8" name="Text 6"/>
          <p:cNvSpPr txBox="1"/>
          <p:nvPr/>
        </p:nvSpPr>
        <p:spPr>
          <a:xfrm>
            <a:off x="457200" y="274320"/>
            <a:ext cx="9875520" cy="256032"/>
          </a:xfrm>
          <a:prstGeom prst="rect">
            <a:avLst/>
          </a:prstGeom>
          <a:noFill/>
          <a:ln/>
        </p:spPr>
        <p:txBody>
          <a:bodyPr wrap="square" lIns="0" tIns="0" rIns="0" bIns="0" rtlCol="0" anchor="ctr"/>
          <a:lstStyle/>
          <a:p>
            <a:pPr indent="0" marL="0">
              <a:buNone/>
            </a:pPr>
            <a:r>
              <a:rPr lang="en-US" sz="1100" b="1" spc="240" kern="0" dirty="0">
                <a:solidFill>
                  <a:srgbClr val="0072CE"/>
                </a:solidFill>
                <a:latin typeface="Calibri" pitchFamily="34" charset="0"/>
                <a:ea typeface="Calibri" pitchFamily="34" charset="-122"/>
                <a:cs typeface="Calibri" pitchFamily="34" charset="-120"/>
              </a:rPr>
              <a:t>PART 02 · THE FULL SET · GOLD GUIDE 4.87 – 4.92</a:t>
            </a:r>
            <a:endParaRPr lang="en-US" sz="1100" dirty="0"/>
          </a:p>
        </p:txBody>
      </p:sp>
      <p:sp>
        <p:nvSpPr>
          <p:cNvPr id="9" name="Text 7"/>
          <p:cNvSpPr txBox="1"/>
          <p:nvPr/>
        </p:nvSpPr>
        <p:spPr>
          <a:xfrm>
            <a:off x="457200" y="512064"/>
            <a:ext cx="11247120" cy="658368"/>
          </a:xfrm>
          <a:prstGeom prst="rect">
            <a:avLst/>
          </a:prstGeom>
          <a:noFill/>
          <a:ln/>
        </p:spPr>
        <p:txBody>
          <a:bodyPr wrap="square" lIns="0" tIns="0" rIns="0" bIns="0" rtlCol="0" anchor="ctr"/>
          <a:lstStyle/>
          <a:p>
            <a:pPr indent="0" marL="0">
              <a:buNone/>
            </a:pPr>
            <a:r>
              <a:rPr lang="en-US" sz="3000" b="1" dirty="0">
                <a:solidFill>
                  <a:srgbClr val="003087"/>
                </a:solidFill>
                <a:latin typeface="Calibri" pitchFamily="34" charset="0"/>
                <a:ea typeface="Calibri" pitchFamily="34" charset="-122"/>
                <a:cs typeface="Calibri" pitchFamily="34" charset="-120"/>
              </a:rPr>
              <a:t>Every outcome, and what follows it</a:t>
            </a:r>
            <a:endParaRPr lang="en-US" sz="3000" dirty="0"/>
          </a:p>
        </p:txBody>
      </p:sp>
      <p:sp>
        <p:nvSpPr>
          <p:cNvPr id="10" name="Text 8"/>
          <p:cNvSpPr txBox="1"/>
          <p:nvPr/>
        </p:nvSpPr>
        <p:spPr>
          <a:xfrm>
            <a:off x="457200" y="1170432"/>
            <a:ext cx="11247120" cy="411480"/>
          </a:xfrm>
          <a:prstGeom prst="rect">
            <a:avLst/>
          </a:prstGeom>
          <a:noFill/>
          <a:ln/>
        </p:spPr>
        <p:txBody>
          <a:bodyPr wrap="square" lIns="0" tIns="0" rIns="0" bIns="0" rtlCol="0" anchor="t"/>
          <a:lstStyle/>
          <a:p>
            <a:pPr indent="0" marL="0">
              <a:buNone/>
            </a:pPr>
            <a:r>
              <a:rPr lang="en-US" sz="1200" i="1" dirty="0">
                <a:solidFill>
                  <a:srgbClr val="768692"/>
                </a:solidFill>
                <a:latin typeface="Calibri" pitchFamily="34" charset="0"/>
                <a:ea typeface="Calibri" pitchFamily="34" charset="-122"/>
                <a:cs typeface="Calibri" pitchFamily="34" charset="-120"/>
              </a:rPr>
              <a:t>Outcomes 1 and 6 are satisfactory. 2 and 3 mean development is required. 4 means release. 10.1 and 10.2 are the no-fault equivalents of 2 and 3.</a:t>
            </a:r>
            <a:endParaRPr lang="en-US" sz="1200" dirty="0"/>
          </a:p>
        </p:txBody>
      </p:sp>
      <p:sp>
        <p:nvSpPr>
          <p:cNvPr id="11" name="Text 9"/>
          <p:cNvSpPr txBox="1"/>
          <p:nvPr/>
        </p:nvSpPr>
        <p:spPr>
          <a:xfrm>
            <a:off x="457200" y="6547104"/>
            <a:ext cx="7315200" cy="274320"/>
          </a:xfrm>
          <a:prstGeom prst="rect">
            <a:avLst/>
          </a:prstGeom>
          <a:noFill/>
          <a:ln/>
        </p:spPr>
        <p:txBody>
          <a:bodyPr wrap="square" lIns="0" tIns="0" rIns="0" bIns="0" rtlCol="0" anchor="ctr"/>
          <a:lstStyle/>
          <a:p>
            <a:pPr indent="0" marL="0">
              <a:buNone/>
            </a:pPr>
            <a:r>
              <a:rPr lang="en-US" sz="900" dirty="0">
                <a:solidFill>
                  <a:srgbClr val="768692"/>
                </a:solidFill>
                <a:latin typeface="Calibri" pitchFamily="34" charset="0"/>
                <a:ea typeface="Calibri" pitchFamily="34" charset="-122"/>
                <a:cs typeface="Calibri" pitchFamily="34" charset="-120"/>
              </a:rPr>
              <a:t>GIM ARCP · trainee guidance · </a:t>
            </a:r>
            <a:pPr indent="0" marL="0">
              <a:buNone/>
            </a:pPr>
            <a:r>
              <a:rPr lang="en-US" sz="900" b="1" dirty="0">
                <a:solidFill>
                  <a:srgbClr val="8A5E00"/>
                </a:solidFill>
                <a:latin typeface="Calibri" pitchFamily="34" charset="0"/>
                <a:ea typeface="Calibri" pitchFamily="34" charset="-122"/>
                <a:cs typeface="Calibri" pitchFamily="34" charset="-120"/>
              </a:rPr>
              <a:t>DRAFT</a:t>
            </a:r>
            <a:endParaRPr lang="en-US" sz="900" dirty="0"/>
          </a:p>
        </p:txBody>
      </p:sp>
      <p:sp>
        <p:nvSpPr>
          <p:cNvPr id="12" name="Text 10"/>
          <p:cNvSpPr txBox="1"/>
          <p:nvPr/>
        </p:nvSpPr>
        <p:spPr>
          <a:xfrm>
            <a:off x="11155680" y="6547104"/>
            <a:ext cx="548640" cy="274320"/>
          </a:xfrm>
          <a:prstGeom prst="rect">
            <a:avLst/>
          </a:prstGeom>
          <a:noFill/>
          <a:ln/>
        </p:spPr>
        <p:txBody>
          <a:bodyPr wrap="square" lIns="0" tIns="0" rIns="0" bIns="0" rtlCol="0" anchor="ctr"/>
          <a:lstStyle/>
          <a:p>
            <a:pPr algn="r" indent="0" marL="0">
              <a:buNone/>
            </a:pPr>
            <a:r>
              <a:rPr lang="en-US" sz="900" dirty="0">
                <a:solidFill>
                  <a:srgbClr val="768692"/>
                </a:solidFill>
                <a:latin typeface="Calibri" pitchFamily="34" charset="0"/>
                <a:ea typeface="Calibri" pitchFamily="34" charset="-122"/>
                <a:cs typeface="Calibri" pitchFamily="34" charset="-120"/>
              </a:rPr>
              <a:t>6</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11247120" cy="914400"/>
        </p:xfrm>
        <a:graphic>
          <a:graphicData uri="http://schemas.openxmlformats.org/drawingml/2006/table">
            <a:tbl>
              <a:tblPr/>
              <a:tblGrid>
                <a:gridCol w="1371600"/>
                <a:gridCol w="5577840"/>
                <a:gridCol w="4297680"/>
              </a:tblGrid>
              <a:tr h="402336">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Outcome</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003087"/>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it means</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003087"/>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happens next</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003087"/>
                    </a:solidFill>
                  </a:tcPr>
                </a:tc>
              </a:tr>
              <a:tr h="402336">
                <a:tc>
                  <a:txBody>
                    <a:bodyPr/>
                    <a:lstStyle/>
                    <a:p>
                      <a:pPr algn="ctr" indent="0" marL="0">
                        <a:buNone/>
                      </a:pPr>
                      <a:r>
                        <a:rPr lang="en-US" sz="1050" b="1" dirty="0">
                          <a:solidFill>
                            <a:srgbClr val="003087"/>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12B32"/>
                          </a:solidFill>
                          <a:latin typeface="Calibri" pitchFamily="34" charset="0"/>
                          <a:ea typeface="Calibri" pitchFamily="34" charset="-122"/>
                          <a:cs typeface="Calibri" pitchFamily="34" charset="-120"/>
                        </a:rPr>
                        <a:t>Achieving progress and capabilities at the expected rate</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12B32"/>
                          </a:solidFill>
                          <a:latin typeface="Calibri" pitchFamily="34" charset="0"/>
                          <a:ea typeface="Calibri" pitchFamily="34" charset="-122"/>
                          <a:cs typeface="Calibri" pitchFamily="34" charset="-120"/>
                        </a:rPr>
                        <a:t>Progress to the next stage of training</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r>
              <a:tr h="402336">
                <a:tc>
                  <a:txBody>
                    <a:bodyPr/>
                    <a:lstStyle/>
                    <a:p>
                      <a:pPr algn="ctr" indent="0" marL="0">
                        <a:buNone/>
                      </a:pPr>
                      <a:r>
                        <a:rPr lang="en-US" sz="1050" b="1" dirty="0">
                          <a:solidFill>
                            <a:srgbClr val="003087"/>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0F4F5"/>
                    </a:solidFill>
                  </a:tcPr>
                </a:tc>
                <a:tc>
                  <a:txBody>
                    <a:bodyPr/>
                    <a:lstStyle/>
                    <a:p>
                      <a:pPr algn="l" indent="0" marL="0">
                        <a:buNone/>
                      </a:pPr>
                      <a:r>
                        <a:rPr lang="en-US" sz="1050" dirty="0">
                          <a:solidFill>
                            <a:srgbClr val="212B32"/>
                          </a:solidFill>
                          <a:latin typeface="Calibri" pitchFamily="34" charset="0"/>
                          <a:ea typeface="Calibri" pitchFamily="34" charset="-122"/>
                          <a:cs typeface="Calibri" pitchFamily="34" charset="-120"/>
                        </a:rPr>
                        <a:t>Development of specific capabilities required — no additional time</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0F4F5"/>
                    </a:solidFill>
                  </a:tcPr>
                </a:tc>
                <a:tc>
                  <a:txBody>
                    <a:bodyPr/>
                    <a:lstStyle/>
                    <a:p>
                      <a:pPr algn="l" indent="0" marL="0">
                        <a:buNone/>
                      </a:pPr>
                      <a:r>
                        <a:rPr lang="en-US" sz="1050" dirty="0">
                          <a:solidFill>
                            <a:srgbClr val="212B32"/>
                          </a:solidFill>
                          <a:latin typeface="Calibri" pitchFamily="34" charset="0"/>
                          <a:ea typeface="Calibri" pitchFamily="34" charset="-122"/>
                          <a:cs typeface="Calibri" pitchFamily="34" charset="-120"/>
                        </a:rPr>
                        <a:t>Reviewed at the next ARCP; CCT date unchanged</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0F4F5"/>
                    </a:solidFill>
                  </a:tcPr>
                </a:tc>
              </a:tr>
              <a:tr h="402336">
                <a:tc>
                  <a:txBody>
                    <a:bodyPr/>
                    <a:lstStyle/>
                    <a:p>
                      <a:pPr algn="ctr" indent="0" marL="0">
                        <a:buNone/>
                      </a:pPr>
                      <a:r>
                        <a:rPr lang="en-US" sz="1050" b="1" dirty="0">
                          <a:solidFill>
                            <a:srgbClr val="003087"/>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12B32"/>
                          </a:solidFill>
                          <a:latin typeface="Calibri" pitchFamily="34" charset="0"/>
                          <a:ea typeface="Calibri" pitchFamily="34" charset="-122"/>
                          <a:cs typeface="Calibri" pitchFamily="34" charset="-120"/>
                        </a:rPr>
                        <a:t>Development required — additional training time required</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12B32"/>
                          </a:solidFill>
                          <a:latin typeface="Calibri" pitchFamily="34" charset="0"/>
                          <a:ea typeface="Calibri" pitchFamily="34" charset="-122"/>
                          <a:cs typeface="Calibri" pitchFamily="34" charset="-120"/>
                        </a:rPr>
                        <a:t>CCT date extended; objectives and timescale set</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r>
              <a:tr h="402336">
                <a:tc>
                  <a:txBody>
                    <a:bodyPr/>
                    <a:lstStyle/>
                    <a:p>
                      <a:pPr algn="ctr" indent="0" marL="0">
                        <a:buNone/>
                      </a:pPr>
                      <a:r>
                        <a:rPr lang="en-US" sz="1050" b="1" dirty="0">
                          <a:solidFill>
                            <a:srgbClr val="003087"/>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0F4F5"/>
                    </a:solidFill>
                  </a:tcPr>
                </a:tc>
                <a:tc>
                  <a:txBody>
                    <a:bodyPr/>
                    <a:lstStyle/>
                    <a:p>
                      <a:pPr algn="l" indent="0" marL="0">
                        <a:buNone/>
                      </a:pPr>
                      <a:r>
                        <a:rPr lang="en-US" sz="1050" dirty="0">
                          <a:solidFill>
                            <a:srgbClr val="212B32"/>
                          </a:solidFill>
                          <a:latin typeface="Calibri" pitchFamily="34" charset="0"/>
                          <a:ea typeface="Calibri" pitchFamily="34" charset="-122"/>
                          <a:cs typeface="Calibri" pitchFamily="34" charset="-120"/>
                        </a:rPr>
                        <a:t>Released from the training programme, with or without capabilities</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0F4F5"/>
                    </a:solidFill>
                  </a:tcPr>
                </a:tc>
                <a:tc>
                  <a:txBody>
                    <a:bodyPr/>
                    <a:lstStyle/>
                    <a:p>
                      <a:pPr algn="l" indent="0" marL="0">
                        <a:buNone/>
                      </a:pPr>
                      <a:r>
                        <a:rPr lang="en-US" sz="1050" dirty="0">
                          <a:solidFill>
                            <a:srgbClr val="212B32"/>
                          </a:solidFill>
                          <a:latin typeface="Calibri" pitchFamily="34" charset="0"/>
                          <a:ea typeface="Calibri" pitchFamily="34" charset="-122"/>
                          <a:cs typeface="Calibri" pitchFamily="34" charset="-120"/>
                        </a:rPr>
                        <a:t>Training number withdrawn; capabilities documented</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0F4F5"/>
                    </a:solidFill>
                  </a:tcPr>
                </a:tc>
              </a:tr>
              <a:tr h="402336">
                <a:tc>
                  <a:txBody>
                    <a:bodyPr/>
                    <a:lstStyle/>
                    <a:p>
                      <a:pPr algn="ctr" indent="0" marL="0">
                        <a:buNone/>
                      </a:pPr>
                      <a:r>
                        <a:rPr lang="en-US" sz="1050" b="1" dirty="0">
                          <a:solidFill>
                            <a:srgbClr val="003087"/>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12B32"/>
                          </a:solidFill>
                          <a:latin typeface="Calibri" pitchFamily="34" charset="0"/>
                          <a:ea typeface="Calibri" pitchFamily="34" charset="-122"/>
                          <a:cs typeface="Calibri" pitchFamily="34" charset="-120"/>
                        </a:rPr>
                        <a:t>Incomplete evidence — an assessment of progression cannot be made</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12B32"/>
                          </a:solidFill>
                          <a:latin typeface="Calibri" pitchFamily="34" charset="0"/>
                          <a:ea typeface="Calibri" pitchFamily="34" charset="-122"/>
                          <a:cs typeface="Calibri" pitchFamily="34" charset="-120"/>
                        </a:rPr>
                        <a:t>Holding position; outstanding evidence within a set timescale</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r>
              <a:tr h="402336">
                <a:tc>
                  <a:txBody>
                    <a:bodyPr/>
                    <a:lstStyle/>
                    <a:p>
                      <a:pPr algn="ctr" indent="0" marL="0">
                        <a:buNone/>
                      </a:pPr>
                      <a:r>
                        <a:rPr lang="en-US" sz="1050" b="1" dirty="0">
                          <a:solidFill>
                            <a:srgbClr val="003087"/>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0F4F5"/>
                    </a:solidFill>
                  </a:tcPr>
                </a:tc>
                <a:tc>
                  <a:txBody>
                    <a:bodyPr/>
                    <a:lstStyle/>
                    <a:p>
                      <a:pPr algn="l" indent="0" marL="0">
                        <a:buNone/>
                      </a:pPr>
                      <a:r>
                        <a:rPr lang="en-US" sz="1050" dirty="0">
                          <a:solidFill>
                            <a:srgbClr val="212B32"/>
                          </a:solidFill>
                          <a:latin typeface="Calibri" pitchFamily="34" charset="0"/>
                          <a:ea typeface="Calibri" pitchFamily="34" charset="-122"/>
                          <a:cs typeface="Calibri" pitchFamily="34" charset="-120"/>
                        </a:rPr>
                        <a:t>All capabilities achieved for completion of the programme</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0F4F5"/>
                    </a:solidFill>
                  </a:tcPr>
                </a:tc>
                <a:tc>
                  <a:txBody>
                    <a:bodyPr/>
                    <a:lstStyle/>
                    <a:p>
                      <a:pPr algn="l" indent="0" marL="0">
                        <a:buNone/>
                      </a:pPr>
                      <a:r>
                        <a:rPr lang="en-US" sz="1050" dirty="0">
                          <a:solidFill>
                            <a:srgbClr val="212B32"/>
                          </a:solidFill>
                          <a:latin typeface="Calibri" pitchFamily="34" charset="0"/>
                          <a:ea typeface="Calibri" pitchFamily="34" charset="-122"/>
                          <a:cs typeface="Calibri" pitchFamily="34" charset="-120"/>
                        </a:rPr>
                        <a:t>Recommended for CCT</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0F4F5"/>
                    </a:solidFill>
                  </a:tcPr>
                </a:tc>
              </a:tr>
              <a:tr h="402336">
                <a:tc>
                  <a:txBody>
                    <a:bodyPr/>
                    <a:lstStyle/>
                    <a:p>
                      <a:pPr algn="ctr" indent="0" marL="0">
                        <a:buNone/>
                      </a:pPr>
                      <a:r>
                        <a:rPr lang="en-US" sz="1050" b="1" dirty="0">
                          <a:solidFill>
                            <a:srgbClr val="003087"/>
                          </a:solidFill>
                          <a:latin typeface="Calibri" pitchFamily="34" charset="0"/>
                          <a:ea typeface="Calibri" pitchFamily="34" charset="-122"/>
                          <a:cs typeface="Calibri" pitchFamily="34" charset="-120"/>
                        </a:rPr>
                        <a:t>7.1 – 7.4</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12B32"/>
                          </a:solidFill>
                          <a:latin typeface="Calibri" pitchFamily="34" charset="0"/>
                          <a:ea typeface="Calibri" pitchFamily="34" charset="-122"/>
                          <a:cs typeface="Calibri" pitchFamily="34" charset="-120"/>
                        </a:rPr>
                        <a:t>Fixed-term training posts, e.g. LATs</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12B32"/>
                          </a:solidFill>
                          <a:latin typeface="Calibri" pitchFamily="34" charset="0"/>
                          <a:ea typeface="Calibri" pitchFamily="34" charset="-122"/>
                          <a:cs typeface="Calibri" pitchFamily="34" charset="-120"/>
                        </a:rPr>
                        <a:t>Equivalent judgements applied to that post</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r>
              <a:tr h="402336">
                <a:tc>
                  <a:txBody>
                    <a:bodyPr/>
                    <a:lstStyle/>
                    <a:p>
                      <a:pPr algn="ctr" indent="0" marL="0">
                        <a:buNone/>
                      </a:pPr>
                      <a:r>
                        <a:rPr lang="en-US" sz="1050" b="1" dirty="0">
                          <a:solidFill>
                            <a:srgbClr val="003087"/>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0F4F5"/>
                    </a:solidFill>
                  </a:tcPr>
                </a:tc>
                <a:tc>
                  <a:txBody>
                    <a:bodyPr/>
                    <a:lstStyle/>
                    <a:p>
                      <a:pPr algn="l" indent="0" marL="0">
                        <a:buNone/>
                      </a:pPr>
                      <a:r>
                        <a:rPr lang="en-US" sz="1050" dirty="0">
                          <a:solidFill>
                            <a:srgbClr val="212B32"/>
                          </a:solidFill>
                          <a:latin typeface="Calibri" pitchFamily="34" charset="0"/>
                          <a:ea typeface="Calibri" pitchFamily="34" charset="-122"/>
                          <a:cs typeface="Calibri" pitchFamily="34" charset="-120"/>
                        </a:rPr>
                        <a:t>Out of programme — OOPE, OOPR, OOPC or OOPP</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0F4F5"/>
                    </a:solidFill>
                  </a:tcPr>
                </a:tc>
                <a:tc>
                  <a:txBody>
                    <a:bodyPr/>
                    <a:lstStyle/>
                    <a:p>
                      <a:pPr algn="l" indent="0" marL="0">
                        <a:buNone/>
                      </a:pPr>
                      <a:r>
                        <a:rPr lang="en-US" sz="1050" dirty="0">
                          <a:solidFill>
                            <a:srgbClr val="212B32"/>
                          </a:solidFill>
                          <a:latin typeface="Calibri" pitchFamily="34" charset="0"/>
                          <a:ea typeface="Calibri" pitchFamily="34" charset="-122"/>
                          <a:cs typeface="Calibri" pitchFamily="34" charset="-120"/>
                        </a:rPr>
                        <a:t>Annual OOP documentation reviewed by the panel</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0F4F5"/>
                    </a:solidFill>
                  </a:tcPr>
                </a:tc>
              </a:tr>
              <a:tr h="402336">
                <a:tc>
                  <a:txBody>
                    <a:bodyPr/>
                    <a:lstStyle/>
                    <a:p>
                      <a:pPr algn="ctr" indent="0" marL="0">
                        <a:buNone/>
                      </a:pPr>
                      <a:r>
                        <a:rPr lang="en-US" sz="1050" b="1" dirty="0">
                          <a:solidFill>
                            <a:srgbClr val="003087"/>
                          </a:solidFill>
                          <a:latin typeface="Calibri" pitchFamily="34" charset="0"/>
                          <a:ea typeface="Calibri" pitchFamily="34" charset="-122"/>
                          <a:cs typeface="Calibri" pitchFamily="34" charset="-120"/>
                        </a:rPr>
                        <a:t>10.1 / 10.2</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12B32"/>
                          </a:solidFill>
                          <a:latin typeface="Calibri" pitchFamily="34" charset="0"/>
                          <a:ea typeface="Calibri" pitchFamily="34" charset="-122"/>
                          <a:cs typeface="Calibri" pitchFamily="34" charset="-120"/>
                        </a:rPr>
                        <a:t>No-fault delay from a national emergency — introduced for COVID-19</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12B32"/>
                          </a:solidFill>
                          <a:latin typeface="Calibri" pitchFamily="34" charset="0"/>
                          <a:ea typeface="Calibri" pitchFamily="34" charset="-122"/>
                          <a:cs typeface="Calibri" pitchFamily="34" charset="-120"/>
                        </a:rPr>
                        <a:t>Only on a directive from the UK statutory education bodies</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r>
            </a:tbl>
          </a:graphicData>
        </a:graphic>
      </p:graphicFrame>
      <p:sp>
        <p:nvSpPr>
          <p:cNvPr id="14" name="Shape 11"/>
          <p:cNvSpPr/>
          <p:nvPr/>
        </p:nvSpPr>
        <p:spPr>
          <a:xfrm>
            <a:off x="457200" y="6071616"/>
            <a:ext cx="11247120" cy="438912"/>
          </a:xfrm>
          <a:prstGeom prst="rect">
            <a:avLst/>
          </a:prstGeom>
          <a:solidFill>
            <a:srgbClr val="F0F4F5"/>
          </a:solidFill>
          <a:ln w="12700">
            <a:solidFill>
              <a:srgbClr val="F0F4F5"/>
            </a:solidFill>
            <a:prstDash val="solid"/>
          </a:ln>
        </p:spPr>
      </p:sp>
      <p:sp>
        <p:nvSpPr>
          <p:cNvPr id="15" name="Shape 12"/>
          <p:cNvSpPr/>
          <p:nvPr/>
        </p:nvSpPr>
        <p:spPr>
          <a:xfrm>
            <a:off x="457200" y="6071616"/>
            <a:ext cx="73152" cy="438912"/>
          </a:xfrm>
          <a:prstGeom prst="rect">
            <a:avLst/>
          </a:prstGeom>
          <a:solidFill>
            <a:srgbClr val="0072CE"/>
          </a:solidFill>
          <a:ln w="12700">
            <a:solidFill>
              <a:srgbClr val="0072CE"/>
            </a:solidFill>
            <a:prstDash val="solid"/>
          </a:ln>
        </p:spPr>
      </p:sp>
      <p:sp>
        <p:nvSpPr>
          <p:cNvPr id="16" name="Text 13"/>
          <p:cNvSpPr txBox="1"/>
          <p:nvPr/>
        </p:nvSpPr>
        <p:spPr>
          <a:xfrm>
            <a:off x="658368" y="6071616"/>
            <a:ext cx="10881360" cy="438912"/>
          </a:xfrm>
          <a:prstGeom prst="rect">
            <a:avLst/>
          </a:prstGeom>
          <a:noFill/>
          <a:ln/>
        </p:spPr>
        <p:txBody>
          <a:bodyPr wrap="square" lIns="0" tIns="0" rIns="0" bIns="0" rtlCol="0" anchor="ctr"/>
          <a:lstStyle/>
          <a:p>
            <a:pPr indent="0" marL="0">
              <a:buNone/>
            </a:pPr>
            <a:r>
              <a:rPr lang="en-US" sz="1050" i="1" dirty="0">
                <a:solidFill>
                  <a:srgbClr val="212B32"/>
                </a:solidFill>
                <a:latin typeface="Calibri" pitchFamily="34" charset="0"/>
                <a:ea typeface="Calibri" pitchFamily="34" charset="-122"/>
                <a:cs typeface="Calibri" pitchFamily="34" charset="-120"/>
              </a:rPr>
              <a:t>For dual trainees this table is applied twice — once to your specialty and once to GIM — and the two outcomes need not match.</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10584180" y="379476"/>
            <a:ext cx="82296" cy="82296"/>
          </a:xfrm>
          <a:prstGeom prst="ellipse">
            <a:avLst/>
          </a:prstGeom>
          <a:solidFill>
            <a:srgbClr val="D8DDE0"/>
          </a:solidFill>
          <a:ln w="12700">
            <a:solidFill>
              <a:srgbClr val="D8DDE0"/>
            </a:solidFill>
            <a:prstDash val="solid"/>
          </a:ln>
        </p:spPr>
      </p:sp>
      <p:sp>
        <p:nvSpPr>
          <p:cNvPr id="3" name="Shape 1"/>
          <p:cNvSpPr/>
          <p:nvPr/>
        </p:nvSpPr>
        <p:spPr>
          <a:xfrm>
            <a:off x="10776204" y="361188"/>
            <a:ext cx="118872" cy="118872"/>
          </a:xfrm>
          <a:prstGeom prst="ellipse">
            <a:avLst/>
          </a:prstGeom>
          <a:solidFill>
            <a:srgbClr val="0072CE"/>
          </a:solidFill>
          <a:ln w="12700">
            <a:solidFill>
              <a:srgbClr val="0072CE"/>
            </a:solidFill>
            <a:prstDash val="solid"/>
          </a:ln>
        </p:spPr>
      </p:sp>
      <p:sp>
        <p:nvSpPr>
          <p:cNvPr id="4" name="Shape 2"/>
          <p:cNvSpPr/>
          <p:nvPr/>
        </p:nvSpPr>
        <p:spPr>
          <a:xfrm>
            <a:off x="11004804" y="379476"/>
            <a:ext cx="82296" cy="82296"/>
          </a:xfrm>
          <a:prstGeom prst="ellipse">
            <a:avLst/>
          </a:prstGeom>
          <a:solidFill>
            <a:srgbClr val="D8DDE0"/>
          </a:solidFill>
          <a:ln w="12700">
            <a:solidFill>
              <a:srgbClr val="D8DDE0"/>
            </a:solidFill>
            <a:prstDash val="solid"/>
          </a:ln>
        </p:spPr>
      </p:sp>
      <p:sp>
        <p:nvSpPr>
          <p:cNvPr id="5" name="Shape 3"/>
          <p:cNvSpPr/>
          <p:nvPr/>
        </p:nvSpPr>
        <p:spPr>
          <a:xfrm>
            <a:off x="11215116" y="379476"/>
            <a:ext cx="82296" cy="82296"/>
          </a:xfrm>
          <a:prstGeom prst="ellipse">
            <a:avLst/>
          </a:prstGeom>
          <a:solidFill>
            <a:srgbClr val="D8DDE0"/>
          </a:solidFill>
          <a:ln w="12700">
            <a:solidFill>
              <a:srgbClr val="D8DDE0"/>
            </a:solidFill>
            <a:prstDash val="solid"/>
          </a:ln>
        </p:spPr>
      </p:sp>
      <p:sp>
        <p:nvSpPr>
          <p:cNvPr id="6" name="Shape 4"/>
          <p:cNvSpPr/>
          <p:nvPr/>
        </p:nvSpPr>
        <p:spPr>
          <a:xfrm>
            <a:off x="11425428" y="379476"/>
            <a:ext cx="82296" cy="82296"/>
          </a:xfrm>
          <a:prstGeom prst="ellipse">
            <a:avLst/>
          </a:prstGeom>
          <a:solidFill>
            <a:srgbClr val="D8DDE0"/>
          </a:solidFill>
          <a:ln w="12700">
            <a:solidFill>
              <a:srgbClr val="D8DDE0"/>
            </a:solidFill>
            <a:prstDash val="solid"/>
          </a:ln>
        </p:spPr>
      </p:sp>
      <p:sp>
        <p:nvSpPr>
          <p:cNvPr id="7" name="Shape 5"/>
          <p:cNvSpPr/>
          <p:nvPr/>
        </p:nvSpPr>
        <p:spPr>
          <a:xfrm>
            <a:off x="11635740" y="379476"/>
            <a:ext cx="82296" cy="82296"/>
          </a:xfrm>
          <a:prstGeom prst="ellipse">
            <a:avLst/>
          </a:prstGeom>
          <a:solidFill>
            <a:srgbClr val="D8DDE0"/>
          </a:solidFill>
          <a:ln w="12700">
            <a:solidFill>
              <a:srgbClr val="D8DDE0"/>
            </a:solidFill>
            <a:prstDash val="solid"/>
          </a:ln>
        </p:spPr>
      </p:sp>
      <p:sp>
        <p:nvSpPr>
          <p:cNvPr id="8" name="Text 6"/>
          <p:cNvSpPr txBox="1"/>
          <p:nvPr/>
        </p:nvSpPr>
        <p:spPr>
          <a:xfrm>
            <a:off x="457200" y="274320"/>
            <a:ext cx="9875520" cy="256032"/>
          </a:xfrm>
          <a:prstGeom prst="rect">
            <a:avLst/>
          </a:prstGeom>
          <a:noFill/>
          <a:ln/>
        </p:spPr>
        <p:txBody>
          <a:bodyPr wrap="square" lIns="0" tIns="0" rIns="0" bIns="0" rtlCol="0" anchor="ctr"/>
          <a:lstStyle/>
          <a:p>
            <a:pPr indent="0" marL="0">
              <a:buNone/>
            </a:pPr>
            <a:r>
              <a:rPr lang="en-US" sz="1100" b="1" spc="240" kern="0" dirty="0">
                <a:solidFill>
                  <a:srgbClr val="0072CE"/>
                </a:solidFill>
                <a:latin typeface="Calibri" pitchFamily="34" charset="0"/>
                <a:ea typeface="Calibri" pitchFamily="34" charset="-122"/>
                <a:cs typeface="Calibri" pitchFamily="34" charset="-120"/>
              </a:rPr>
              <a:t>PART 02 · WHEN IT IS NOT AN OUTCOME 1</a:t>
            </a:r>
            <a:endParaRPr lang="en-US" sz="1100" dirty="0"/>
          </a:p>
        </p:txBody>
      </p:sp>
      <p:sp>
        <p:nvSpPr>
          <p:cNvPr id="9" name="Text 7"/>
          <p:cNvSpPr txBox="1"/>
          <p:nvPr/>
        </p:nvSpPr>
        <p:spPr>
          <a:xfrm>
            <a:off x="457200" y="512064"/>
            <a:ext cx="11247120" cy="658368"/>
          </a:xfrm>
          <a:prstGeom prst="rect">
            <a:avLst/>
          </a:prstGeom>
          <a:noFill/>
          <a:ln/>
        </p:spPr>
        <p:txBody>
          <a:bodyPr wrap="square" lIns="0" tIns="0" rIns="0" bIns="0" rtlCol="0" anchor="ctr"/>
          <a:lstStyle/>
          <a:p>
            <a:pPr indent="0" marL="0">
              <a:buNone/>
            </a:pPr>
            <a:r>
              <a:rPr lang="en-US" sz="3000" b="1" dirty="0">
                <a:solidFill>
                  <a:srgbClr val="003087"/>
                </a:solidFill>
                <a:latin typeface="Calibri" pitchFamily="34" charset="0"/>
                <a:ea typeface="Calibri" pitchFamily="34" charset="-122"/>
                <a:cs typeface="Calibri" pitchFamily="34" charset="-120"/>
              </a:rPr>
              <a:t>The outcomes that change something</a:t>
            </a:r>
            <a:endParaRPr lang="en-US" sz="3000" dirty="0"/>
          </a:p>
        </p:txBody>
      </p:sp>
      <p:sp>
        <p:nvSpPr>
          <p:cNvPr id="10" name="Text 8"/>
          <p:cNvSpPr txBox="1"/>
          <p:nvPr/>
        </p:nvSpPr>
        <p:spPr>
          <a:xfrm>
            <a:off x="457200" y="1170432"/>
            <a:ext cx="11247120" cy="411480"/>
          </a:xfrm>
          <a:prstGeom prst="rect">
            <a:avLst/>
          </a:prstGeom>
          <a:noFill/>
          <a:ln/>
        </p:spPr>
        <p:txBody>
          <a:bodyPr wrap="square" lIns="0" tIns="0" rIns="0" bIns="0" rtlCol="0" anchor="t"/>
          <a:lstStyle/>
          <a:p>
            <a:pPr indent="0" marL="0">
              <a:buNone/>
            </a:pPr>
            <a:r>
              <a:rPr lang="en-US" sz="1200" i="1" dirty="0">
                <a:solidFill>
                  <a:srgbClr val="768692"/>
                </a:solidFill>
                <a:latin typeface="Calibri" pitchFamily="34" charset="0"/>
                <a:ea typeface="Calibri" pitchFamily="34" charset="-122"/>
                <a:cs typeface="Calibri" pitchFamily="34" charset="-120"/>
              </a:rPr>
              <a:t>Two of these are judgements about your training. Two are judgements about paperwork. All four are avoidable or appealable.</a:t>
            </a:r>
            <a:endParaRPr lang="en-US" sz="1200" dirty="0"/>
          </a:p>
        </p:txBody>
      </p:sp>
      <p:sp>
        <p:nvSpPr>
          <p:cNvPr id="11" name="Text 9"/>
          <p:cNvSpPr txBox="1"/>
          <p:nvPr/>
        </p:nvSpPr>
        <p:spPr>
          <a:xfrm>
            <a:off x="457200" y="6547104"/>
            <a:ext cx="7315200" cy="274320"/>
          </a:xfrm>
          <a:prstGeom prst="rect">
            <a:avLst/>
          </a:prstGeom>
          <a:noFill/>
          <a:ln/>
        </p:spPr>
        <p:txBody>
          <a:bodyPr wrap="square" lIns="0" tIns="0" rIns="0" bIns="0" rtlCol="0" anchor="ctr"/>
          <a:lstStyle/>
          <a:p>
            <a:pPr indent="0" marL="0">
              <a:buNone/>
            </a:pPr>
            <a:r>
              <a:rPr lang="en-US" sz="900" dirty="0">
                <a:solidFill>
                  <a:srgbClr val="768692"/>
                </a:solidFill>
                <a:latin typeface="Calibri" pitchFamily="34" charset="0"/>
                <a:ea typeface="Calibri" pitchFamily="34" charset="-122"/>
                <a:cs typeface="Calibri" pitchFamily="34" charset="-120"/>
              </a:rPr>
              <a:t>GIM ARCP · trainee guidance · </a:t>
            </a:r>
            <a:pPr indent="0" marL="0">
              <a:buNone/>
            </a:pPr>
            <a:r>
              <a:rPr lang="en-US" sz="900" b="1" dirty="0">
                <a:solidFill>
                  <a:srgbClr val="8A5E00"/>
                </a:solidFill>
                <a:latin typeface="Calibri" pitchFamily="34" charset="0"/>
                <a:ea typeface="Calibri" pitchFamily="34" charset="-122"/>
                <a:cs typeface="Calibri" pitchFamily="34" charset="-120"/>
              </a:rPr>
              <a:t>DRAFT</a:t>
            </a:r>
            <a:endParaRPr lang="en-US" sz="900" dirty="0"/>
          </a:p>
        </p:txBody>
      </p:sp>
      <p:sp>
        <p:nvSpPr>
          <p:cNvPr id="12" name="Text 10"/>
          <p:cNvSpPr txBox="1"/>
          <p:nvPr/>
        </p:nvSpPr>
        <p:spPr>
          <a:xfrm>
            <a:off x="11155680" y="6547104"/>
            <a:ext cx="548640" cy="274320"/>
          </a:xfrm>
          <a:prstGeom prst="rect">
            <a:avLst/>
          </a:prstGeom>
          <a:noFill/>
          <a:ln/>
        </p:spPr>
        <p:txBody>
          <a:bodyPr wrap="square" lIns="0" tIns="0" rIns="0" bIns="0" rtlCol="0" anchor="ctr"/>
          <a:lstStyle/>
          <a:p>
            <a:pPr algn="r" indent="0" marL="0">
              <a:buNone/>
            </a:pPr>
            <a:r>
              <a:rPr lang="en-US" sz="900" dirty="0">
                <a:solidFill>
                  <a:srgbClr val="768692"/>
                </a:solidFill>
                <a:latin typeface="Calibri" pitchFamily="34" charset="0"/>
                <a:ea typeface="Calibri" pitchFamily="34" charset="-122"/>
                <a:cs typeface="Calibri" pitchFamily="34" charset="-120"/>
              </a:rPr>
              <a:t>7</a:t>
            </a:r>
            <a:endParaRPr lang="en-US" sz="900" dirty="0"/>
          </a:p>
        </p:txBody>
      </p:sp>
      <p:sp>
        <p:nvSpPr>
          <p:cNvPr id="13" name="Shape 11"/>
          <p:cNvSpPr/>
          <p:nvPr/>
        </p:nvSpPr>
        <p:spPr>
          <a:xfrm>
            <a:off x="457200" y="1664208"/>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14" name="Shape 12"/>
          <p:cNvSpPr/>
          <p:nvPr/>
        </p:nvSpPr>
        <p:spPr>
          <a:xfrm>
            <a:off x="457200" y="1664208"/>
            <a:ext cx="73152" cy="2103120"/>
          </a:xfrm>
          <a:prstGeom prst="rect">
            <a:avLst/>
          </a:prstGeom>
          <a:solidFill>
            <a:srgbClr val="0072CE"/>
          </a:solidFill>
          <a:ln w="12700">
            <a:solidFill>
              <a:srgbClr val="0072CE"/>
            </a:solidFill>
            <a:prstDash val="solid"/>
          </a:ln>
        </p:spPr>
      </p:sp>
      <p:sp>
        <p:nvSpPr>
          <p:cNvPr id="15" name="Shape 13"/>
          <p:cNvSpPr/>
          <p:nvPr/>
        </p:nvSpPr>
        <p:spPr>
          <a:xfrm>
            <a:off x="621792" y="1874520"/>
            <a:ext cx="502920" cy="502920"/>
          </a:xfrm>
          <a:prstGeom prst="ellipse">
            <a:avLst/>
          </a:prstGeom>
          <a:solidFill>
            <a:srgbClr val="0072CE"/>
          </a:solidFill>
          <a:ln w="12700">
            <a:solidFill>
              <a:srgbClr val="0072CE"/>
            </a:solidFill>
            <a:prstDash val="solid"/>
          </a:ln>
        </p:spPr>
      </p:sp>
      <p:pic>
        <p:nvPicPr>
          <p:cNvPr id="16" name="Image 0" descr="/tmp/claude-0/-home-claude/0392ef1a-ea77-535e-abf6-0e4ef3a33421/scratchpad/build/icons/w11.png">    </p:cNvPr>
          <p:cNvPicPr>
            <a:picLocks noChangeAspect="1"/>
          </p:cNvPicPr>
          <p:nvPr/>
        </p:nvPicPr>
        <p:blipFill>
          <a:blip r:embed="rId1"/>
          <a:stretch>
            <a:fillRect/>
          </a:stretch>
        </p:blipFill>
        <p:spPr>
          <a:xfrm>
            <a:off x="740664" y="1993392"/>
            <a:ext cx="265176" cy="265176"/>
          </a:xfrm>
          <a:prstGeom prst="rect">
            <a:avLst/>
          </a:prstGeom>
        </p:spPr>
      </p:pic>
      <p:sp>
        <p:nvSpPr>
          <p:cNvPr id="17" name="Text 14"/>
          <p:cNvSpPr txBox="1"/>
          <p:nvPr/>
        </p:nvSpPr>
        <p:spPr>
          <a:xfrm>
            <a:off x="1280160" y="1865376"/>
            <a:ext cx="2697480" cy="219456"/>
          </a:xfrm>
          <a:prstGeom prst="rect">
            <a:avLst/>
          </a:prstGeom>
          <a:noFill/>
          <a:ln/>
        </p:spPr>
        <p:txBody>
          <a:bodyPr wrap="square" lIns="0" tIns="0" rIns="0" bIns="0" rtlCol="0" anchor="ctr"/>
          <a:lstStyle/>
          <a:p>
            <a:pPr indent="0" marL="0">
              <a:buNone/>
            </a:pPr>
            <a:r>
              <a:rPr lang="en-US" sz="1000" b="1" spc="160" kern="0" dirty="0">
                <a:solidFill>
                  <a:srgbClr val="0072CE"/>
                </a:solidFill>
                <a:latin typeface="Calibri" pitchFamily="34" charset="0"/>
                <a:ea typeface="Calibri" pitchFamily="34" charset="-122"/>
                <a:cs typeface="Calibri" pitchFamily="34" charset="-120"/>
              </a:rPr>
              <a:t>OUTCOME 2</a:t>
            </a:r>
            <a:endParaRPr lang="en-US" sz="1000" dirty="0"/>
          </a:p>
        </p:txBody>
      </p:sp>
      <p:sp>
        <p:nvSpPr>
          <p:cNvPr id="18" name="Text 15"/>
          <p:cNvSpPr txBox="1"/>
          <p:nvPr/>
        </p:nvSpPr>
        <p:spPr>
          <a:xfrm>
            <a:off x="1280160" y="2084832"/>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No additional time</a:t>
            </a:r>
            <a:endParaRPr lang="en-US" sz="1200" dirty="0"/>
          </a:p>
        </p:txBody>
      </p:sp>
      <p:sp>
        <p:nvSpPr>
          <p:cNvPr id="19" name="Text 16"/>
          <p:cNvSpPr txBox="1"/>
          <p:nvPr/>
        </p:nvSpPr>
        <p:spPr>
          <a:xfrm>
            <a:off x="640080" y="2596896"/>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Progress acceptable overall, but specific capabilities need development. No change to your CCT date and no remedial period. The next ARCP checks they have been achieved.</a:t>
            </a:r>
            <a:endParaRPr lang="en-US" sz="1000" dirty="0"/>
          </a:p>
        </p:txBody>
      </p:sp>
      <p:sp>
        <p:nvSpPr>
          <p:cNvPr id="20" name="Shape 17"/>
          <p:cNvSpPr/>
          <p:nvPr/>
        </p:nvSpPr>
        <p:spPr>
          <a:xfrm>
            <a:off x="4251960" y="1664208"/>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21" name="Shape 18"/>
          <p:cNvSpPr/>
          <p:nvPr/>
        </p:nvSpPr>
        <p:spPr>
          <a:xfrm>
            <a:off x="4251960" y="1664208"/>
            <a:ext cx="73152" cy="2103120"/>
          </a:xfrm>
          <a:prstGeom prst="rect">
            <a:avLst/>
          </a:prstGeom>
          <a:solidFill>
            <a:srgbClr val="FFB81C"/>
          </a:solidFill>
          <a:ln w="12700">
            <a:solidFill>
              <a:srgbClr val="FFB81C"/>
            </a:solidFill>
            <a:prstDash val="solid"/>
          </a:ln>
        </p:spPr>
      </p:sp>
      <p:sp>
        <p:nvSpPr>
          <p:cNvPr id="22" name="Shape 19"/>
          <p:cNvSpPr/>
          <p:nvPr/>
        </p:nvSpPr>
        <p:spPr>
          <a:xfrm>
            <a:off x="4416552" y="1874520"/>
            <a:ext cx="502920" cy="502920"/>
          </a:xfrm>
          <a:prstGeom prst="ellipse">
            <a:avLst/>
          </a:prstGeom>
          <a:solidFill>
            <a:srgbClr val="FFB81C"/>
          </a:solidFill>
          <a:ln w="12700">
            <a:solidFill>
              <a:srgbClr val="FFB81C"/>
            </a:solidFill>
            <a:prstDash val="solid"/>
          </a:ln>
        </p:spPr>
      </p:sp>
      <p:pic>
        <p:nvPicPr>
          <p:cNvPr id="23" name="Image 1" descr="/tmp/claude-0/-home-claude/0392ef1a-ea77-535e-abf6-0e4ef3a33421/scratchpad/build/icons/n15.png">    </p:cNvPr>
          <p:cNvPicPr>
            <a:picLocks noChangeAspect="1"/>
          </p:cNvPicPr>
          <p:nvPr/>
        </p:nvPicPr>
        <p:blipFill>
          <a:blip r:embed="rId2"/>
          <a:stretch>
            <a:fillRect/>
          </a:stretch>
        </p:blipFill>
        <p:spPr>
          <a:xfrm>
            <a:off x="4535424" y="1993392"/>
            <a:ext cx="265176" cy="265176"/>
          </a:xfrm>
          <a:prstGeom prst="rect">
            <a:avLst/>
          </a:prstGeom>
        </p:spPr>
      </p:pic>
      <p:sp>
        <p:nvSpPr>
          <p:cNvPr id="24" name="Text 20"/>
          <p:cNvSpPr txBox="1"/>
          <p:nvPr/>
        </p:nvSpPr>
        <p:spPr>
          <a:xfrm>
            <a:off x="5074920" y="1865376"/>
            <a:ext cx="2697480" cy="219456"/>
          </a:xfrm>
          <a:prstGeom prst="rect">
            <a:avLst/>
          </a:prstGeom>
          <a:noFill/>
          <a:ln/>
        </p:spPr>
        <p:txBody>
          <a:bodyPr wrap="square" lIns="0" tIns="0" rIns="0" bIns="0" rtlCol="0" anchor="ctr"/>
          <a:lstStyle/>
          <a:p>
            <a:pPr indent="0" marL="0">
              <a:buNone/>
            </a:pPr>
            <a:r>
              <a:rPr lang="en-US" sz="1000" b="1" spc="160" kern="0" dirty="0">
                <a:solidFill>
                  <a:srgbClr val="8A5E00"/>
                </a:solidFill>
                <a:latin typeface="Calibri" pitchFamily="34" charset="0"/>
                <a:ea typeface="Calibri" pitchFamily="34" charset="-122"/>
                <a:cs typeface="Calibri" pitchFamily="34" charset="-120"/>
              </a:rPr>
              <a:t>OUTCOME 3</a:t>
            </a:r>
            <a:endParaRPr lang="en-US" sz="1000" dirty="0"/>
          </a:p>
        </p:txBody>
      </p:sp>
      <p:sp>
        <p:nvSpPr>
          <p:cNvPr id="25" name="Text 21"/>
          <p:cNvSpPr txBox="1"/>
          <p:nvPr/>
        </p:nvSpPr>
        <p:spPr>
          <a:xfrm>
            <a:off x="5074920" y="2084832"/>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Additional time required</a:t>
            </a:r>
            <a:endParaRPr lang="en-US" sz="1200" dirty="0"/>
          </a:p>
        </p:txBody>
      </p:sp>
      <p:sp>
        <p:nvSpPr>
          <p:cNvPr id="26" name="Text 22"/>
          <p:cNvSpPr txBox="1"/>
          <p:nvPr/>
        </p:nvSpPr>
        <p:spPr>
          <a:xfrm>
            <a:off x="4434840" y="2596896"/>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A formal extension that moves your CCT date. The panel sets the objectives and timescale. Higher training: normally one year, and two at most including exceptional time.</a:t>
            </a:r>
            <a:endParaRPr lang="en-US" sz="1000" dirty="0"/>
          </a:p>
        </p:txBody>
      </p:sp>
      <p:sp>
        <p:nvSpPr>
          <p:cNvPr id="27" name="Shape 23"/>
          <p:cNvSpPr/>
          <p:nvPr/>
        </p:nvSpPr>
        <p:spPr>
          <a:xfrm>
            <a:off x="8046720" y="1664208"/>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28" name="Shape 24"/>
          <p:cNvSpPr/>
          <p:nvPr/>
        </p:nvSpPr>
        <p:spPr>
          <a:xfrm>
            <a:off x="8046720" y="1664208"/>
            <a:ext cx="73152" cy="2103120"/>
          </a:xfrm>
          <a:prstGeom prst="rect">
            <a:avLst/>
          </a:prstGeom>
          <a:solidFill>
            <a:srgbClr val="003087"/>
          </a:solidFill>
          <a:ln w="12700">
            <a:solidFill>
              <a:srgbClr val="003087"/>
            </a:solidFill>
            <a:prstDash val="solid"/>
          </a:ln>
        </p:spPr>
      </p:sp>
      <p:sp>
        <p:nvSpPr>
          <p:cNvPr id="29" name="Shape 25"/>
          <p:cNvSpPr/>
          <p:nvPr/>
        </p:nvSpPr>
        <p:spPr>
          <a:xfrm>
            <a:off x="8211312" y="1874520"/>
            <a:ext cx="502920" cy="502920"/>
          </a:xfrm>
          <a:prstGeom prst="ellipse">
            <a:avLst/>
          </a:prstGeom>
          <a:solidFill>
            <a:srgbClr val="003087"/>
          </a:solidFill>
          <a:ln w="12700">
            <a:solidFill>
              <a:srgbClr val="003087"/>
            </a:solidFill>
            <a:prstDash val="solid"/>
          </a:ln>
        </p:spPr>
      </p:sp>
      <p:pic>
        <p:nvPicPr>
          <p:cNvPr id="30" name="Image 2" descr="/tmp/claude-0/-home-claude/0392ef1a-ea77-535e-abf6-0e4ef3a33421/scratchpad/build/icons/w12.png">    </p:cNvPr>
          <p:cNvPicPr>
            <a:picLocks noChangeAspect="1"/>
          </p:cNvPicPr>
          <p:nvPr/>
        </p:nvPicPr>
        <p:blipFill>
          <a:blip r:embed="rId3"/>
          <a:stretch>
            <a:fillRect/>
          </a:stretch>
        </p:blipFill>
        <p:spPr>
          <a:xfrm>
            <a:off x="8330184" y="1993392"/>
            <a:ext cx="265176" cy="265176"/>
          </a:xfrm>
          <a:prstGeom prst="rect">
            <a:avLst/>
          </a:prstGeom>
        </p:spPr>
      </p:pic>
      <p:sp>
        <p:nvSpPr>
          <p:cNvPr id="31" name="Text 26"/>
          <p:cNvSpPr txBox="1"/>
          <p:nvPr/>
        </p:nvSpPr>
        <p:spPr>
          <a:xfrm>
            <a:off x="8869680" y="1865376"/>
            <a:ext cx="2697480" cy="219456"/>
          </a:xfrm>
          <a:prstGeom prst="rect">
            <a:avLst/>
          </a:prstGeom>
          <a:noFill/>
          <a:ln/>
        </p:spPr>
        <p:txBody>
          <a:bodyPr wrap="square" lIns="0" tIns="0" rIns="0" bIns="0" rtlCol="0" anchor="ctr"/>
          <a:lstStyle/>
          <a:p>
            <a:pPr indent="0" marL="0">
              <a:buNone/>
            </a:pPr>
            <a:r>
              <a:rPr lang="en-US" sz="1000" b="1" spc="160" kern="0" dirty="0">
                <a:solidFill>
                  <a:srgbClr val="003087"/>
                </a:solidFill>
                <a:latin typeface="Calibri" pitchFamily="34" charset="0"/>
                <a:ea typeface="Calibri" pitchFamily="34" charset="-122"/>
                <a:cs typeface="Calibri" pitchFamily="34" charset="-120"/>
              </a:rPr>
              <a:t>OUTCOME 5</a:t>
            </a:r>
            <a:endParaRPr lang="en-US" sz="1000" dirty="0"/>
          </a:p>
        </p:txBody>
      </p:sp>
      <p:sp>
        <p:nvSpPr>
          <p:cNvPr id="32" name="Text 27"/>
          <p:cNvSpPr txBox="1"/>
          <p:nvPr/>
        </p:nvSpPr>
        <p:spPr>
          <a:xfrm>
            <a:off x="8869680" y="2084832"/>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Incomplete evidence</a:t>
            </a:r>
            <a:endParaRPr lang="en-US" sz="1200" dirty="0"/>
          </a:p>
        </p:txBody>
      </p:sp>
      <p:sp>
        <p:nvSpPr>
          <p:cNvPr id="33" name="Text 28"/>
          <p:cNvSpPr txBox="1"/>
          <p:nvPr/>
        </p:nvSpPr>
        <p:spPr>
          <a:xfrm>
            <a:off x="8229600" y="2596896"/>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A stopped clock. The panel agrees what is outstanding and by when — normally no more than eight weeks — and it must never cross a progression point.</a:t>
            </a:r>
            <a:endParaRPr lang="en-US" sz="1000" dirty="0"/>
          </a:p>
        </p:txBody>
      </p:sp>
      <p:sp>
        <p:nvSpPr>
          <p:cNvPr id="34" name="Shape 29"/>
          <p:cNvSpPr/>
          <p:nvPr/>
        </p:nvSpPr>
        <p:spPr>
          <a:xfrm>
            <a:off x="457200" y="3895344"/>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35" name="Shape 30"/>
          <p:cNvSpPr/>
          <p:nvPr/>
        </p:nvSpPr>
        <p:spPr>
          <a:xfrm>
            <a:off x="457200" y="3895344"/>
            <a:ext cx="73152" cy="2103120"/>
          </a:xfrm>
          <a:prstGeom prst="rect">
            <a:avLst/>
          </a:prstGeom>
          <a:solidFill>
            <a:srgbClr val="AE2573"/>
          </a:solidFill>
          <a:ln w="12700">
            <a:solidFill>
              <a:srgbClr val="AE2573"/>
            </a:solidFill>
            <a:prstDash val="solid"/>
          </a:ln>
        </p:spPr>
      </p:sp>
      <p:sp>
        <p:nvSpPr>
          <p:cNvPr id="36" name="Shape 31"/>
          <p:cNvSpPr/>
          <p:nvPr/>
        </p:nvSpPr>
        <p:spPr>
          <a:xfrm>
            <a:off x="621792" y="4105656"/>
            <a:ext cx="502920" cy="502920"/>
          </a:xfrm>
          <a:prstGeom prst="ellipse">
            <a:avLst/>
          </a:prstGeom>
          <a:solidFill>
            <a:srgbClr val="AE2573"/>
          </a:solidFill>
          <a:ln w="12700">
            <a:solidFill>
              <a:srgbClr val="AE2573"/>
            </a:solidFill>
            <a:prstDash val="solid"/>
          </a:ln>
        </p:spPr>
      </p:sp>
      <p:pic>
        <p:nvPicPr>
          <p:cNvPr id="37" name="Image 3" descr="/tmp/claude-0/-home-claude/0392ef1a-ea77-535e-abf6-0e4ef3a33421/scratchpad/build/icons/w1.png">    </p:cNvPr>
          <p:cNvPicPr>
            <a:picLocks noChangeAspect="1"/>
          </p:cNvPicPr>
          <p:nvPr/>
        </p:nvPicPr>
        <p:blipFill>
          <a:blip r:embed="rId4"/>
          <a:stretch>
            <a:fillRect/>
          </a:stretch>
        </p:blipFill>
        <p:spPr>
          <a:xfrm>
            <a:off x="740664" y="4224528"/>
            <a:ext cx="265176" cy="265176"/>
          </a:xfrm>
          <a:prstGeom prst="rect">
            <a:avLst/>
          </a:prstGeom>
        </p:spPr>
      </p:pic>
      <p:sp>
        <p:nvSpPr>
          <p:cNvPr id="38" name="Text 32"/>
          <p:cNvSpPr txBox="1"/>
          <p:nvPr/>
        </p:nvSpPr>
        <p:spPr>
          <a:xfrm>
            <a:off x="1280160" y="4096512"/>
            <a:ext cx="2697480" cy="219456"/>
          </a:xfrm>
          <a:prstGeom prst="rect">
            <a:avLst/>
          </a:prstGeom>
          <a:noFill/>
          <a:ln/>
        </p:spPr>
        <p:txBody>
          <a:bodyPr wrap="square" lIns="0" tIns="0" rIns="0" bIns="0" rtlCol="0" anchor="ctr"/>
          <a:lstStyle/>
          <a:p>
            <a:pPr indent="0" marL="0">
              <a:buNone/>
            </a:pPr>
            <a:r>
              <a:rPr lang="en-US" sz="1000" b="1" spc="160" kern="0" dirty="0">
                <a:solidFill>
                  <a:srgbClr val="AE2573"/>
                </a:solidFill>
                <a:latin typeface="Calibri" pitchFamily="34" charset="0"/>
                <a:ea typeface="Calibri" pitchFamily="34" charset="-122"/>
                <a:cs typeface="Calibri" pitchFamily="34" charset="-120"/>
              </a:rPr>
              <a:t>FORM R</a:t>
            </a:r>
            <a:endParaRPr lang="en-US" sz="1000" dirty="0"/>
          </a:p>
        </p:txBody>
      </p:sp>
      <p:sp>
        <p:nvSpPr>
          <p:cNvPr id="39" name="Text 33"/>
          <p:cNvSpPr txBox="1"/>
          <p:nvPr/>
        </p:nvSpPr>
        <p:spPr>
          <a:xfrm>
            <a:off x="1280160" y="4315968"/>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The avoidable one</a:t>
            </a:r>
            <a:endParaRPr lang="en-US" sz="1200" dirty="0"/>
          </a:p>
        </p:txBody>
      </p:sp>
      <p:sp>
        <p:nvSpPr>
          <p:cNvPr id="40" name="Text 34"/>
          <p:cNvSpPr txBox="1"/>
          <p:nvPr/>
        </p:nvSpPr>
        <p:spPr>
          <a:xfrm>
            <a:off x="640080" y="4828032"/>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A missing or incomplete Form R means an Outcome 5 and two weeks to fix it. After that an Outcome 2, 3 or 4 is issued and an Outcome 1 is no longer available to the panel.</a:t>
            </a:r>
            <a:endParaRPr lang="en-US" sz="1000" dirty="0"/>
          </a:p>
        </p:txBody>
      </p:sp>
      <p:sp>
        <p:nvSpPr>
          <p:cNvPr id="41" name="Shape 35"/>
          <p:cNvSpPr/>
          <p:nvPr/>
        </p:nvSpPr>
        <p:spPr>
          <a:xfrm>
            <a:off x="4251960" y="3895344"/>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42" name="Shape 36"/>
          <p:cNvSpPr/>
          <p:nvPr/>
        </p:nvSpPr>
        <p:spPr>
          <a:xfrm>
            <a:off x="4251960" y="3895344"/>
            <a:ext cx="73152" cy="2103120"/>
          </a:xfrm>
          <a:prstGeom prst="rect">
            <a:avLst/>
          </a:prstGeom>
          <a:solidFill>
            <a:srgbClr val="009639"/>
          </a:solidFill>
          <a:ln w="12700">
            <a:solidFill>
              <a:srgbClr val="009639"/>
            </a:solidFill>
            <a:prstDash val="solid"/>
          </a:ln>
        </p:spPr>
      </p:sp>
      <p:sp>
        <p:nvSpPr>
          <p:cNvPr id="43" name="Shape 37"/>
          <p:cNvSpPr/>
          <p:nvPr/>
        </p:nvSpPr>
        <p:spPr>
          <a:xfrm>
            <a:off x="4416552" y="4105656"/>
            <a:ext cx="502920" cy="502920"/>
          </a:xfrm>
          <a:prstGeom prst="ellipse">
            <a:avLst/>
          </a:prstGeom>
          <a:solidFill>
            <a:srgbClr val="009639"/>
          </a:solidFill>
          <a:ln w="12700">
            <a:solidFill>
              <a:srgbClr val="009639"/>
            </a:solidFill>
            <a:prstDash val="solid"/>
          </a:ln>
        </p:spPr>
      </p:sp>
      <p:pic>
        <p:nvPicPr>
          <p:cNvPr id="44" name="Image 4" descr="/tmp/claude-0/-home-claude/0392ef1a-ea77-535e-abf6-0e4ef3a33421/scratchpad/build/icons/w4.png">    </p:cNvPr>
          <p:cNvPicPr>
            <a:picLocks noChangeAspect="1"/>
          </p:cNvPicPr>
          <p:nvPr/>
        </p:nvPicPr>
        <p:blipFill>
          <a:blip r:embed="rId5"/>
          <a:stretch>
            <a:fillRect/>
          </a:stretch>
        </p:blipFill>
        <p:spPr>
          <a:xfrm>
            <a:off x="4535424" y="4224528"/>
            <a:ext cx="265176" cy="265176"/>
          </a:xfrm>
          <a:prstGeom prst="rect">
            <a:avLst/>
          </a:prstGeom>
        </p:spPr>
      </p:pic>
      <p:sp>
        <p:nvSpPr>
          <p:cNvPr id="45" name="Text 38"/>
          <p:cNvSpPr txBox="1"/>
          <p:nvPr/>
        </p:nvSpPr>
        <p:spPr>
          <a:xfrm>
            <a:off x="5074920" y="4096512"/>
            <a:ext cx="2697480" cy="219456"/>
          </a:xfrm>
          <a:prstGeom prst="rect">
            <a:avLst/>
          </a:prstGeom>
          <a:noFill/>
          <a:ln/>
        </p:spPr>
        <p:txBody>
          <a:bodyPr wrap="square" lIns="0" tIns="0" rIns="0" bIns="0" rtlCol="0" anchor="ctr"/>
          <a:lstStyle/>
          <a:p>
            <a:pPr indent="0" marL="0">
              <a:buNone/>
            </a:pPr>
            <a:r>
              <a:rPr lang="en-US" sz="1000" b="1" spc="160" kern="0" dirty="0">
                <a:solidFill>
                  <a:srgbClr val="009639"/>
                </a:solidFill>
                <a:latin typeface="Calibri" pitchFamily="34" charset="0"/>
                <a:ea typeface="Calibri" pitchFamily="34" charset="-122"/>
                <a:cs typeface="Calibri" pitchFamily="34" charset="-120"/>
              </a:rPr>
              <a:t>REVIEW</a:t>
            </a:r>
            <a:endParaRPr lang="en-US" sz="1000" dirty="0"/>
          </a:p>
        </p:txBody>
      </p:sp>
      <p:sp>
        <p:nvSpPr>
          <p:cNvPr id="46" name="Text 39"/>
          <p:cNvSpPr txBox="1"/>
          <p:nvPr/>
        </p:nvSpPr>
        <p:spPr>
          <a:xfrm>
            <a:off x="5074920" y="4315968"/>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Outcome 2 / 10.1 and 7.2</a:t>
            </a:r>
            <a:endParaRPr lang="en-US" sz="1200" dirty="0"/>
          </a:p>
        </p:txBody>
      </p:sp>
      <p:sp>
        <p:nvSpPr>
          <p:cNvPr id="47" name="Text 40"/>
          <p:cNvSpPr txBox="1"/>
          <p:nvPr/>
        </p:nvSpPr>
        <p:spPr>
          <a:xfrm>
            <a:off x="4434840" y="4828032"/>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In writing to the ARCP panel Chair within 10 working days. The original panel reconsiders, where practical, within 15 working days. That decision is final.</a:t>
            </a:r>
            <a:endParaRPr lang="en-US" sz="1000" dirty="0"/>
          </a:p>
        </p:txBody>
      </p:sp>
      <p:sp>
        <p:nvSpPr>
          <p:cNvPr id="48" name="Shape 41"/>
          <p:cNvSpPr/>
          <p:nvPr/>
        </p:nvSpPr>
        <p:spPr>
          <a:xfrm>
            <a:off x="8046720" y="3895344"/>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49" name="Shape 42"/>
          <p:cNvSpPr/>
          <p:nvPr/>
        </p:nvSpPr>
        <p:spPr>
          <a:xfrm>
            <a:off x="8046720" y="3895344"/>
            <a:ext cx="73152" cy="2103120"/>
          </a:xfrm>
          <a:prstGeom prst="rect">
            <a:avLst/>
          </a:prstGeom>
          <a:solidFill>
            <a:srgbClr val="330072"/>
          </a:solidFill>
          <a:ln w="12700">
            <a:solidFill>
              <a:srgbClr val="330072"/>
            </a:solidFill>
            <a:prstDash val="solid"/>
          </a:ln>
        </p:spPr>
      </p:sp>
      <p:sp>
        <p:nvSpPr>
          <p:cNvPr id="50" name="Shape 43"/>
          <p:cNvSpPr/>
          <p:nvPr/>
        </p:nvSpPr>
        <p:spPr>
          <a:xfrm>
            <a:off x="8211312" y="4105656"/>
            <a:ext cx="502920" cy="502920"/>
          </a:xfrm>
          <a:prstGeom prst="ellipse">
            <a:avLst/>
          </a:prstGeom>
          <a:solidFill>
            <a:srgbClr val="330072"/>
          </a:solidFill>
          <a:ln w="12700">
            <a:solidFill>
              <a:srgbClr val="330072"/>
            </a:solidFill>
            <a:prstDash val="solid"/>
          </a:ln>
        </p:spPr>
      </p:sp>
      <p:pic>
        <p:nvPicPr>
          <p:cNvPr id="51" name="Image 5" descr="/tmp/claude-0/-home-claude/0392ef1a-ea77-535e-abf6-0e4ef3a33421/scratchpad/build/icons/w6.png">    </p:cNvPr>
          <p:cNvPicPr>
            <a:picLocks noChangeAspect="1"/>
          </p:cNvPicPr>
          <p:nvPr/>
        </p:nvPicPr>
        <p:blipFill>
          <a:blip r:embed="rId6"/>
          <a:stretch>
            <a:fillRect/>
          </a:stretch>
        </p:blipFill>
        <p:spPr>
          <a:xfrm>
            <a:off x="8330184" y="4224528"/>
            <a:ext cx="265176" cy="265176"/>
          </a:xfrm>
          <a:prstGeom prst="rect">
            <a:avLst/>
          </a:prstGeom>
        </p:spPr>
      </p:pic>
      <p:sp>
        <p:nvSpPr>
          <p:cNvPr id="52" name="Text 44"/>
          <p:cNvSpPr txBox="1"/>
          <p:nvPr/>
        </p:nvSpPr>
        <p:spPr>
          <a:xfrm>
            <a:off x="8869680" y="4096512"/>
            <a:ext cx="2697480" cy="219456"/>
          </a:xfrm>
          <a:prstGeom prst="rect">
            <a:avLst/>
          </a:prstGeom>
          <a:noFill/>
          <a:ln/>
        </p:spPr>
        <p:txBody>
          <a:bodyPr wrap="square" lIns="0" tIns="0" rIns="0" bIns="0" rtlCol="0" anchor="ctr"/>
          <a:lstStyle/>
          <a:p>
            <a:pPr indent="0" marL="0">
              <a:buNone/>
            </a:pPr>
            <a:r>
              <a:rPr lang="en-US" sz="1000" b="1" spc="160" kern="0" dirty="0">
                <a:solidFill>
                  <a:srgbClr val="330072"/>
                </a:solidFill>
                <a:latin typeface="Calibri" pitchFamily="34" charset="0"/>
                <a:ea typeface="Calibri" pitchFamily="34" charset="-122"/>
                <a:cs typeface="Calibri" pitchFamily="34" charset="-120"/>
              </a:rPr>
              <a:t>APPEAL</a:t>
            </a:r>
            <a:endParaRPr lang="en-US" sz="1000" dirty="0"/>
          </a:p>
        </p:txBody>
      </p:sp>
      <p:sp>
        <p:nvSpPr>
          <p:cNvPr id="53" name="Text 45"/>
          <p:cNvSpPr txBox="1"/>
          <p:nvPr/>
        </p:nvSpPr>
        <p:spPr>
          <a:xfrm>
            <a:off x="8869680" y="4315968"/>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Outcome 3 / 10.2 and 4</a:t>
            </a:r>
            <a:endParaRPr lang="en-US" sz="1200" dirty="0"/>
          </a:p>
        </p:txBody>
      </p:sp>
      <p:sp>
        <p:nvSpPr>
          <p:cNvPr id="54" name="Text 46"/>
          <p:cNvSpPr txBox="1"/>
          <p:nvPr/>
        </p:nvSpPr>
        <p:spPr>
          <a:xfrm>
            <a:off x="8229600" y="4828032"/>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In writing to the Postgraduate Dean within 10 working days, stating the grounds. A step 1 review comes first; a formal hearing normally follows within 30 working days.</a:t>
            </a:r>
            <a:endParaRPr lang="en-US" sz="1000" dirty="0"/>
          </a:p>
        </p:txBody>
      </p:sp>
      <p:sp>
        <p:nvSpPr>
          <p:cNvPr id="55" name="Shape 47"/>
          <p:cNvSpPr/>
          <p:nvPr/>
        </p:nvSpPr>
        <p:spPr>
          <a:xfrm>
            <a:off x="457200" y="6071616"/>
            <a:ext cx="11247120" cy="438912"/>
          </a:xfrm>
          <a:prstGeom prst="rect">
            <a:avLst/>
          </a:prstGeom>
          <a:solidFill>
            <a:srgbClr val="F0F4F5"/>
          </a:solidFill>
          <a:ln w="12700">
            <a:solidFill>
              <a:srgbClr val="F0F4F5"/>
            </a:solidFill>
            <a:prstDash val="solid"/>
          </a:ln>
        </p:spPr>
      </p:sp>
      <p:sp>
        <p:nvSpPr>
          <p:cNvPr id="56" name="Shape 48"/>
          <p:cNvSpPr/>
          <p:nvPr/>
        </p:nvSpPr>
        <p:spPr>
          <a:xfrm>
            <a:off x="457200" y="6071616"/>
            <a:ext cx="73152" cy="438912"/>
          </a:xfrm>
          <a:prstGeom prst="rect">
            <a:avLst/>
          </a:prstGeom>
          <a:solidFill>
            <a:srgbClr val="0072CE"/>
          </a:solidFill>
          <a:ln w="12700">
            <a:solidFill>
              <a:srgbClr val="0072CE"/>
            </a:solidFill>
            <a:prstDash val="solid"/>
          </a:ln>
        </p:spPr>
      </p:sp>
      <p:sp>
        <p:nvSpPr>
          <p:cNvPr id="57" name="Text 49"/>
          <p:cNvSpPr txBox="1"/>
          <p:nvPr/>
        </p:nvSpPr>
        <p:spPr>
          <a:xfrm>
            <a:off x="658368" y="6071616"/>
            <a:ext cx="10881360" cy="438912"/>
          </a:xfrm>
          <a:prstGeom prst="rect">
            <a:avLst/>
          </a:prstGeom>
          <a:noFill/>
          <a:ln/>
        </p:spPr>
        <p:txBody>
          <a:bodyPr wrap="square" lIns="0" tIns="0" rIns="0" bIns="0" rtlCol="0" anchor="ctr"/>
          <a:lstStyle/>
          <a:p>
            <a:pPr indent="0" marL="0">
              <a:buNone/>
            </a:pPr>
            <a:r>
              <a:rPr lang="en-US" sz="1000" i="1" dirty="0">
                <a:solidFill>
                  <a:srgbClr val="212B32"/>
                </a:solidFill>
                <a:latin typeface="Calibri" pitchFamily="34" charset="0"/>
                <a:ea typeface="Calibri" pitchFamily="34" charset="-122"/>
                <a:cs typeface="Calibri" pitchFamily="34" charset="-120"/>
              </a:rPr>
              <a:t>Outcome 10 is the “no fault” one — introduced for COVID-19, when training opportunities in some specialties were suspended. It records disruption, not a concern about you, and needs a national directive.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10584180" y="379476"/>
            <a:ext cx="82296" cy="82296"/>
          </a:xfrm>
          <a:prstGeom prst="ellipse">
            <a:avLst/>
          </a:prstGeom>
          <a:solidFill>
            <a:srgbClr val="D8DDE0"/>
          </a:solidFill>
          <a:ln w="12700">
            <a:solidFill>
              <a:srgbClr val="D8DDE0"/>
            </a:solidFill>
            <a:prstDash val="solid"/>
          </a:ln>
        </p:spPr>
      </p:sp>
      <p:sp>
        <p:nvSpPr>
          <p:cNvPr id="3" name="Shape 1"/>
          <p:cNvSpPr/>
          <p:nvPr/>
        </p:nvSpPr>
        <p:spPr>
          <a:xfrm>
            <a:off x="10776204" y="361188"/>
            <a:ext cx="118872" cy="118872"/>
          </a:xfrm>
          <a:prstGeom prst="ellipse">
            <a:avLst/>
          </a:prstGeom>
          <a:solidFill>
            <a:srgbClr val="0072CE"/>
          </a:solidFill>
          <a:ln w="12700">
            <a:solidFill>
              <a:srgbClr val="0072CE"/>
            </a:solidFill>
            <a:prstDash val="solid"/>
          </a:ln>
        </p:spPr>
      </p:sp>
      <p:sp>
        <p:nvSpPr>
          <p:cNvPr id="4" name="Shape 2"/>
          <p:cNvSpPr/>
          <p:nvPr/>
        </p:nvSpPr>
        <p:spPr>
          <a:xfrm>
            <a:off x="11004804" y="379476"/>
            <a:ext cx="82296" cy="82296"/>
          </a:xfrm>
          <a:prstGeom prst="ellipse">
            <a:avLst/>
          </a:prstGeom>
          <a:solidFill>
            <a:srgbClr val="D8DDE0"/>
          </a:solidFill>
          <a:ln w="12700">
            <a:solidFill>
              <a:srgbClr val="D8DDE0"/>
            </a:solidFill>
            <a:prstDash val="solid"/>
          </a:ln>
        </p:spPr>
      </p:sp>
      <p:sp>
        <p:nvSpPr>
          <p:cNvPr id="5" name="Shape 3"/>
          <p:cNvSpPr/>
          <p:nvPr/>
        </p:nvSpPr>
        <p:spPr>
          <a:xfrm>
            <a:off x="11215116" y="379476"/>
            <a:ext cx="82296" cy="82296"/>
          </a:xfrm>
          <a:prstGeom prst="ellipse">
            <a:avLst/>
          </a:prstGeom>
          <a:solidFill>
            <a:srgbClr val="D8DDE0"/>
          </a:solidFill>
          <a:ln w="12700">
            <a:solidFill>
              <a:srgbClr val="D8DDE0"/>
            </a:solidFill>
            <a:prstDash val="solid"/>
          </a:ln>
        </p:spPr>
      </p:sp>
      <p:sp>
        <p:nvSpPr>
          <p:cNvPr id="6" name="Shape 4"/>
          <p:cNvSpPr/>
          <p:nvPr/>
        </p:nvSpPr>
        <p:spPr>
          <a:xfrm>
            <a:off x="11425428" y="379476"/>
            <a:ext cx="82296" cy="82296"/>
          </a:xfrm>
          <a:prstGeom prst="ellipse">
            <a:avLst/>
          </a:prstGeom>
          <a:solidFill>
            <a:srgbClr val="D8DDE0"/>
          </a:solidFill>
          <a:ln w="12700">
            <a:solidFill>
              <a:srgbClr val="D8DDE0"/>
            </a:solidFill>
            <a:prstDash val="solid"/>
          </a:ln>
        </p:spPr>
      </p:sp>
      <p:sp>
        <p:nvSpPr>
          <p:cNvPr id="7" name="Shape 5"/>
          <p:cNvSpPr/>
          <p:nvPr/>
        </p:nvSpPr>
        <p:spPr>
          <a:xfrm>
            <a:off x="11635740" y="379476"/>
            <a:ext cx="82296" cy="82296"/>
          </a:xfrm>
          <a:prstGeom prst="ellipse">
            <a:avLst/>
          </a:prstGeom>
          <a:solidFill>
            <a:srgbClr val="D8DDE0"/>
          </a:solidFill>
          <a:ln w="12700">
            <a:solidFill>
              <a:srgbClr val="D8DDE0"/>
            </a:solidFill>
            <a:prstDash val="solid"/>
          </a:ln>
        </p:spPr>
      </p:sp>
      <p:sp>
        <p:nvSpPr>
          <p:cNvPr id="8" name="Text 6"/>
          <p:cNvSpPr txBox="1"/>
          <p:nvPr/>
        </p:nvSpPr>
        <p:spPr>
          <a:xfrm>
            <a:off x="457200" y="274320"/>
            <a:ext cx="9875520" cy="256032"/>
          </a:xfrm>
          <a:prstGeom prst="rect">
            <a:avLst/>
          </a:prstGeom>
          <a:noFill/>
          <a:ln/>
        </p:spPr>
        <p:txBody>
          <a:bodyPr wrap="square" lIns="0" tIns="0" rIns="0" bIns="0" rtlCol="0" anchor="ctr"/>
          <a:lstStyle/>
          <a:p>
            <a:pPr indent="0" marL="0">
              <a:buNone/>
            </a:pPr>
            <a:r>
              <a:rPr lang="en-US" sz="1100" b="1" spc="240" kern="0" dirty="0">
                <a:solidFill>
                  <a:srgbClr val="0072CE"/>
                </a:solidFill>
                <a:latin typeface="Calibri" pitchFamily="34" charset="0"/>
                <a:ea typeface="Calibri" pitchFamily="34" charset="-122"/>
                <a:cs typeface="Calibri" pitchFamily="34" charset="-120"/>
              </a:rPr>
              <a:t>PART 02 · PROPOSED CHANGES · NOT YET IN FORCE</a:t>
            </a:r>
            <a:endParaRPr lang="en-US" sz="1100" dirty="0"/>
          </a:p>
        </p:txBody>
      </p:sp>
      <p:sp>
        <p:nvSpPr>
          <p:cNvPr id="9" name="Text 7"/>
          <p:cNvSpPr txBox="1"/>
          <p:nvPr/>
        </p:nvSpPr>
        <p:spPr>
          <a:xfrm>
            <a:off x="457200" y="512064"/>
            <a:ext cx="11247120" cy="658368"/>
          </a:xfrm>
          <a:prstGeom prst="rect">
            <a:avLst/>
          </a:prstGeom>
          <a:noFill/>
          <a:ln/>
        </p:spPr>
        <p:txBody>
          <a:bodyPr wrap="square" lIns="0" tIns="0" rIns="0" bIns="0" rtlCol="0" anchor="ctr"/>
          <a:lstStyle/>
          <a:p>
            <a:pPr indent="0" marL="0">
              <a:buNone/>
            </a:pPr>
            <a:r>
              <a:rPr lang="en-US" sz="3000" b="1" dirty="0">
                <a:solidFill>
                  <a:srgbClr val="003087"/>
                </a:solidFill>
                <a:latin typeface="Calibri" pitchFamily="34" charset="0"/>
                <a:ea typeface="Calibri" pitchFamily="34" charset="-122"/>
                <a:cs typeface="Calibri" pitchFamily="34" charset="-120"/>
              </a:rPr>
              <a:t>What the June 2026 offer proposes for the ARCP</a:t>
            </a:r>
            <a:endParaRPr lang="en-US" sz="3000" dirty="0"/>
          </a:p>
        </p:txBody>
      </p:sp>
      <p:sp>
        <p:nvSpPr>
          <p:cNvPr id="10" name="Text 8"/>
          <p:cNvSpPr txBox="1"/>
          <p:nvPr/>
        </p:nvSpPr>
        <p:spPr>
          <a:xfrm>
            <a:off x="457200" y="1170432"/>
            <a:ext cx="11247120" cy="411480"/>
          </a:xfrm>
          <a:prstGeom prst="rect">
            <a:avLst/>
          </a:prstGeom>
          <a:noFill/>
          <a:ln/>
        </p:spPr>
        <p:txBody>
          <a:bodyPr wrap="square" lIns="0" tIns="0" rIns="0" bIns="0" rtlCol="0" anchor="t"/>
          <a:lstStyle/>
          <a:p>
            <a:pPr indent="0" marL="0">
              <a:buNone/>
            </a:pPr>
            <a:r>
              <a:rPr lang="en-US" sz="1200" i="1" dirty="0">
                <a:solidFill>
                  <a:srgbClr val="768692"/>
                </a:solidFill>
                <a:latin typeface="Calibri" pitchFamily="34" charset="0"/>
                <a:ea typeface="Calibri" pitchFamily="34" charset="-122"/>
                <a:cs typeface="Calibri" pitchFamily="34" charset="-120"/>
              </a:rPr>
              <a:t>Points 20 to 22 of the government's offer to the BMA UK Resident Doctors Committee. This is an offer document, not guidance — none of it changes the ARCP you are preparing for now.</a:t>
            </a:r>
            <a:endParaRPr lang="en-US" sz="1200" dirty="0"/>
          </a:p>
        </p:txBody>
      </p:sp>
      <p:sp>
        <p:nvSpPr>
          <p:cNvPr id="11" name="Text 9"/>
          <p:cNvSpPr txBox="1"/>
          <p:nvPr/>
        </p:nvSpPr>
        <p:spPr>
          <a:xfrm>
            <a:off x="457200" y="6547104"/>
            <a:ext cx="7315200" cy="274320"/>
          </a:xfrm>
          <a:prstGeom prst="rect">
            <a:avLst/>
          </a:prstGeom>
          <a:noFill/>
          <a:ln/>
        </p:spPr>
        <p:txBody>
          <a:bodyPr wrap="square" lIns="0" tIns="0" rIns="0" bIns="0" rtlCol="0" anchor="ctr"/>
          <a:lstStyle/>
          <a:p>
            <a:pPr indent="0" marL="0">
              <a:buNone/>
            </a:pPr>
            <a:r>
              <a:rPr lang="en-US" sz="900" dirty="0">
                <a:solidFill>
                  <a:srgbClr val="768692"/>
                </a:solidFill>
                <a:latin typeface="Calibri" pitchFamily="34" charset="0"/>
                <a:ea typeface="Calibri" pitchFamily="34" charset="-122"/>
                <a:cs typeface="Calibri" pitchFamily="34" charset="-120"/>
              </a:rPr>
              <a:t>GIM ARCP · trainee guidance · </a:t>
            </a:r>
            <a:pPr indent="0" marL="0">
              <a:buNone/>
            </a:pPr>
            <a:r>
              <a:rPr lang="en-US" sz="900" b="1" dirty="0">
                <a:solidFill>
                  <a:srgbClr val="8A5E00"/>
                </a:solidFill>
                <a:latin typeface="Calibri" pitchFamily="34" charset="0"/>
                <a:ea typeface="Calibri" pitchFamily="34" charset="-122"/>
                <a:cs typeface="Calibri" pitchFamily="34" charset="-120"/>
              </a:rPr>
              <a:t>DRAFT</a:t>
            </a:r>
            <a:endParaRPr lang="en-US" sz="900" dirty="0"/>
          </a:p>
        </p:txBody>
      </p:sp>
      <p:sp>
        <p:nvSpPr>
          <p:cNvPr id="12" name="Text 10"/>
          <p:cNvSpPr txBox="1"/>
          <p:nvPr/>
        </p:nvSpPr>
        <p:spPr>
          <a:xfrm>
            <a:off x="11155680" y="6547104"/>
            <a:ext cx="548640" cy="274320"/>
          </a:xfrm>
          <a:prstGeom prst="rect">
            <a:avLst/>
          </a:prstGeom>
          <a:noFill/>
          <a:ln/>
        </p:spPr>
        <p:txBody>
          <a:bodyPr wrap="square" lIns="0" tIns="0" rIns="0" bIns="0" rtlCol="0" anchor="ctr"/>
          <a:lstStyle/>
          <a:p>
            <a:pPr algn="r" indent="0" marL="0">
              <a:buNone/>
            </a:pPr>
            <a:r>
              <a:rPr lang="en-US" sz="900" dirty="0">
                <a:solidFill>
                  <a:srgbClr val="768692"/>
                </a:solidFill>
                <a:latin typeface="Calibri" pitchFamily="34" charset="0"/>
                <a:ea typeface="Calibri" pitchFamily="34" charset="-122"/>
                <a:cs typeface="Calibri" pitchFamily="34" charset="-120"/>
              </a:rPr>
              <a:t>8</a:t>
            </a:r>
            <a:endParaRPr lang="en-US" sz="900" dirty="0"/>
          </a:p>
        </p:txBody>
      </p:sp>
      <p:sp>
        <p:nvSpPr>
          <p:cNvPr id="13" name="Shape 11"/>
          <p:cNvSpPr/>
          <p:nvPr/>
        </p:nvSpPr>
        <p:spPr>
          <a:xfrm>
            <a:off x="457200" y="1664208"/>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14" name="Shape 12"/>
          <p:cNvSpPr/>
          <p:nvPr/>
        </p:nvSpPr>
        <p:spPr>
          <a:xfrm>
            <a:off x="457200" y="1664208"/>
            <a:ext cx="73152" cy="2103120"/>
          </a:xfrm>
          <a:prstGeom prst="rect">
            <a:avLst/>
          </a:prstGeom>
          <a:solidFill>
            <a:srgbClr val="003087"/>
          </a:solidFill>
          <a:ln w="12700">
            <a:solidFill>
              <a:srgbClr val="003087"/>
            </a:solidFill>
            <a:prstDash val="solid"/>
          </a:ln>
        </p:spPr>
      </p:sp>
      <p:sp>
        <p:nvSpPr>
          <p:cNvPr id="15" name="Shape 13"/>
          <p:cNvSpPr/>
          <p:nvPr/>
        </p:nvSpPr>
        <p:spPr>
          <a:xfrm>
            <a:off x="621792" y="1874520"/>
            <a:ext cx="502920" cy="502920"/>
          </a:xfrm>
          <a:prstGeom prst="ellipse">
            <a:avLst/>
          </a:prstGeom>
          <a:solidFill>
            <a:srgbClr val="003087"/>
          </a:solidFill>
          <a:ln w="12700">
            <a:solidFill>
              <a:srgbClr val="003087"/>
            </a:solidFill>
            <a:prstDash val="solid"/>
          </a:ln>
        </p:spPr>
      </p:sp>
      <p:pic>
        <p:nvPicPr>
          <p:cNvPr id="16" name="Image 0" descr="/tmp/claude-0/-home-claude/0392ef1a-ea77-535e-abf6-0e4ef3a33421/scratchpad/build/icons/w6.png">    </p:cNvPr>
          <p:cNvPicPr>
            <a:picLocks noChangeAspect="1"/>
          </p:cNvPicPr>
          <p:nvPr/>
        </p:nvPicPr>
        <p:blipFill>
          <a:blip r:embed="rId1"/>
          <a:stretch>
            <a:fillRect/>
          </a:stretch>
        </p:blipFill>
        <p:spPr>
          <a:xfrm>
            <a:off x="740664" y="1993392"/>
            <a:ext cx="265176" cy="265176"/>
          </a:xfrm>
          <a:prstGeom prst="rect">
            <a:avLst/>
          </a:prstGeom>
        </p:spPr>
      </p:pic>
      <p:sp>
        <p:nvSpPr>
          <p:cNvPr id="17" name="Text 14"/>
          <p:cNvSpPr txBox="1"/>
          <p:nvPr/>
        </p:nvSpPr>
        <p:spPr>
          <a:xfrm>
            <a:off x="1280160" y="1865376"/>
            <a:ext cx="2697480" cy="219456"/>
          </a:xfrm>
          <a:prstGeom prst="rect">
            <a:avLst/>
          </a:prstGeom>
          <a:noFill/>
          <a:ln/>
        </p:spPr>
        <p:txBody>
          <a:bodyPr wrap="square" lIns="0" tIns="0" rIns="0" bIns="0" rtlCol="0" anchor="ctr"/>
          <a:lstStyle/>
          <a:p>
            <a:pPr indent="0" marL="0">
              <a:buNone/>
            </a:pPr>
            <a:r>
              <a:rPr lang="en-US" sz="1000" b="1" spc="160" kern="0" dirty="0">
                <a:solidFill>
                  <a:srgbClr val="003087"/>
                </a:solidFill>
                <a:latin typeface="Calibri" pitchFamily="34" charset="0"/>
                <a:ea typeface="Calibri" pitchFamily="34" charset="-122"/>
                <a:cs typeface="Calibri" pitchFamily="34" charset="-120"/>
              </a:rPr>
              <a:t>POINT 20</a:t>
            </a:r>
            <a:endParaRPr lang="en-US" sz="1000" dirty="0"/>
          </a:p>
        </p:txBody>
      </p:sp>
      <p:sp>
        <p:nvSpPr>
          <p:cNvPr id="18" name="Text 15"/>
          <p:cNvSpPr txBox="1"/>
          <p:nvPr/>
        </p:nvSpPr>
        <p:spPr>
          <a:xfrm>
            <a:off x="1280160" y="2084832"/>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Pay progression linked to ARCP</a:t>
            </a:r>
            <a:endParaRPr lang="en-US" sz="1200" dirty="0"/>
          </a:p>
        </p:txBody>
      </p:sp>
      <p:sp>
        <p:nvSpPr>
          <p:cNvPr id="19" name="Text 16"/>
          <p:cNvSpPr txBox="1"/>
          <p:nvPr/>
        </p:nvSpPr>
        <p:spPr>
          <a:xfrm>
            <a:off x="640080" y="2596896"/>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"Progression through pay points… will be linked to the achievement of competencies required for advancement during ARCP, thereby creating the opportunity for annualised pay progression."</a:t>
            </a:r>
            <a:endParaRPr lang="en-US" sz="1000" dirty="0"/>
          </a:p>
        </p:txBody>
      </p:sp>
      <p:sp>
        <p:nvSpPr>
          <p:cNvPr id="20" name="Shape 17"/>
          <p:cNvSpPr/>
          <p:nvPr/>
        </p:nvSpPr>
        <p:spPr>
          <a:xfrm>
            <a:off x="4251960" y="1664208"/>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21" name="Shape 18"/>
          <p:cNvSpPr/>
          <p:nvPr/>
        </p:nvSpPr>
        <p:spPr>
          <a:xfrm>
            <a:off x="4251960" y="1664208"/>
            <a:ext cx="73152" cy="2103120"/>
          </a:xfrm>
          <a:prstGeom prst="rect">
            <a:avLst/>
          </a:prstGeom>
          <a:solidFill>
            <a:srgbClr val="0072CE"/>
          </a:solidFill>
          <a:ln w="12700">
            <a:solidFill>
              <a:srgbClr val="0072CE"/>
            </a:solidFill>
            <a:prstDash val="solid"/>
          </a:ln>
        </p:spPr>
      </p:sp>
      <p:sp>
        <p:nvSpPr>
          <p:cNvPr id="22" name="Shape 19"/>
          <p:cNvSpPr/>
          <p:nvPr/>
        </p:nvSpPr>
        <p:spPr>
          <a:xfrm>
            <a:off x="4416552" y="1874520"/>
            <a:ext cx="502920" cy="502920"/>
          </a:xfrm>
          <a:prstGeom prst="ellipse">
            <a:avLst/>
          </a:prstGeom>
          <a:solidFill>
            <a:srgbClr val="0072CE"/>
          </a:solidFill>
          <a:ln w="12700">
            <a:solidFill>
              <a:srgbClr val="0072CE"/>
            </a:solidFill>
            <a:prstDash val="solid"/>
          </a:ln>
        </p:spPr>
      </p:sp>
      <p:pic>
        <p:nvPicPr>
          <p:cNvPr id="23" name="Image 1" descr="/tmp/claude-0/-home-claude/0392ef1a-ea77-535e-abf6-0e4ef3a33421/scratchpad/build/icons/w15.png">    </p:cNvPr>
          <p:cNvPicPr>
            <a:picLocks noChangeAspect="1"/>
          </p:cNvPicPr>
          <p:nvPr/>
        </p:nvPicPr>
        <p:blipFill>
          <a:blip r:embed="rId2"/>
          <a:stretch>
            <a:fillRect/>
          </a:stretch>
        </p:blipFill>
        <p:spPr>
          <a:xfrm>
            <a:off x="4535424" y="1993392"/>
            <a:ext cx="265176" cy="265176"/>
          </a:xfrm>
          <a:prstGeom prst="rect">
            <a:avLst/>
          </a:prstGeom>
        </p:spPr>
      </p:pic>
      <p:sp>
        <p:nvSpPr>
          <p:cNvPr id="24" name="Text 20"/>
          <p:cNvSpPr txBox="1"/>
          <p:nvPr/>
        </p:nvSpPr>
        <p:spPr>
          <a:xfrm>
            <a:off x="5074920" y="1865376"/>
            <a:ext cx="2697480" cy="219456"/>
          </a:xfrm>
          <a:prstGeom prst="rect">
            <a:avLst/>
          </a:prstGeom>
          <a:noFill/>
          <a:ln/>
        </p:spPr>
        <p:txBody>
          <a:bodyPr wrap="square" lIns="0" tIns="0" rIns="0" bIns="0" rtlCol="0" anchor="ctr"/>
          <a:lstStyle/>
          <a:p>
            <a:pPr indent="0" marL="0">
              <a:buNone/>
            </a:pPr>
            <a:r>
              <a:rPr lang="en-US" sz="1000" b="1" spc="160" kern="0" dirty="0">
                <a:solidFill>
                  <a:srgbClr val="0072CE"/>
                </a:solidFill>
                <a:latin typeface="Calibri" pitchFamily="34" charset="0"/>
                <a:ea typeface="Calibri" pitchFamily="34" charset="-122"/>
                <a:cs typeface="Calibri" pitchFamily="34" charset="-120"/>
              </a:rPr>
              <a:t>POINT 21</a:t>
            </a:r>
            <a:endParaRPr lang="en-US" sz="1000" dirty="0"/>
          </a:p>
        </p:txBody>
      </p:sp>
      <p:sp>
        <p:nvSpPr>
          <p:cNvPr id="25" name="Text 21"/>
          <p:cNvSpPr txBox="1"/>
          <p:nvPr/>
        </p:nvSpPr>
        <p:spPr>
          <a:xfrm>
            <a:off x="5074920" y="2084832"/>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A 12-month ARCP by default</a:t>
            </a:r>
            <a:endParaRPr lang="en-US" sz="1200" dirty="0"/>
          </a:p>
        </p:txBody>
      </p:sp>
      <p:sp>
        <p:nvSpPr>
          <p:cNvPr id="26" name="Text 22"/>
          <p:cNvSpPr txBox="1"/>
          <p:nvPr/>
        </p:nvSpPr>
        <p:spPr>
          <a:xfrm>
            <a:off x="4434840" y="2596896"/>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ARCPs "set at 12 months by default for both full time and LTFT doctors in formal training", to enable an equal pace of progression. LTFT doctors keep the option of an ARCP at the equivalent of 12 months full time, and tell their TPD which they choose.</a:t>
            </a:r>
            <a:endParaRPr lang="en-US" sz="1000" dirty="0"/>
          </a:p>
        </p:txBody>
      </p:sp>
      <p:sp>
        <p:nvSpPr>
          <p:cNvPr id="27" name="Shape 23"/>
          <p:cNvSpPr/>
          <p:nvPr/>
        </p:nvSpPr>
        <p:spPr>
          <a:xfrm>
            <a:off x="8046720" y="1664208"/>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28" name="Shape 24"/>
          <p:cNvSpPr/>
          <p:nvPr/>
        </p:nvSpPr>
        <p:spPr>
          <a:xfrm>
            <a:off x="8046720" y="1664208"/>
            <a:ext cx="73152" cy="2103120"/>
          </a:xfrm>
          <a:prstGeom prst="rect">
            <a:avLst/>
          </a:prstGeom>
          <a:solidFill>
            <a:srgbClr val="41B6E6"/>
          </a:solidFill>
          <a:ln w="12700">
            <a:solidFill>
              <a:srgbClr val="41B6E6"/>
            </a:solidFill>
            <a:prstDash val="solid"/>
          </a:ln>
        </p:spPr>
      </p:sp>
      <p:sp>
        <p:nvSpPr>
          <p:cNvPr id="29" name="Shape 25"/>
          <p:cNvSpPr/>
          <p:nvPr/>
        </p:nvSpPr>
        <p:spPr>
          <a:xfrm>
            <a:off x="8211312" y="1874520"/>
            <a:ext cx="502920" cy="502920"/>
          </a:xfrm>
          <a:prstGeom prst="ellipse">
            <a:avLst/>
          </a:prstGeom>
          <a:solidFill>
            <a:srgbClr val="41B6E6"/>
          </a:solidFill>
          <a:ln w="12700">
            <a:solidFill>
              <a:srgbClr val="41B6E6"/>
            </a:solidFill>
            <a:prstDash val="solid"/>
          </a:ln>
        </p:spPr>
      </p:sp>
      <p:pic>
        <p:nvPicPr>
          <p:cNvPr id="30" name="Image 2" descr="/tmp/claude-0/-home-claude/0392ef1a-ea77-535e-abf6-0e4ef3a33421/scratchpad/build/icons/n4.png">    </p:cNvPr>
          <p:cNvPicPr>
            <a:picLocks noChangeAspect="1"/>
          </p:cNvPicPr>
          <p:nvPr/>
        </p:nvPicPr>
        <p:blipFill>
          <a:blip r:embed="rId3"/>
          <a:stretch>
            <a:fillRect/>
          </a:stretch>
        </p:blipFill>
        <p:spPr>
          <a:xfrm>
            <a:off x="8330184" y="1993392"/>
            <a:ext cx="265176" cy="265176"/>
          </a:xfrm>
          <a:prstGeom prst="rect">
            <a:avLst/>
          </a:prstGeom>
        </p:spPr>
      </p:pic>
      <p:sp>
        <p:nvSpPr>
          <p:cNvPr id="31" name="Text 26"/>
          <p:cNvSpPr txBox="1"/>
          <p:nvPr/>
        </p:nvSpPr>
        <p:spPr>
          <a:xfrm>
            <a:off x="8869680" y="1865376"/>
            <a:ext cx="2697480" cy="219456"/>
          </a:xfrm>
          <a:prstGeom prst="rect">
            <a:avLst/>
          </a:prstGeom>
          <a:noFill/>
          <a:ln/>
        </p:spPr>
        <p:txBody>
          <a:bodyPr wrap="square" lIns="0" tIns="0" rIns="0" bIns="0" rtlCol="0" anchor="ctr"/>
          <a:lstStyle/>
          <a:p>
            <a:pPr indent="0" marL="0">
              <a:buNone/>
            </a:pPr>
            <a:r>
              <a:rPr lang="en-US" sz="1000" b="1" spc="160" kern="0" dirty="0">
                <a:solidFill>
                  <a:srgbClr val="1B7FA6"/>
                </a:solidFill>
                <a:latin typeface="Calibri" pitchFamily="34" charset="0"/>
                <a:ea typeface="Calibri" pitchFamily="34" charset="-122"/>
                <a:cs typeface="Calibri" pitchFamily="34" charset="-120"/>
              </a:rPr>
              <a:t>POINT 22</a:t>
            </a:r>
            <a:endParaRPr lang="en-US" sz="1000" dirty="0"/>
          </a:p>
        </p:txBody>
      </p:sp>
      <p:sp>
        <p:nvSpPr>
          <p:cNvPr id="32" name="Text 27"/>
          <p:cNvSpPr txBox="1"/>
          <p:nvPr/>
        </p:nvSpPr>
        <p:spPr>
          <a:xfrm>
            <a:off x="8869680" y="2084832"/>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Panels brought forward</a:t>
            </a:r>
            <a:endParaRPr lang="en-US" sz="1200" dirty="0"/>
          </a:p>
        </p:txBody>
      </p:sp>
      <p:sp>
        <p:nvSpPr>
          <p:cNvPr id="33" name="Text 28"/>
          <p:cNvSpPr txBox="1"/>
          <p:nvPr/>
        </p:nvSpPr>
        <p:spPr>
          <a:xfrm>
            <a:off x="8229600" y="2596896"/>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Where full-time doctors consistently average above 40 hours a week and have gained additional competencies, employers will "more widely utilise the existing option to bring ARCP panels forward", where agreed with the clinical supervisor.</a:t>
            </a:r>
            <a:endParaRPr lang="en-US" sz="1000" dirty="0"/>
          </a:p>
        </p:txBody>
      </p:sp>
      <p:sp>
        <p:nvSpPr>
          <p:cNvPr id="34" name="Shape 29"/>
          <p:cNvSpPr/>
          <p:nvPr/>
        </p:nvSpPr>
        <p:spPr>
          <a:xfrm>
            <a:off x="457200" y="3895344"/>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35" name="Shape 30"/>
          <p:cNvSpPr/>
          <p:nvPr/>
        </p:nvSpPr>
        <p:spPr>
          <a:xfrm>
            <a:off x="457200" y="3895344"/>
            <a:ext cx="73152" cy="2103120"/>
          </a:xfrm>
          <a:prstGeom prst="rect">
            <a:avLst/>
          </a:prstGeom>
          <a:solidFill>
            <a:srgbClr val="AE2573"/>
          </a:solidFill>
          <a:ln w="12700">
            <a:solidFill>
              <a:srgbClr val="AE2573"/>
            </a:solidFill>
            <a:prstDash val="solid"/>
          </a:ln>
        </p:spPr>
      </p:sp>
      <p:sp>
        <p:nvSpPr>
          <p:cNvPr id="36" name="Shape 31"/>
          <p:cNvSpPr/>
          <p:nvPr/>
        </p:nvSpPr>
        <p:spPr>
          <a:xfrm>
            <a:off x="621792" y="4105656"/>
            <a:ext cx="502920" cy="502920"/>
          </a:xfrm>
          <a:prstGeom prst="ellipse">
            <a:avLst/>
          </a:prstGeom>
          <a:solidFill>
            <a:srgbClr val="AE2573"/>
          </a:solidFill>
          <a:ln w="12700">
            <a:solidFill>
              <a:srgbClr val="AE2573"/>
            </a:solidFill>
            <a:prstDash val="solid"/>
          </a:ln>
        </p:spPr>
      </p:sp>
      <p:pic>
        <p:nvPicPr>
          <p:cNvPr id="37" name="Image 3" descr="/tmp/claude-0/-home-claude/0392ef1a-ea77-535e-abf6-0e4ef3a33421/scratchpad/build/icons/w11.png">    </p:cNvPr>
          <p:cNvPicPr>
            <a:picLocks noChangeAspect="1"/>
          </p:cNvPicPr>
          <p:nvPr/>
        </p:nvPicPr>
        <p:blipFill>
          <a:blip r:embed="rId4"/>
          <a:stretch>
            <a:fillRect/>
          </a:stretch>
        </p:blipFill>
        <p:spPr>
          <a:xfrm>
            <a:off x="740664" y="4224528"/>
            <a:ext cx="265176" cy="265176"/>
          </a:xfrm>
          <a:prstGeom prst="rect">
            <a:avLst/>
          </a:prstGeom>
        </p:spPr>
      </p:pic>
      <p:sp>
        <p:nvSpPr>
          <p:cNvPr id="38" name="Text 32"/>
          <p:cNvSpPr txBox="1"/>
          <p:nvPr/>
        </p:nvSpPr>
        <p:spPr>
          <a:xfrm>
            <a:off x="1280160" y="4096512"/>
            <a:ext cx="2697480" cy="219456"/>
          </a:xfrm>
          <a:prstGeom prst="rect">
            <a:avLst/>
          </a:prstGeom>
          <a:noFill/>
          <a:ln/>
        </p:spPr>
        <p:txBody>
          <a:bodyPr wrap="square" lIns="0" tIns="0" rIns="0" bIns="0" rtlCol="0" anchor="ctr"/>
          <a:lstStyle/>
          <a:p>
            <a:pPr indent="0" marL="0">
              <a:buNone/>
            </a:pPr>
            <a:r>
              <a:rPr lang="en-US" sz="1000" b="1" spc="160" kern="0" dirty="0">
                <a:solidFill>
                  <a:srgbClr val="AE2573"/>
                </a:solidFill>
                <a:latin typeface="Calibri" pitchFamily="34" charset="0"/>
                <a:ea typeface="Calibri" pitchFamily="34" charset="-122"/>
                <a:cs typeface="Calibri" pitchFamily="34" charset="-120"/>
              </a:rPr>
              <a:t>UNCHANGED</a:t>
            </a:r>
            <a:endParaRPr lang="en-US" sz="1000" dirty="0"/>
          </a:p>
        </p:txBody>
      </p:sp>
      <p:sp>
        <p:nvSpPr>
          <p:cNvPr id="39" name="Text 33"/>
          <p:cNvSpPr txBox="1"/>
          <p:nvPr/>
        </p:nvSpPr>
        <p:spPr>
          <a:xfrm>
            <a:off x="1280160" y="4315968"/>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Your right of appeal</a:t>
            </a:r>
            <a:endParaRPr lang="en-US" sz="1200" dirty="0"/>
          </a:p>
        </p:txBody>
      </p:sp>
      <p:sp>
        <p:nvSpPr>
          <p:cNvPr id="40" name="Text 34"/>
          <p:cNvSpPr txBox="1"/>
          <p:nvPr/>
        </p:nvSpPr>
        <p:spPr>
          <a:xfrm>
            <a:off x="640080" y="4828032"/>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The offer is explicit that doctors "will also continue to have the right to request an appeal of their ARCP outcome decision". Everything earlier in this deck still applies in full.</a:t>
            </a:r>
            <a:endParaRPr lang="en-US" sz="1000" dirty="0"/>
          </a:p>
        </p:txBody>
      </p:sp>
      <p:sp>
        <p:nvSpPr>
          <p:cNvPr id="41" name="Shape 35"/>
          <p:cNvSpPr/>
          <p:nvPr/>
        </p:nvSpPr>
        <p:spPr>
          <a:xfrm>
            <a:off x="4251960" y="3895344"/>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42" name="Shape 36"/>
          <p:cNvSpPr/>
          <p:nvPr/>
        </p:nvSpPr>
        <p:spPr>
          <a:xfrm>
            <a:off x="4251960" y="3895344"/>
            <a:ext cx="73152" cy="2103120"/>
          </a:xfrm>
          <a:prstGeom prst="rect">
            <a:avLst/>
          </a:prstGeom>
          <a:solidFill>
            <a:srgbClr val="FFB81C"/>
          </a:solidFill>
          <a:ln w="12700">
            <a:solidFill>
              <a:srgbClr val="FFB81C"/>
            </a:solidFill>
            <a:prstDash val="solid"/>
          </a:ln>
        </p:spPr>
      </p:sp>
      <p:sp>
        <p:nvSpPr>
          <p:cNvPr id="43" name="Shape 37"/>
          <p:cNvSpPr/>
          <p:nvPr/>
        </p:nvSpPr>
        <p:spPr>
          <a:xfrm>
            <a:off x="4416552" y="4105656"/>
            <a:ext cx="502920" cy="502920"/>
          </a:xfrm>
          <a:prstGeom prst="ellipse">
            <a:avLst/>
          </a:prstGeom>
          <a:solidFill>
            <a:srgbClr val="FFB81C"/>
          </a:solidFill>
          <a:ln w="12700">
            <a:solidFill>
              <a:srgbClr val="FFB81C"/>
            </a:solidFill>
            <a:prstDash val="solid"/>
          </a:ln>
        </p:spPr>
      </p:sp>
      <p:pic>
        <p:nvPicPr>
          <p:cNvPr id="44" name="Image 4" descr="/tmp/claude-0/-home-claude/0392ef1a-ea77-535e-abf6-0e4ef3a33421/scratchpad/build/icons/n14.png">    </p:cNvPr>
          <p:cNvPicPr>
            <a:picLocks noChangeAspect="1"/>
          </p:cNvPicPr>
          <p:nvPr/>
        </p:nvPicPr>
        <p:blipFill>
          <a:blip r:embed="rId5"/>
          <a:stretch>
            <a:fillRect/>
          </a:stretch>
        </p:blipFill>
        <p:spPr>
          <a:xfrm>
            <a:off x="4535424" y="4224528"/>
            <a:ext cx="265176" cy="265176"/>
          </a:xfrm>
          <a:prstGeom prst="rect">
            <a:avLst/>
          </a:prstGeom>
        </p:spPr>
      </p:pic>
      <p:sp>
        <p:nvSpPr>
          <p:cNvPr id="45" name="Text 38"/>
          <p:cNvSpPr txBox="1"/>
          <p:nvPr/>
        </p:nvSpPr>
        <p:spPr>
          <a:xfrm>
            <a:off x="5074920" y="4096512"/>
            <a:ext cx="2697480" cy="219456"/>
          </a:xfrm>
          <a:prstGeom prst="rect">
            <a:avLst/>
          </a:prstGeom>
          <a:noFill/>
          <a:ln/>
        </p:spPr>
        <p:txBody>
          <a:bodyPr wrap="square" lIns="0" tIns="0" rIns="0" bIns="0" rtlCol="0" anchor="ctr"/>
          <a:lstStyle/>
          <a:p>
            <a:pPr indent="0" marL="0">
              <a:buNone/>
            </a:pPr>
            <a:r>
              <a:rPr lang="en-US" sz="1000" b="1" spc="160" kern="0" dirty="0">
                <a:solidFill>
                  <a:srgbClr val="8A5E00"/>
                </a:solidFill>
                <a:latin typeface="Calibri" pitchFamily="34" charset="0"/>
                <a:ea typeface="Calibri" pitchFamily="34" charset="-122"/>
                <a:cs typeface="Calibri" pitchFamily="34" charset="-120"/>
              </a:rPr>
              <a:t>STATUS</a:t>
            </a:r>
            <a:endParaRPr lang="en-US" sz="1000" dirty="0"/>
          </a:p>
        </p:txBody>
      </p:sp>
      <p:sp>
        <p:nvSpPr>
          <p:cNvPr id="46" name="Text 39"/>
          <p:cNvSpPr txBox="1"/>
          <p:nvPr/>
        </p:nvSpPr>
        <p:spPr>
          <a:xfrm>
            <a:off x="5074920" y="4315968"/>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Still to be worked through</a:t>
            </a:r>
            <a:endParaRPr lang="en-US" sz="1200" dirty="0"/>
          </a:p>
        </p:txBody>
      </p:sp>
      <p:sp>
        <p:nvSpPr>
          <p:cNvPr id="47" name="Text 40"/>
          <p:cNvSpPr txBox="1"/>
          <p:nvPr/>
        </p:nvSpPr>
        <p:spPr>
          <a:xfrm>
            <a:off x="4434840" y="4828032"/>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How competencies would map to pay points, and what a panel would need to see to bring a review forward, is not yet decided — that sits with the Royal Colleges. Treat this slide as horizon scanning, not as a requirement.</a:t>
            </a:r>
            <a:endParaRPr lang="en-US" sz="1000" dirty="0"/>
          </a:p>
        </p:txBody>
      </p:sp>
      <p:sp>
        <p:nvSpPr>
          <p:cNvPr id="48" name="Shape 41"/>
          <p:cNvSpPr/>
          <p:nvPr/>
        </p:nvSpPr>
        <p:spPr>
          <a:xfrm>
            <a:off x="8046720" y="3895344"/>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49" name="Shape 42"/>
          <p:cNvSpPr/>
          <p:nvPr/>
        </p:nvSpPr>
        <p:spPr>
          <a:xfrm>
            <a:off x="8046720" y="3895344"/>
            <a:ext cx="73152" cy="2103120"/>
          </a:xfrm>
          <a:prstGeom prst="rect">
            <a:avLst/>
          </a:prstGeom>
          <a:solidFill>
            <a:srgbClr val="330072"/>
          </a:solidFill>
          <a:ln w="12700">
            <a:solidFill>
              <a:srgbClr val="330072"/>
            </a:solidFill>
            <a:prstDash val="solid"/>
          </a:ln>
        </p:spPr>
      </p:sp>
      <p:sp>
        <p:nvSpPr>
          <p:cNvPr id="50" name="Shape 43"/>
          <p:cNvSpPr/>
          <p:nvPr/>
        </p:nvSpPr>
        <p:spPr>
          <a:xfrm>
            <a:off x="8211312" y="4105656"/>
            <a:ext cx="502920" cy="502920"/>
          </a:xfrm>
          <a:prstGeom prst="ellipse">
            <a:avLst/>
          </a:prstGeom>
          <a:solidFill>
            <a:srgbClr val="330072"/>
          </a:solidFill>
          <a:ln w="12700">
            <a:solidFill>
              <a:srgbClr val="330072"/>
            </a:solidFill>
            <a:prstDash val="solid"/>
          </a:ln>
        </p:spPr>
      </p:sp>
      <p:pic>
        <p:nvPicPr>
          <p:cNvPr id="51" name="Image 5" descr="/tmp/claude-0/-home-claude/0392ef1a-ea77-535e-abf6-0e4ef3a33421/scratchpad/build/icons/w12.png">    </p:cNvPr>
          <p:cNvPicPr>
            <a:picLocks noChangeAspect="1"/>
          </p:cNvPicPr>
          <p:nvPr/>
        </p:nvPicPr>
        <p:blipFill>
          <a:blip r:embed="rId6"/>
          <a:stretch>
            <a:fillRect/>
          </a:stretch>
        </p:blipFill>
        <p:spPr>
          <a:xfrm>
            <a:off x="8330184" y="4224528"/>
            <a:ext cx="265176" cy="265176"/>
          </a:xfrm>
          <a:prstGeom prst="rect">
            <a:avLst/>
          </a:prstGeom>
        </p:spPr>
      </p:pic>
      <p:sp>
        <p:nvSpPr>
          <p:cNvPr id="52" name="Text 44"/>
          <p:cNvSpPr txBox="1"/>
          <p:nvPr/>
        </p:nvSpPr>
        <p:spPr>
          <a:xfrm>
            <a:off x="8869680" y="4096512"/>
            <a:ext cx="2697480" cy="219456"/>
          </a:xfrm>
          <a:prstGeom prst="rect">
            <a:avLst/>
          </a:prstGeom>
          <a:noFill/>
          <a:ln/>
        </p:spPr>
        <p:txBody>
          <a:bodyPr wrap="square" lIns="0" tIns="0" rIns="0" bIns="0" rtlCol="0" anchor="ctr"/>
          <a:lstStyle/>
          <a:p>
            <a:pPr indent="0" marL="0">
              <a:buNone/>
            </a:pPr>
            <a:r>
              <a:rPr lang="en-US" sz="1000" b="1" spc="160" kern="0" dirty="0">
                <a:solidFill>
                  <a:srgbClr val="330072"/>
                </a:solidFill>
                <a:latin typeface="Calibri" pitchFamily="34" charset="0"/>
                <a:ea typeface="Calibri" pitchFamily="34" charset="-122"/>
                <a:cs typeface="Calibri" pitchFamily="34" charset="-120"/>
              </a:rPr>
              <a:t>WHAT TO DO NOW</a:t>
            </a:r>
            <a:endParaRPr lang="en-US" sz="1000" dirty="0"/>
          </a:p>
        </p:txBody>
      </p:sp>
      <p:sp>
        <p:nvSpPr>
          <p:cNvPr id="53" name="Text 45"/>
          <p:cNvSpPr txBox="1"/>
          <p:nvPr/>
        </p:nvSpPr>
        <p:spPr>
          <a:xfrm>
            <a:off x="8869680" y="4315968"/>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Nothing different</a:t>
            </a:r>
            <a:endParaRPr lang="en-US" sz="1200" dirty="0"/>
          </a:p>
        </p:txBody>
      </p:sp>
      <p:sp>
        <p:nvSpPr>
          <p:cNvPr id="54" name="Text 46"/>
          <p:cNvSpPr txBox="1"/>
          <p:nvPr/>
        </p:nvSpPr>
        <p:spPr>
          <a:xfrm>
            <a:off x="8229600" y="4828032"/>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If pay progression does become linked to ARCP outcomes, the evidence that decides it is the evidence you are already collecting. Nothing on this slide changes what you do this year, or how you do it.</a:t>
            </a:r>
            <a:endParaRPr lang="en-US" sz="1000" dirty="0"/>
          </a:p>
        </p:txBody>
      </p:sp>
      <p:sp>
        <p:nvSpPr>
          <p:cNvPr id="55" name="Shape 47"/>
          <p:cNvSpPr/>
          <p:nvPr/>
        </p:nvSpPr>
        <p:spPr>
          <a:xfrm>
            <a:off x="457200" y="6071616"/>
            <a:ext cx="11247120" cy="438912"/>
          </a:xfrm>
          <a:prstGeom prst="rect">
            <a:avLst/>
          </a:prstGeom>
          <a:solidFill>
            <a:srgbClr val="F0F4F5"/>
          </a:solidFill>
          <a:ln w="12700">
            <a:solidFill>
              <a:srgbClr val="F0F4F5"/>
            </a:solidFill>
            <a:prstDash val="solid"/>
          </a:ln>
        </p:spPr>
      </p:sp>
      <p:sp>
        <p:nvSpPr>
          <p:cNvPr id="56" name="Shape 48"/>
          <p:cNvSpPr/>
          <p:nvPr/>
        </p:nvSpPr>
        <p:spPr>
          <a:xfrm>
            <a:off x="457200" y="6071616"/>
            <a:ext cx="73152" cy="438912"/>
          </a:xfrm>
          <a:prstGeom prst="rect">
            <a:avLst/>
          </a:prstGeom>
          <a:solidFill>
            <a:srgbClr val="0072CE"/>
          </a:solidFill>
          <a:ln w="12700">
            <a:solidFill>
              <a:srgbClr val="0072CE"/>
            </a:solidFill>
            <a:prstDash val="solid"/>
          </a:ln>
        </p:spPr>
      </p:sp>
      <p:sp>
        <p:nvSpPr>
          <p:cNvPr id="57" name="Text 49"/>
          <p:cNvSpPr txBox="1"/>
          <p:nvPr/>
        </p:nvSpPr>
        <p:spPr>
          <a:xfrm>
            <a:off x="658368" y="6071616"/>
            <a:ext cx="10881360" cy="438912"/>
          </a:xfrm>
          <a:prstGeom prst="rect">
            <a:avLst/>
          </a:prstGeom>
          <a:noFill/>
          <a:ln/>
        </p:spPr>
        <p:txBody>
          <a:bodyPr wrap="square" lIns="0" tIns="0" rIns="0" bIns="0" rtlCol="0" anchor="ctr"/>
          <a:lstStyle/>
          <a:p>
            <a:pPr indent="0" marL="0">
              <a:buNone/>
            </a:pPr>
            <a:r>
              <a:rPr lang="en-US" sz="1000" i="1" dirty="0">
                <a:solidFill>
                  <a:srgbClr val="212B32"/>
                </a:solidFill>
                <a:latin typeface="Calibri" pitchFamily="34" charset="0"/>
                <a:ea typeface="Calibri" pitchFamily="34" charset="-122"/>
                <a:cs typeface="Calibri" pitchFamily="34" charset="-120"/>
              </a:rPr>
              <a:t>Source: Offer to BMA UK Resident Doctors Committee, June 2026 (gov.uk), "Details of the changes — for doctors in training programmes". Quoted wording is from that document.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10584180" y="379476"/>
            <a:ext cx="82296" cy="82296"/>
          </a:xfrm>
          <a:prstGeom prst="ellipse">
            <a:avLst/>
          </a:prstGeom>
          <a:solidFill>
            <a:srgbClr val="D8DDE0"/>
          </a:solidFill>
          <a:ln w="12700">
            <a:solidFill>
              <a:srgbClr val="D8DDE0"/>
            </a:solidFill>
            <a:prstDash val="solid"/>
          </a:ln>
        </p:spPr>
      </p:sp>
      <p:sp>
        <p:nvSpPr>
          <p:cNvPr id="3" name="Shape 1"/>
          <p:cNvSpPr/>
          <p:nvPr/>
        </p:nvSpPr>
        <p:spPr>
          <a:xfrm>
            <a:off x="10794492" y="379476"/>
            <a:ext cx="82296" cy="82296"/>
          </a:xfrm>
          <a:prstGeom prst="ellipse">
            <a:avLst/>
          </a:prstGeom>
          <a:solidFill>
            <a:srgbClr val="D8DDE0"/>
          </a:solidFill>
          <a:ln w="12700">
            <a:solidFill>
              <a:srgbClr val="D8DDE0"/>
            </a:solidFill>
            <a:prstDash val="solid"/>
          </a:ln>
        </p:spPr>
      </p:sp>
      <p:sp>
        <p:nvSpPr>
          <p:cNvPr id="4" name="Shape 2"/>
          <p:cNvSpPr/>
          <p:nvPr/>
        </p:nvSpPr>
        <p:spPr>
          <a:xfrm>
            <a:off x="10986516" y="361188"/>
            <a:ext cx="118872" cy="118872"/>
          </a:xfrm>
          <a:prstGeom prst="ellipse">
            <a:avLst/>
          </a:prstGeom>
          <a:solidFill>
            <a:srgbClr val="41B6E6"/>
          </a:solidFill>
          <a:ln w="12700">
            <a:solidFill>
              <a:srgbClr val="41B6E6"/>
            </a:solidFill>
            <a:prstDash val="solid"/>
          </a:ln>
        </p:spPr>
      </p:sp>
      <p:sp>
        <p:nvSpPr>
          <p:cNvPr id="5" name="Shape 3"/>
          <p:cNvSpPr/>
          <p:nvPr/>
        </p:nvSpPr>
        <p:spPr>
          <a:xfrm>
            <a:off x="11215116" y="379476"/>
            <a:ext cx="82296" cy="82296"/>
          </a:xfrm>
          <a:prstGeom prst="ellipse">
            <a:avLst/>
          </a:prstGeom>
          <a:solidFill>
            <a:srgbClr val="D8DDE0"/>
          </a:solidFill>
          <a:ln w="12700">
            <a:solidFill>
              <a:srgbClr val="D8DDE0"/>
            </a:solidFill>
            <a:prstDash val="solid"/>
          </a:ln>
        </p:spPr>
      </p:sp>
      <p:sp>
        <p:nvSpPr>
          <p:cNvPr id="6" name="Shape 4"/>
          <p:cNvSpPr/>
          <p:nvPr/>
        </p:nvSpPr>
        <p:spPr>
          <a:xfrm>
            <a:off x="11425428" y="379476"/>
            <a:ext cx="82296" cy="82296"/>
          </a:xfrm>
          <a:prstGeom prst="ellipse">
            <a:avLst/>
          </a:prstGeom>
          <a:solidFill>
            <a:srgbClr val="D8DDE0"/>
          </a:solidFill>
          <a:ln w="12700">
            <a:solidFill>
              <a:srgbClr val="D8DDE0"/>
            </a:solidFill>
            <a:prstDash val="solid"/>
          </a:ln>
        </p:spPr>
      </p:sp>
      <p:sp>
        <p:nvSpPr>
          <p:cNvPr id="7" name="Shape 5"/>
          <p:cNvSpPr/>
          <p:nvPr/>
        </p:nvSpPr>
        <p:spPr>
          <a:xfrm>
            <a:off x="11635740" y="379476"/>
            <a:ext cx="82296" cy="82296"/>
          </a:xfrm>
          <a:prstGeom prst="ellipse">
            <a:avLst/>
          </a:prstGeom>
          <a:solidFill>
            <a:srgbClr val="D8DDE0"/>
          </a:solidFill>
          <a:ln w="12700">
            <a:solidFill>
              <a:srgbClr val="D8DDE0"/>
            </a:solidFill>
            <a:prstDash val="solid"/>
          </a:ln>
        </p:spPr>
      </p:sp>
      <p:sp>
        <p:nvSpPr>
          <p:cNvPr id="8" name="Text 6"/>
          <p:cNvSpPr txBox="1"/>
          <p:nvPr/>
        </p:nvSpPr>
        <p:spPr>
          <a:xfrm>
            <a:off x="457200" y="274320"/>
            <a:ext cx="9875520" cy="256032"/>
          </a:xfrm>
          <a:prstGeom prst="rect">
            <a:avLst/>
          </a:prstGeom>
          <a:noFill/>
          <a:ln/>
        </p:spPr>
        <p:txBody>
          <a:bodyPr wrap="square" lIns="0" tIns="0" rIns="0" bIns="0" rtlCol="0" anchor="ctr"/>
          <a:lstStyle/>
          <a:p>
            <a:pPr indent="0" marL="0">
              <a:buNone/>
            </a:pPr>
            <a:r>
              <a:rPr lang="en-US" sz="1100" b="1" spc="240" kern="0" dirty="0">
                <a:solidFill>
                  <a:srgbClr val="1B7FA6"/>
                </a:solidFill>
                <a:latin typeface="Calibri" pitchFamily="34" charset="0"/>
                <a:ea typeface="Calibri" pitchFamily="34" charset="-122"/>
                <a:cs typeface="Calibri" pitchFamily="34" charset="-120"/>
              </a:rPr>
              <a:t>PART 03 · TWO CURRICULA, AND WHERE TO LOOK</a:t>
            </a:r>
            <a:endParaRPr lang="en-US" sz="1100" dirty="0"/>
          </a:p>
        </p:txBody>
      </p:sp>
      <p:sp>
        <p:nvSpPr>
          <p:cNvPr id="9" name="Text 7"/>
          <p:cNvSpPr txBox="1"/>
          <p:nvPr/>
        </p:nvSpPr>
        <p:spPr>
          <a:xfrm>
            <a:off x="457200" y="512064"/>
            <a:ext cx="11247120" cy="658368"/>
          </a:xfrm>
          <a:prstGeom prst="rect">
            <a:avLst/>
          </a:prstGeom>
          <a:noFill/>
          <a:ln/>
        </p:spPr>
        <p:txBody>
          <a:bodyPr wrap="square" lIns="0" tIns="0" rIns="0" bIns="0" rtlCol="0" anchor="ctr"/>
          <a:lstStyle/>
          <a:p>
            <a:pPr indent="0" marL="0">
              <a:buNone/>
            </a:pPr>
            <a:r>
              <a:rPr lang="en-US" sz="3000" b="1" dirty="0">
                <a:solidFill>
                  <a:srgbClr val="003087"/>
                </a:solidFill>
                <a:latin typeface="Calibri" pitchFamily="34" charset="0"/>
                <a:ea typeface="Calibri" pitchFamily="34" charset="-122"/>
                <a:cs typeface="Calibri" pitchFamily="34" charset="-120"/>
              </a:rPr>
              <a:t>Two curricula, one portfolio</a:t>
            </a:r>
            <a:endParaRPr lang="en-US" sz="3000" dirty="0"/>
          </a:p>
        </p:txBody>
      </p:sp>
      <p:sp>
        <p:nvSpPr>
          <p:cNvPr id="10" name="Text 8"/>
          <p:cNvSpPr txBox="1"/>
          <p:nvPr/>
        </p:nvSpPr>
        <p:spPr>
          <a:xfrm>
            <a:off x="457200" y="1170432"/>
            <a:ext cx="11247120" cy="411480"/>
          </a:xfrm>
          <a:prstGeom prst="rect">
            <a:avLst/>
          </a:prstGeom>
          <a:noFill/>
          <a:ln/>
        </p:spPr>
        <p:txBody>
          <a:bodyPr wrap="square" lIns="0" tIns="0" rIns="0" bIns="0" rtlCol="0" anchor="t"/>
          <a:lstStyle/>
          <a:p>
            <a:pPr indent="0" marL="0">
              <a:buNone/>
            </a:pPr>
            <a:r>
              <a:rPr lang="en-US" sz="1200" i="1" dirty="0">
                <a:solidFill>
                  <a:srgbClr val="768692"/>
                </a:solidFill>
                <a:latin typeface="Calibri" pitchFamily="34" charset="0"/>
                <a:ea typeface="Calibri" pitchFamily="34" charset="-122"/>
                <a:cs typeface="Calibri" pitchFamily="34" charset="-120"/>
              </a:rPr>
              <a:t>Your specialty curriculum and Internal Medicine Stage 2 are separate. Your specialty evidence does not populate the IMS2 record for you.</a:t>
            </a:r>
            <a:endParaRPr lang="en-US" sz="1200" dirty="0"/>
          </a:p>
        </p:txBody>
      </p:sp>
      <p:sp>
        <p:nvSpPr>
          <p:cNvPr id="11" name="Text 9"/>
          <p:cNvSpPr txBox="1"/>
          <p:nvPr/>
        </p:nvSpPr>
        <p:spPr>
          <a:xfrm>
            <a:off x="457200" y="6547104"/>
            <a:ext cx="7315200" cy="274320"/>
          </a:xfrm>
          <a:prstGeom prst="rect">
            <a:avLst/>
          </a:prstGeom>
          <a:noFill/>
          <a:ln/>
        </p:spPr>
        <p:txBody>
          <a:bodyPr wrap="square" lIns="0" tIns="0" rIns="0" bIns="0" rtlCol="0" anchor="ctr"/>
          <a:lstStyle/>
          <a:p>
            <a:pPr indent="0" marL="0">
              <a:buNone/>
            </a:pPr>
            <a:r>
              <a:rPr lang="en-US" sz="900" dirty="0">
                <a:solidFill>
                  <a:srgbClr val="768692"/>
                </a:solidFill>
                <a:latin typeface="Calibri" pitchFamily="34" charset="0"/>
                <a:ea typeface="Calibri" pitchFamily="34" charset="-122"/>
                <a:cs typeface="Calibri" pitchFamily="34" charset="-120"/>
              </a:rPr>
              <a:t>GIM ARCP · trainee guidance · </a:t>
            </a:r>
            <a:pPr indent="0" marL="0">
              <a:buNone/>
            </a:pPr>
            <a:r>
              <a:rPr lang="en-US" sz="900" b="1" dirty="0">
                <a:solidFill>
                  <a:srgbClr val="8A5E00"/>
                </a:solidFill>
                <a:latin typeface="Calibri" pitchFamily="34" charset="0"/>
                <a:ea typeface="Calibri" pitchFamily="34" charset="-122"/>
                <a:cs typeface="Calibri" pitchFamily="34" charset="-120"/>
              </a:rPr>
              <a:t>DRAFT</a:t>
            </a:r>
            <a:endParaRPr lang="en-US" sz="900" dirty="0"/>
          </a:p>
        </p:txBody>
      </p:sp>
      <p:sp>
        <p:nvSpPr>
          <p:cNvPr id="12" name="Text 10"/>
          <p:cNvSpPr txBox="1"/>
          <p:nvPr/>
        </p:nvSpPr>
        <p:spPr>
          <a:xfrm>
            <a:off x="11155680" y="6547104"/>
            <a:ext cx="548640" cy="274320"/>
          </a:xfrm>
          <a:prstGeom prst="rect">
            <a:avLst/>
          </a:prstGeom>
          <a:noFill/>
          <a:ln/>
        </p:spPr>
        <p:txBody>
          <a:bodyPr wrap="square" lIns="0" tIns="0" rIns="0" bIns="0" rtlCol="0" anchor="ctr"/>
          <a:lstStyle/>
          <a:p>
            <a:pPr algn="r" indent="0" marL="0">
              <a:buNone/>
            </a:pPr>
            <a:r>
              <a:rPr lang="en-US" sz="900" dirty="0">
                <a:solidFill>
                  <a:srgbClr val="768692"/>
                </a:solidFill>
                <a:latin typeface="Calibri" pitchFamily="34" charset="0"/>
                <a:ea typeface="Calibri" pitchFamily="34" charset="-122"/>
                <a:cs typeface="Calibri" pitchFamily="34" charset="-120"/>
              </a:rPr>
              <a:t>9</a:t>
            </a:r>
            <a:endParaRPr lang="en-US" sz="900" dirty="0"/>
          </a:p>
        </p:txBody>
      </p:sp>
      <p:sp>
        <p:nvSpPr>
          <p:cNvPr id="13" name="Shape 11"/>
          <p:cNvSpPr/>
          <p:nvPr/>
        </p:nvSpPr>
        <p:spPr>
          <a:xfrm>
            <a:off x="457200" y="1664208"/>
            <a:ext cx="5623560" cy="4334256"/>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14" name="Shape 12"/>
          <p:cNvSpPr/>
          <p:nvPr/>
        </p:nvSpPr>
        <p:spPr>
          <a:xfrm>
            <a:off x="457200" y="1664208"/>
            <a:ext cx="73152" cy="4334256"/>
          </a:xfrm>
          <a:prstGeom prst="rect">
            <a:avLst/>
          </a:prstGeom>
          <a:solidFill>
            <a:srgbClr val="003087"/>
          </a:solidFill>
          <a:ln w="12700">
            <a:solidFill>
              <a:srgbClr val="003087"/>
            </a:solidFill>
            <a:prstDash val="solid"/>
          </a:ln>
        </p:spPr>
      </p:sp>
      <p:sp>
        <p:nvSpPr>
          <p:cNvPr id="15" name="Shape 13"/>
          <p:cNvSpPr/>
          <p:nvPr/>
        </p:nvSpPr>
        <p:spPr>
          <a:xfrm>
            <a:off x="658368" y="1911096"/>
            <a:ext cx="594360" cy="594360"/>
          </a:xfrm>
          <a:prstGeom prst="ellipse">
            <a:avLst/>
          </a:prstGeom>
          <a:solidFill>
            <a:srgbClr val="003087"/>
          </a:solidFill>
          <a:ln w="12700">
            <a:solidFill>
              <a:srgbClr val="003087"/>
            </a:solidFill>
            <a:prstDash val="solid"/>
          </a:ln>
        </p:spPr>
      </p:sp>
      <p:pic>
        <p:nvPicPr>
          <p:cNvPr id="16" name="Image 0" descr="/tmp/claude-0/-home-claude/0392ef1a-ea77-535e-abf6-0e4ef3a33421/scratchpad/build/icons/w12.png">    </p:cNvPr>
          <p:cNvPicPr>
            <a:picLocks noChangeAspect="1"/>
          </p:cNvPicPr>
          <p:nvPr/>
        </p:nvPicPr>
        <p:blipFill>
          <a:blip r:embed="rId1"/>
          <a:stretch>
            <a:fillRect/>
          </a:stretch>
        </p:blipFill>
        <p:spPr>
          <a:xfrm>
            <a:off x="795528" y="2048256"/>
            <a:ext cx="320040" cy="320040"/>
          </a:xfrm>
          <a:prstGeom prst="rect">
            <a:avLst/>
          </a:prstGeom>
        </p:spPr>
      </p:pic>
      <p:sp>
        <p:nvSpPr>
          <p:cNvPr id="17" name="Text 14"/>
          <p:cNvSpPr txBox="1"/>
          <p:nvPr/>
        </p:nvSpPr>
        <p:spPr>
          <a:xfrm>
            <a:off x="1508760" y="1892808"/>
            <a:ext cx="4389120" cy="256032"/>
          </a:xfrm>
          <a:prstGeom prst="rect">
            <a:avLst/>
          </a:prstGeom>
          <a:noFill/>
          <a:ln/>
        </p:spPr>
        <p:txBody>
          <a:bodyPr wrap="square" lIns="0" tIns="0" rIns="0" bIns="0" rtlCol="0" anchor="ctr"/>
          <a:lstStyle/>
          <a:p>
            <a:pPr indent="0" marL="0">
              <a:buNone/>
            </a:pPr>
            <a:r>
              <a:rPr lang="en-US" sz="1100" b="1" spc="180" kern="0" dirty="0">
                <a:solidFill>
                  <a:srgbClr val="003087"/>
                </a:solidFill>
                <a:latin typeface="Calibri" pitchFamily="34" charset="0"/>
                <a:ea typeface="Calibri" pitchFamily="34" charset="-122"/>
                <a:cs typeface="Calibri" pitchFamily="34" charset="-120"/>
              </a:rPr>
              <a:t>THE DISTINCTION</a:t>
            </a:r>
            <a:endParaRPr lang="en-US" sz="1100" dirty="0"/>
          </a:p>
        </p:txBody>
      </p:sp>
      <p:sp>
        <p:nvSpPr>
          <p:cNvPr id="18" name="Text 15"/>
          <p:cNvSpPr txBox="1"/>
          <p:nvPr/>
        </p:nvSpPr>
        <p:spPr>
          <a:xfrm>
            <a:off x="1508760" y="2167128"/>
            <a:ext cx="4389120" cy="411480"/>
          </a:xfrm>
          <a:prstGeom prst="rect">
            <a:avLst/>
          </a:prstGeom>
          <a:noFill/>
          <a:ln/>
        </p:spPr>
        <p:txBody>
          <a:bodyPr wrap="square" lIns="0" tIns="0" rIns="0" bIns="0" rtlCol="0" anchor="t"/>
          <a:lstStyle/>
          <a:p>
            <a:pPr indent="0" marL="0">
              <a:buNone/>
            </a:pPr>
            <a:r>
              <a:rPr lang="en-US" sz="1800" b="1" dirty="0">
                <a:solidFill>
                  <a:srgbClr val="003087"/>
                </a:solidFill>
                <a:latin typeface="Calibri" pitchFamily="34" charset="0"/>
                <a:ea typeface="Calibri" pitchFamily="34" charset="-122"/>
                <a:cs typeface="Calibri" pitchFamily="34" charset="-120"/>
              </a:rPr>
              <a:t>What you are actually assessed against</a:t>
            </a:r>
            <a:endParaRPr lang="en-US" sz="1800" dirty="0"/>
          </a:p>
        </p:txBody>
      </p:sp>
      <p:sp>
        <p:nvSpPr>
          <p:cNvPr id="19" name="Text 16"/>
          <p:cNvSpPr txBox="1"/>
          <p:nvPr/>
        </p:nvSpPr>
        <p:spPr>
          <a:xfrm>
            <a:off x="713232" y="2761488"/>
            <a:ext cx="5120640" cy="2459736"/>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Your specialty curriculum and IMS2 set different requirements — compare them directly rather than assuming they overlap</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Most Group 1 trainees hold IMS2 alongside their specialty and are recommended for a dual CCT</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Single-specialty GIM trainees complete IMS2 by ST6; most dual trainees by ST7</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The GMC requires an outcome for IMS2 and for your specialty in every training year</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Only one GIM ES report is needed per training year</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If you change site mid-year, the new ES picks up the partially completed report from the previous one</a:t>
            </a:r>
            <a:endParaRPr lang="en-US" sz="1100" dirty="0"/>
          </a:p>
        </p:txBody>
      </p:sp>
      <p:sp>
        <p:nvSpPr>
          <p:cNvPr id="20" name="Shape 17"/>
          <p:cNvSpPr/>
          <p:nvPr/>
        </p:nvSpPr>
        <p:spPr>
          <a:xfrm>
            <a:off x="594360" y="5221224"/>
            <a:ext cx="5349240" cy="502920"/>
          </a:xfrm>
          <a:prstGeom prst="rect">
            <a:avLst/>
          </a:prstGeom>
          <a:solidFill>
            <a:srgbClr val="F0F4F5"/>
          </a:solidFill>
          <a:ln w="12700">
            <a:solidFill>
              <a:srgbClr val="F0F4F5"/>
            </a:solidFill>
            <a:prstDash val="solid"/>
          </a:ln>
        </p:spPr>
      </p:sp>
      <p:sp>
        <p:nvSpPr>
          <p:cNvPr id="21" name="Text 18"/>
          <p:cNvSpPr txBox="1"/>
          <p:nvPr/>
        </p:nvSpPr>
        <p:spPr>
          <a:xfrm>
            <a:off x="749808" y="5221224"/>
            <a:ext cx="5056632" cy="502920"/>
          </a:xfrm>
          <a:prstGeom prst="rect">
            <a:avLst/>
          </a:prstGeom>
          <a:noFill/>
          <a:ln/>
        </p:spPr>
        <p:txBody>
          <a:bodyPr wrap="square" lIns="0" tIns="0" rIns="0" bIns="0" rtlCol="0" anchor="ctr"/>
          <a:lstStyle/>
          <a:p>
            <a:pPr indent="0" marL="0">
              <a:buNone/>
            </a:pPr>
            <a:r>
              <a:rPr lang="en-US" sz="1000" b="1" dirty="0">
                <a:solidFill>
                  <a:srgbClr val="003087"/>
                </a:solidFill>
                <a:latin typeface="Calibri" pitchFamily="34" charset="0"/>
                <a:ea typeface="Calibri" pitchFamily="34" charset="-122"/>
                <a:cs typeface="Calibri" pitchFamily="34" charset="-120"/>
              </a:rPr>
              <a:t>The IMS2 curriculum </a:t>
            </a:r>
            <a:pPr indent="0" marL="0">
              <a:buNone/>
            </a:pPr>
            <a:r>
              <a:rPr lang="en-US" sz="1000" dirty="0">
                <a:solidFill>
                  <a:srgbClr val="212B32"/>
                </a:solidFill>
                <a:latin typeface="Calibri" pitchFamily="34" charset="0"/>
                <a:ea typeface="Calibri" pitchFamily="34" charset="-122"/>
                <a:cs typeface="Calibri" pitchFamily="34" charset="-120"/>
              </a:rPr>
              <a:t>is different from your specialty's. Read it once, properly, at induction.</a:t>
            </a:r>
            <a:endParaRPr lang="en-US" sz="1000" dirty="0"/>
          </a:p>
        </p:txBody>
      </p:sp>
      <p:sp>
        <p:nvSpPr>
          <p:cNvPr id="22" name="Shape 19"/>
          <p:cNvSpPr/>
          <p:nvPr/>
        </p:nvSpPr>
        <p:spPr>
          <a:xfrm>
            <a:off x="6172200" y="1664208"/>
            <a:ext cx="5532120" cy="4334256"/>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23" name="Shape 20"/>
          <p:cNvSpPr/>
          <p:nvPr/>
        </p:nvSpPr>
        <p:spPr>
          <a:xfrm>
            <a:off x="6172200" y="1664208"/>
            <a:ext cx="73152" cy="4334256"/>
          </a:xfrm>
          <a:prstGeom prst="rect">
            <a:avLst/>
          </a:prstGeom>
          <a:solidFill>
            <a:srgbClr val="0072CE"/>
          </a:solidFill>
          <a:ln w="12700">
            <a:solidFill>
              <a:srgbClr val="0072CE"/>
            </a:solidFill>
            <a:prstDash val="solid"/>
          </a:ln>
        </p:spPr>
      </p:sp>
      <p:sp>
        <p:nvSpPr>
          <p:cNvPr id="24" name="Shape 21"/>
          <p:cNvSpPr/>
          <p:nvPr/>
        </p:nvSpPr>
        <p:spPr>
          <a:xfrm>
            <a:off x="6373368" y="1911096"/>
            <a:ext cx="594360" cy="594360"/>
          </a:xfrm>
          <a:prstGeom prst="ellipse">
            <a:avLst/>
          </a:prstGeom>
          <a:solidFill>
            <a:srgbClr val="0072CE"/>
          </a:solidFill>
          <a:ln w="12700">
            <a:solidFill>
              <a:srgbClr val="0072CE"/>
            </a:solidFill>
            <a:prstDash val="solid"/>
          </a:ln>
        </p:spPr>
      </p:sp>
      <p:pic>
        <p:nvPicPr>
          <p:cNvPr id="25" name="Image 1" descr="/tmp/claude-0/-home-claude/0392ef1a-ea77-535e-abf6-0e4ef3a33421/scratchpad/build/icons/w10.png">    </p:cNvPr>
          <p:cNvPicPr>
            <a:picLocks noChangeAspect="1"/>
          </p:cNvPicPr>
          <p:nvPr/>
        </p:nvPicPr>
        <p:blipFill>
          <a:blip r:embed="rId2"/>
          <a:stretch>
            <a:fillRect/>
          </a:stretch>
        </p:blipFill>
        <p:spPr>
          <a:xfrm>
            <a:off x="6510528" y="2048256"/>
            <a:ext cx="320040" cy="320040"/>
          </a:xfrm>
          <a:prstGeom prst="rect">
            <a:avLst/>
          </a:prstGeom>
        </p:spPr>
      </p:pic>
      <p:sp>
        <p:nvSpPr>
          <p:cNvPr id="26" name="Text 22"/>
          <p:cNvSpPr txBox="1"/>
          <p:nvPr/>
        </p:nvSpPr>
        <p:spPr>
          <a:xfrm>
            <a:off x="7223760" y="1892808"/>
            <a:ext cx="4297680" cy="256032"/>
          </a:xfrm>
          <a:prstGeom prst="rect">
            <a:avLst/>
          </a:prstGeom>
          <a:noFill/>
          <a:ln/>
        </p:spPr>
        <p:txBody>
          <a:bodyPr wrap="square" lIns="0" tIns="0" rIns="0" bIns="0" rtlCol="0" anchor="ctr"/>
          <a:lstStyle/>
          <a:p>
            <a:pPr indent="0" marL="0">
              <a:buNone/>
            </a:pPr>
            <a:r>
              <a:rPr lang="en-US" sz="1100" b="1" spc="180" kern="0" dirty="0">
                <a:solidFill>
                  <a:srgbClr val="0072CE"/>
                </a:solidFill>
                <a:latin typeface="Calibri" pitchFamily="34" charset="0"/>
                <a:ea typeface="Calibri" pitchFamily="34" charset="-122"/>
                <a:cs typeface="Calibri" pitchFamily="34" charset="-120"/>
              </a:rPr>
              <a:t>IN THE PORTFOLIO</a:t>
            </a:r>
            <a:endParaRPr lang="en-US" sz="1100" dirty="0"/>
          </a:p>
        </p:txBody>
      </p:sp>
      <p:sp>
        <p:nvSpPr>
          <p:cNvPr id="27" name="Text 23"/>
          <p:cNvSpPr txBox="1"/>
          <p:nvPr/>
        </p:nvSpPr>
        <p:spPr>
          <a:xfrm>
            <a:off x="7223760" y="2167128"/>
            <a:ext cx="4297680" cy="411480"/>
          </a:xfrm>
          <a:prstGeom prst="rect">
            <a:avLst/>
          </a:prstGeom>
          <a:noFill/>
          <a:ln/>
        </p:spPr>
        <p:txBody>
          <a:bodyPr wrap="square" lIns="0" tIns="0" rIns="0" bIns="0" rtlCol="0" anchor="t"/>
          <a:lstStyle/>
          <a:p>
            <a:pPr indent="0" marL="0">
              <a:buNone/>
            </a:pPr>
            <a:r>
              <a:rPr lang="en-US" sz="1800" b="1" dirty="0">
                <a:solidFill>
                  <a:srgbClr val="003087"/>
                </a:solidFill>
                <a:latin typeface="Calibri" pitchFamily="34" charset="0"/>
                <a:ea typeface="Calibri" pitchFamily="34" charset="-122"/>
                <a:cs typeface="Calibri" pitchFamily="34" charset="-120"/>
              </a:rPr>
              <a:t>Progression → Summary of Progress</a:t>
            </a:r>
            <a:endParaRPr lang="en-US" sz="1800" dirty="0"/>
          </a:p>
        </p:txBody>
      </p:sp>
      <p:pic>
        <p:nvPicPr>
          <p:cNvPr id="28" name="Image 2" descr="/tmp/claude-0/-home-claude/0392ef1a-ea77-535e-abf6-0e4ef3a33421/scratchpad/build/portfolio.png">    </p:cNvPr>
          <p:cNvPicPr>
            <a:picLocks noChangeAspect="1"/>
          </p:cNvPicPr>
          <p:nvPr/>
        </p:nvPicPr>
        <p:blipFill>
          <a:blip r:embed="rId3"/>
          <a:stretch>
            <a:fillRect/>
          </a:stretch>
        </p:blipFill>
        <p:spPr>
          <a:xfrm>
            <a:off x="6492240" y="3017520"/>
            <a:ext cx="4846320" cy="2340864"/>
          </a:xfrm>
          <a:prstGeom prst="rect">
            <a:avLst/>
          </a:prstGeom>
        </p:spPr>
      </p:pic>
      <p:sp>
        <p:nvSpPr>
          <p:cNvPr id="29" name="Text 24"/>
          <p:cNvSpPr txBox="1"/>
          <p:nvPr/>
        </p:nvSpPr>
        <p:spPr>
          <a:xfrm>
            <a:off x="6492240" y="2651760"/>
            <a:ext cx="4846320" cy="256032"/>
          </a:xfrm>
          <a:prstGeom prst="rect">
            <a:avLst/>
          </a:prstGeom>
          <a:noFill/>
          <a:ln/>
        </p:spPr>
        <p:txBody>
          <a:bodyPr wrap="square" lIns="0" tIns="0" rIns="0" bIns="0" rtlCol="0" anchor="ctr"/>
          <a:lstStyle/>
          <a:p>
            <a:pPr indent="0" marL="0">
              <a:buNone/>
            </a:pPr>
            <a:r>
              <a:rPr lang="en-US" sz="1000" i="1" dirty="0">
                <a:solidFill>
                  <a:srgbClr val="768692"/>
                </a:solidFill>
                <a:latin typeface="Calibri" pitchFamily="34" charset="0"/>
                <a:ea typeface="Calibri" pitchFamily="34" charset="-122"/>
                <a:cs typeface="Calibri" pitchFamily="34" charset="-120"/>
              </a:rPr>
              <a:t>The IMS2 record has its own Summary of Progress page — this is the page the panel reads.</a:t>
            </a:r>
            <a:endParaRPr lang="en-US" sz="1000" dirty="0"/>
          </a:p>
        </p:txBody>
      </p:sp>
      <p:sp>
        <p:nvSpPr>
          <p:cNvPr id="30" name="Text 25"/>
          <p:cNvSpPr txBox="1"/>
          <p:nvPr/>
        </p:nvSpPr>
        <p:spPr>
          <a:xfrm>
            <a:off x="6492240" y="5504688"/>
            <a:ext cx="4846320" cy="256032"/>
          </a:xfrm>
          <a:prstGeom prst="rect">
            <a:avLst/>
          </a:prstGeom>
          <a:noFill/>
          <a:ln/>
        </p:spPr>
        <p:txBody>
          <a:bodyPr wrap="square" lIns="0" tIns="0" rIns="0" bIns="0" rtlCol="0" anchor="ctr"/>
          <a:lstStyle/>
          <a:p>
            <a:pPr indent="0" marL="0">
              <a:buNone/>
            </a:pPr>
            <a:r>
              <a:rPr lang="en-US" sz="1000" i="1" dirty="0">
                <a:solidFill>
                  <a:srgbClr val="768692"/>
                </a:solidFill>
                <a:latin typeface="Calibri" pitchFamily="34" charset="0"/>
                <a:ea typeface="Calibri" pitchFamily="34" charset="-122"/>
                <a:cs typeface="Calibri" pitchFamily="34" charset="-120"/>
              </a:rPr>
              <a:t>Progression → Summary of Progress → Internal Medicine Stage 2 (Dual CCT)</a:t>
            </a:r>
            <a:endParaRPr lang="en-US" sz="1000" dirty="0"/>
          </a:p>
        </p:txBody>
      </p:sp>
      <p:sp>
        <p:nvSpPr>
          <p:cNvPr id="31" name="Shape 26"/>
          <p:cNvSpPr/>
          <p:nvPr/>
        </p:nvSpPr>
        <p:spPr>
          <a:xfrm>
            <a:off x="457200" y="6071616"/>
            <a:ext cx="11247120" cy="438912"/>
          </a:xfrm>
          <a:prstGeom prst="rect">
            <a:avLst/>
          </a:prstGeom>
          <a:solidFill>
            <a:srgbClr val="F0F4F5"/>
          </a:solidFill>
          <a:ln w="12700">
            <a:solidFill>
              <a:srgbClr val="F0F4F5"/>
            </a:solidFill>
            <a:prstDash val="solid"/>
          </a:ln>
        </p:spPr>
      </p:sp>
      <p:sp>
        <p:nvSpPr>
          <p:cNvPr id="32" name="Shape 27"/>
          <p:cNvSpPr/>
          <p:nvPr/>
        </p:nvSpPr>
        <p:spPr>
          <a:xfrm>
            <a:off x="457200" y="6071616"/>
            <a:ext cx="73152" cy="438912"/>
          </a:xfrm>
          <a:prstGeom prst="rect">
            <a:avLst/>
          </a:prstGeom>
          <a:solidFill>
            <a:srgbClr val="0072CE"/>
          </a:solidFill>
          <a:ln w="12700">
            <a:solidFill>
              <a:srgbClr val="0072CE"/>
            </a:solidFill>
            <a:prstDash val="solid"/>
          </a:ln>
        </p:spPr>
      </p:sp>
      <p:sp>
        <p:nvSpPr>
          <p:cNvPr id="33" name="Text 28"/>
          <p:cNvSpPr txBox="1"/>
          <p:nvPr/>
        </p:nvSpPr>
        <p:spPr>
          <a:xfrm>
            <a:off x="658368" y="6071616"/>
            <a:ext cx="10881360" cy="438912"/>
          </a:xfrm>
          <a:prstGeom prst="rect">
            <a:avLst/>
          </a:prstGeom>
          <a:noFill/>
          <a:ln/>
        </p:spPr>
        <p:txBody>
          <a:bodyPr wrap="square" lIns="0" tIns="0" rIns="0" bIns="0" rtlCol="0" anchor="ctr"/>
          <a:lstStyle/>
          <a:p>
            <a:pPr indent="0" marL="0">
              <a:buNone/>
            </a:pPr>
            <a:r>
              <a:rPr lang="en-US" sz="1000" i="1" dirty="0">
                <a:solidFill>
                  <a:srgbClr val="212B32"/>
                </a:solidFill>
                <a:latin typeface="Calibri" pitchFamily="34" charset="0"/>
                <a:ea typeface="Calibri" pitchFamily="34" charset="-122"/>
                <a:cs typeface="Calibri" pitchFamily="34" charset="-120"/>
              </a:rPr>
              <a:t>Is my on-call frequency set by the GIM curriculum? No. The curriculum sets patient numbers, not rota frequency — 750 across IMS2, 100 in the final year.</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10584180" y="379476"/>
            <a:ext cx="82296" cy="82296"/>
          </a:xfrm>
          <a:prstGeom prst="ellipse">
            <a:avLst/>
          </a:prstGeom>
          <a:solidFill>
            <a:srgbClr val="D8DDE0"/>
          </a:solidFill>
          <a:ln w="12700">
            <a:solidFill>
              <a:srgbClr val="D8DDE0"/>
            </a:solidFill>
            <a:prstDash val="solid"/>
          </a:ln>
        </p:spPr>
      </p:sp>
      <p:sp>
        <p:nvSpPr>
          <p:cNvPr id="3" name="Shape 1"/>
          <p:cNvSpPr/>
          <p:nvPr/>
        </p:nvSpPr>
        <p:spPr>
          <a:xfrm>
            <a:off x="10794492" y="379476"/>
            <a:ext cx="82296" cy="82296"/>
          </a:xfrm>
          <a:prstGeom prst="ellipse">
            <a:avLst/>
          </a:prstGeom>
          <a:solidFill>
            <a:srgbClr val="D8DDE0"/>
          </a:solidFill>
          <a:ln w="12700">
            <a:solidFill>
              <a:srgbClr val="D8DDE0"/>
            </a:solidFill>
            <a:prstDash val="solid"/>
          </a:ln>
        </p:spPr>
      </p:sp>
      <p:sp>
        <p:nvSpPr>
          <p:cNvPr id="4" name="Shape 2"/>
          <p:cNvSpPr/>
          <p:nvPr/>
        </p:nvSpPr>
        <p:spPr>
          <a:xfrm>
            <a:off x="10986516" y="361188"/>
            <a:ext cx="118872" cy="118872"/>
          </a:xfrm>
          <a:prstGeom prst="ellipse">
            <a:avLst/>
          </a:prstGeom>
          <a:solidFill>
            <a:srgbClr val="41B6E6"/>
          </a:solidFill>
          <a:ln w="12700">
            <a:solidFill>
              <a:srgbClr val="41B6E6"/>
            </a:solidFill>
            <a:prstDash val="solid"/>
          </a:ln>
        </p:spPr>
      </p:sp>
      <p:sp>
        <p:nvSpPr>
          <p:cNvPr id="5" name="Shape 3"/>
          <p:cNvSpPr/>
          <p:nvPr/>
        </p:nvSpPr>
        <p:spPr>
          <a:xfrm>
            <a:off x="11215116" y="379476"/>
            <a:ext cx="82296" cy="82296"/>
          </a:xfrm>
          <a:prstGeom prst="ellipse">
            <a:avLst/>
          </a:prstGeom>
          <a:solidFill>
            <a:srgbClr val="D8DDE0"/>
          </a:solidFill>
          <a:ln w="12700">
            <a:solidFill>
              <a:srgbClr val="D8DDE0"/>
            </a:solidFill>
            <a:prstDash val="solid"/>
          </a:ln>
        </p:spPr>
      </p:sp>
      <p:sp>
        <p:nvSpPr>
          <p:cNvPr id="6" name="Shape 4"/>
          <p:cNvSpPr/>
          <p:nvPr/>
        </p:nvSpPr>
        <p:spPr>
          <a:xfrm>
            <a:off x="11425428" y="379476"/>
            <a:ext cx="82296" cy="82296"/>
          </a:xfrm>
          <a:prstGeom prst="ellipse">
            <a:avLst/>
          </a:prstGeom>
          <a:solidFill>
            <a:srgbClr val="D8DDE0"/>
          </a:solidFill>
          <a:ln w="12700">
            <a:solidFill>
              <a:srgbClr val="D8DDE0"/>
            </a:solidFill>
            <a:prstDash val="solid"/>
          </a:ln>
        </p:spPr>
      </p:sp>
      <p:sp>
        <p:nvSpPr>
          <p:cNvPr id="7" name="Shape 5"/>
          <p:cNvSpPr/>
          <p:nvPr/>
        </p:nvSpPr>
        <p:spPr>
          <a:xfrm>
            <a:off x="11635740" y="379476"/>
            <a:ext cx="82296" cy="82296"/>
          </a:xfrm>
          <a:prstGeom prst="ellipse">
            <a:avLst/>
          </a:prstGeom>
          <a:solidFill>
            <a:srgbClr val="D8DDE0"/>
          </a:solidFill>
          <a:ln w="12700">
            <a:solidFill>
              <a:srgbClr val="D8DDE0"/>
            </a:solidFill>
            <a:prstDash val="solid"/>
          </a:ln>
        </p:spPr>
      </p:sp>
      <p:sp>
        <p:nvSpPr>
          <p:cNvPr id="8" name="Text 6"/>
          <p:cNvSpPr txBox="1"/>
          <p:nvPr/>
        </p:nvSpPr>
        <p:spPr>
          <a:xfrm>
            <a:off x="457200" y="274320"/>
            <a:ext cx="9875520" cy="256032"/>
          </a:xfrm>
          <a:prstGeom prst="rect">
            <a:avLst/>
          </a:prstGeom>
          <a:noFill/>
          <a:ln/>
        </p:spPr>
        <p:txBody>
          <a:bodyPr wrap="square" lIns="0" tIns="0" rIns="0" bIns="0" rtlCol="0" anchor="ctr"/>
          <a:lstStyle/>
          <a:p>
            <a:pPr indent="0" marL="0">
              <a:buNone/>
            </a:pPr>
            <a:r>
              <a:rPr lang="en-US" sz="1100" b="1" spc="240" kern="0" dirty="0">
                <a:solidFill>
                  <a:srgbClr val="1B7FA6"/>
                </a:solidFill>
                <a:latin typeface="Calibri" pitchFamily="34" charset="0"/>
                <a:ea typeface="Calibri" pitchFamily="34" charset="-122"/>
                <a:cs typeface="Calibri" pitchFamily="34" charset="-120"/>
              </a:rPr>
              <a:t>PART 03 · EVERY TRAINING YEAR</a:t>
            </a:r>
            <a:endParaRPr lang="en-US" sz="1100" dirty="0"/>
          </a:p>
        </p:txBody>
      </p:sp>
      <p:sp>
        <p:nvSpPr>
          <p:cNvPr id="9" name="Text 7"/>
          <p:cNvSpPr txBox="1"/>
          <p:nvPr/>
        </p:nvSpPr>
        <p:spPr>
          <a:xfrm>
            <a:off x="457200" y="512064"/>
            <a:ext cx="11247120" cy="658368"/>
          </a:xfrm>
          <a:prstGeom prst="rect">
            <a:avLst/>
          </a:prstGeom>
          <a:noFill/>
          <a:ln/>
        </p:spPr>
        <p:txBody>
          <a:bodyPr wrap="square" lIns="0" tIns="0" rIns="0" bIns="0" rtlCol="0" anchor="ctr"/>
          <a:lstStyle/>
          <a:p>
            <a:pPr indent="0" marL="0">
              <a:buNone/>
            </a:pPr>
            <a:r>
              <a:rPr lang="en-US" sz="3000" b="1" dirty="0">
                <a:solidFill>
                  <a:srgbClr val="003087"/>
                </a:solidFill>
                <a:latin typeface="Calibri" pitchFamily="34" charset="0"/>
                <a:ea typeface="Calibri" pitchFamily="34" charset="-122"/>
                <a:cs typeface="Calibri" pitchFamily="34" charset="-120"/>
              </a:rPr>
              <a:t>What each training year has to contain</a:t>
            </a:r>
            <a:endParaRPr lang="en-US" sz="3000" dirty="0"/>
          </a:p>
        </p:txBody>
      </p:sp>
      <p:sp>
        <p:nvSpPr>
          <p:cNvPr id="10" name="Text 8"/>
          <p:cNvSpPr txBox="1"/>
          <p:nvPr/>
        </p:nvSpPr>
        <p:spPr>
          <a:xfrm>
            <a:off x="457200" y="1170432"/>
            <a:ext cx="11247120" cy="411480"/>
          </a:xfrm>
          <a:prstGeom prst="rect">
            <a:avLst/>
          </a:prstGeom>
          <a:noFill/>
          <a:ln/>
        </p:spPr>
        <p:txBody>
          <a:bodyPr wrap="square" lIns="0" tIns="0" rIns="0" bIns="0" rtlCol="0" anchor="t"/>
          <a:lstStyle/>
          <a:p>
            <a:pPr indent="0" marL="0">
              <a:buNone/>
            </a:pPr>
            <a:r>
              <a:rPr lang="en-US" sz="1200" i="1" dirty="0">
                <a:solidFill>
                  <a:srgbClr val="768692"/>
                </a:solidFill>
                <a:latin typeface="Calibri" pitchFamily="34" charset="0"/>
                <a:ea typeface="Calibri" pitchFamily="34" charset="-122"/>
                <a:cs typeface="Calibri" pitchFamily="34" charset="-120"/>
              </a:rPr>
              <a:t>The evidence expected in any year in which you undertake internal medicine training, from the JRCPTB IMS2 ARCP decision aid.</a:t>
            </a:r>
            <a:endParaRPr lang="en-US" sz="1200" dirty="0"/>
          </a:p>
        </p:txBody>
      </p:sp>
      <p:sp>
        <p:nvSpPr>
          <p:cNvPr id="11" name="Text 9"/>
          <p:cNvSpPr txBox="1"/>
          <p:nvPr/>
        </p:nvSpPr>
        <p:spPr>
          <a:xfrm>
            <a:off x="457200" y="6547104"/>
            <a:ext cx="7315200" cy="274320"/>
          </a:xfrm>
          <a:prstGeom prst="rect">
            <a:avLst/>
          </a:prstGeom>
          <a:noFill/>
          <a:ln/>
        </p:spPr>
        <p:txBody>
          <a:bodyPr wrap="square" lIns="0" tIns="0" rIns="0" bIns="0" rtlCol="0" anchor="ctr"/>
          <a:lstStyle/>
          <a:p>
            <a:pPr indent="0" marL="0">
              <a:buNone/>
            </a:pPr>
            <a:r>
              <a:rPr lang="en-US" sz="900" dirty="0">
                <a:solidFill>
                  <a:srgbClr val="768692"/>
                </a:solidFill>
                <a:latin typeface="Calibri" pitchFamily="34" charset="0"/>
                <a:ea typeface="Calibri" pitchFamily="34" charset="-122"/>
                <a:cs typeface="Calibri" pitchFamily="34" charset="-120"/>
              </a:rPr>
              <a:t>GIM ARCP · trainee guidance · </a:t>
            </a:r>
            <a:pPr indent="0" marL="0">
              <a:buNone/>
            </a:pPr>
            <a:r>
              <a:rPr lang="en-US" sz="900" b="1" dirty="0">
                <a:solidFill>
                  <a:srgbClr val="8A5E00"/>
                </a:solidFill>
                <a:latin typeface="Calibri" pitchFamily="34" charset="0"/>
                <a:ea typeface="Calibri" pitchFamily="34" charset="-122"/>
                <a:cs typeface="Calibri" pitchFamily="34" charset="-120"/>
              </a:rPr>
              <a:t>DRAFT</a:t>
            </a:r>
            <a:endParaRPr lang="en-US" sz="900" dirty="0"/>
          </a:p>
        </p:txBody>
      </p:sp>
      <p:sp>
        <p:nvSpPr>
          <p:cNvPr id="12" name="Text 10"/>
          <p:cNvSpPr txBox="1"/>
          <p:nvPr/>
        </p:nvSpPr>
        <p:spPr>
          <a:xfrm>
            <a:off x="11155680" y="6547104"/>
            <a:ext cx="548640" cy="274320"/>
          </a:xfrm>
          <a:prstGeom prst="rect">
            <a:avLst/>
          </a:prstGeom>
          <a:noFill/>
          <a:ln/>
        </p:spPr>
        <p:txBody>
          <a:bodyPr wrap="square" lIns="0" tIns="0" rIns="0" bIns="0" rtlCol="0" anchor="ctr"/>
          <a:lstStyle/>
          <a:p>
            <a:pPr algn="r" indent="0" marL="0">
              <a:buNone/>
            </a:pPr>
            <a:r>
              <a:rPr lang="en-US" sz="900" dirty="0">
                <a:solidFill>
                  <a:srgbClr val="768692"/>
                </a:solidFill>
                <a:latin typeface="Calibri" pitchFamily="34" charset="0"/>
                <a:ea typeface="Calibri" pitchFamily="34" charset="-122"/>
                <a:cs typeface="Calibri" pitchFamily="34" charset="-120"/>
              </a:rPr>
              <a:t>10</a:t>
            </a:r>
            <a:endParaRPr lang="en-US" sz="900" dirty="0"/>
          </a:p>
        </p:txBody>
      </p:sp>
      <p:sp>
        <p:nvSpPr>
          <p:cNvPr id="13" name="Shape 11"/>
          <p:cNvSpPr/>
          <p:nvPr/>
        </p:nvSpPr>
        <p:spPr>
          <a:xfrm>
            <a:off x="457200" y="1664208"/>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14" name="Shape 12"/>
          <p:cNvSpPr/>
          <p:nvPr/>
        </p:nvSpPr>
        <p:spPr>
          <a:xfrm>
            <a:off x="457200" y="1664208"/>
            <a:ext cx="73152" cy="2103120"/>
          </a:xfrm>
          <a:prstGeom prst="rect">
            <a:avLst/>
          </a:prstGeom>
          <a:solidFill>
            <a:srgbClr val="003087"/>
          </a:solidFill>
          <a:ln w="12700">
            <a:solidFill>
              <a:srgbClr val="003087"/>
            </a:solidFill>
            <a:prstDash val="solid"/>
          </a:ln>
        </p:spPr>
      </p:sp>
      <p:sp>
        <p:nvSpPr>
          <p:cNvPr id="15" name="Shape 13"/>
          <p:cNvSpPr/>
          <p:nvPr/>
        </p:nvSpPr>
        <p:spPr>
          <a:xfrm>
            <a:off x="621792" y="1874520"/>
            <a:ext cx="502920" cy="502920"/>
          </a:xfrm>
          <a:prstGeom prst="ellipse">
            <a:avLst/>
          </a:prstGeom>
          <a:solidFill>
            <a:srgbClr val="003087"/>
          </a:solidFill>
          <a:ln w="12700">
            <a:solidFill>
              <a:srgbClr val="003087"/>
            </a:solidFill>
            <a:prstDash val="solid"/>
          </a:ln>
        </p:spPr>
      </p:sp>
      <p:pic>
        <p:nvPicPr>
          <p:cNvPr id="16" name="Image 0" descr="/tmp/claude-0/-home-claude/0392ef1a-ea77-535e-abf6-0e4ef3a33421/scratchpad/build/icons/w12.png">    </p:cNvPr>
          <p:cNvPicPr>
            <a:picLocks noChangeAspect="1"/>
          </p:cNvPicPr>
          <p:nvPr/>
        </p:nvPicPr>
        <p:blipFill>
          <a:blip r:embed="rId1"/>
          <a:stretch>
            <a:fillRect/>
          </a:stretch>
        </p:blipFill>
        <p:spPr>
          <a:xfrm>
            <a:off x="740664" y="1993392"/>
            <a:ext cx="265176" cy="265176"/>
          </a:xfrm>
          <a:prstGeom prst="rect">
            <a:avLst/>
          </a:prstGeom>
        </p:spPr>
      </p:pic>
      <p:sp>
        <p:nvSpPr>
          <p:cNvPr id="17" name="Text 14"/>
          <p:cNvSpPr txBox="1"/>
          <p:nvPr/>
        </p:nvSpPr>
        <p:spPr>
          <a:xfrm>
            <a:off x="1280160" y="1865376"/>
            <a:ext cx="2697480" cy="219456"/>
          </a:xfrm>
          <a:prstGeom prst="rect">
            <a:avLst/>
          </a:prstGeom>
          <a:noFill/>
          <a:ln/>
        </p:spPr>
        <p:txBody>
          <a:bodyPr wrap="square" lIns="0" tIns="0" rIns="0" bIns="0" rtlCol="0" anchor="ctr"/>
          <a:lstStyle/>
          <a:p>
            <a:pPr indent="0" marL="0">
              <a:buNone/>
            </a:pPr>
            <a:r>
              <a:rPr lang="en-US" sz="1000" b="1" spc="160" kern="0" dirty="0">
                <a:solidFill>
                  <a:srgbClr val="003087"/>
                </a:solidFill>
                <a:latin typeface="Calibri" pitchFamily="34" charset="0"/>
                <a:ea typeface="Calibri" pitchFamily="34" charset="-122"/>
                <a:cs typeface="Calibri" pitchFamily="34" charset="-120"/>
              </a:rPr>
              <a:t>1 PER YEAR</a:t>
            </a:r>
            <a:endParaRPr lang="en-US" sz="1000" dirty="0"/>
          </a:p>
        </p:txBody>
      </p:sp>
      <p:sp>
        <p:nvSpPr>
          <p:cNvPr id="18" name="Text 15"/>
          <p:cNvSpPr txBox="1"/>
          <p:nvPr/>
        </p:nvSpPr>
        <p:spPr>
          <a:xfrm>
            <a:off x="1280160" y="2084832"/>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Educational supervisor report</a:t>
            </a:r>
            <a:endParaRPr lang="en-US" sz="1200" dirty="0"/>
          </a:p>
        </p:txBody>
      </p:sp>
      <p:sp>
        <p:nvSpPr>
          <p:cNvPr id="19" name="Text 16"/>
          <p:cNvSpPr txBox="1"/>
          <p:nvPr/>
        </p:nvSpPr>
        <p:spPr>
          <a:xfrm>
            <a:off x="640080" y="2596896"/>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One report covering the training year since your last ARCP, up to the date of the current one. It confirms performance is at the level expected.</a:t>
            </a:r>
            <a:endParaRPr lang="en-US" sz="1000" dirty="0"/>
          </a:p>
        </p:txBody>
      </p:sp>
      <p:sp>
        <p:nvSpPr>
          <p:cNvPr id="20" name="Shape 17"/>
          <p:cNvSpPr/>
          <p:nvPr/>
        </p:nvSpPr>
        <p:spPr>
          <a:xfrm>
            <a:off x="4251960" y="1664208"/>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21" name="Shape 18"/>
          <p:cNvSpPr/>
          <p:nvPr/>
        </p:nvSpPr>
        <p:spPr>
          <a:xfrm>
            <a:off x="4251960" y="1664208"/>
            <a:ext cx="73152" cy="2103120"/>
          </a:xfrm>
          <a:prstGeom prst="rect">
            <a:avLst/>
          </a:prstGeom>
          <a:solidFill>
            <a:srgbClr val="0072CE"/>
          </a:solidFill>
          <a:ln w="12700">
            <a:solidFill>
              <a:srgbClr val="0072CE"/>
            </a:solidFill>
            <a:prstDash val="solid"/>
          </a:ln>
        </p:spPr>
      </p:sp>
      <p:sp>
        <p:nvSpPr>
          <p:cNvPr id="22" name="Shape 19"/>
          <p:cNvSpPr/>
          <p:nvPr/>
        </p:nvSpPr>
        <p:spPr>
          <a:xfrm>
            <a:off x="4416552" y="1874520"/>
            <a:ext cx="502920" cy="502920"/>
          </a:xfrm>
          <a:prstGeom prst="ellipse">
            <a:avLst/>
          </a:prstGeom>
          <a:solidFill>
            <a:srgbClr val="0072CE"/>
          </a:solidFill>
          <a:ln w="12700">
            <a:solidFill>
              <a:srgbClr val="0072CE"/>
            </a:solidFill>
            <a:prstDash val="solid"/>
          </a:ln>
        </p:spPr>
      </p:sp>
      <p:pic>
        <p:nvPicPr>
          <p:cNvPr id="23" name="Image 1" descr="/tmp/claude-0/-home-claude/0392ef1a-ea77-535e-abf6-0e4ef3a33421/scratchpad/build/icons/w11.png">    </p:cNvPr>
          <p:cNvPicPr>
            <a:picLocks noChangeAspect="1"/>
          </p:cNvPicPr>
          <p:nvPr/>
        </p:nvPicPr>
        <p:blipFill>
          <a:blip r:embed="rId2"/>
          <a:stretch>
            <a:fillRect/>
          </a:stretch>
        </p:blipFill>
        <p:spPr>
          <a:xfrm>
            <a:off x="4535424" y="1993392"/>
            <a:ext cx="265176" cy="265176"/>
          </a:xfrm>
          <a:prstGeom prst="rect">
            <a:avLst/>
          </a:prstGeom>
        </p:spPr>
      </p:pic>
      <p:sp>
        <p:nvSpPr>
          <p:cNvPr id="24" name="Text 20"/>
          <p:cNvSpPr txBox="1"/>
          <p:nvPr/>
        </p:nvSpPr>
        <p:spPr>
          <a:xfrm>
            <a:off x="5074920" y="1865376"/>
            <a:ext cx="2697480" cy="219456"/>
          </a:xfrm>
          <a:prstGeom prst="rect">
            <a:avLst/>
          </a:prstGeom>
          <a:noFill/>
          <a:ln/>
        </p:spPr>
        <p:txBody>
          <a:bodyPr wrap="square" lIns="0" tIns="0" rIns="0" bIns="0" rtlCol="0" anchor="ctr"/>
          <a:lstStyle/>
          <a:p>
            <a:pPr indent="0" marL="0">
              <a:buNone/>
            </a:pPr>
            <a:r>
              <a:rPr lang="en-US" sz="1000" b="1" spc="160" kern="0" dirty="0">
                <a:solidFill>
                  <a:srgbClr val="0072CE"/>
                </a:solidFill>
                <a:latin typeface="Calibri" pitchFamily="34" charset="0"/>
                <a:ea typeface="Calibri" pitchFamily="34" charset="-122"/>
                <a:cs typeface="Calibri" pitchFamily="34" charset="-120"/>
              </a:rPr>
              <a:t>ALL OF THEM</a:t>
            </a:r>
            <a:endParaRPr lang="en-US" sz="1000" dirty="0"/>
          </a:p>
        </p:txBody>
      </p:sp>
      <p:sp>
        <p:nvSpPr>
          <p:cNvPr id="25" name="Text 21"/>
          <p:cNvSpPr txBox="1"/>
          <p:nvPr/>
        </p:nvSpPr>
        <p:spPr>
          <a:xfrm>
            <a:off x="5074920" y="2084832"/>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CiP ratings and comments</a:t>
            </a:r>
            <a:endParaRPr lang="en-US" sz="1200" dirty="0"/>
          </a:p>
        </p:txBody>
      </p:sp>
      <p:sp>
        <p:nvSpPr>
          <p:cNvPr id="26" name="Text 22"/>
          <p:cNvSpPr txBox="1"/>
          <p:nvPr/>
        </p:nvSpPr>
        <p:spPr>
          <a:xfrm>
            <a:off x="4434840" y="2596896"/>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Self-rate every generic and clinical CiP. Every CiP must also carry a written comment — one from you, and an evidence-based one from your ES, not a rating alone. Best written at your ES meetings across the year rather than assembled the week before the ARCP.</a:t>
            </a:r>
            <a:endParaRPr lang="en-US" sz="1000" dirty="0"/>
          </a:p>
        </p:txBody>
      </p:sp>
      <p:sp>
        <p:nvSpPr>
          <p:cNvPr id="27" name="Shape 23"/>
          <p:cNvSpPr/>
          <p:nvPr/>
        </p:nvSpPr>
        <p:spPr>
          <a:xfrm>
            <a:off x="8046720" y="1664208"/>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28" name="Shape 24"/>
          <p:cNvSpPr/>
          <p:nvPr/>
        </p:nvSpPr>
        <p:spPr>
          <a:xfrm>
            <a:off x="8046720" y="1664208"/>
            <a:ext cx="73152" cy="2103120"/>
          </a:xfrm>
          <a:prstGeom prst="rect">
            <a:avLst/>
          </a:prstGeom>
          <a:solidFill>
            <a:srgbClr val="41B6E6"/>
          </a:solidFill>
          <a:ln w="12700">
            <a:solidFill>
              <a:srgbClr val="41B6E6"/>
            </a:solidFill>
            <a:prstDash val="solid"/>
          </a:ln>
        </p:spPr>
      </p:sp>
      <p:sp>
        <p:nvSpPr>
          <p:cNvPr id="29" name="Shape 25"/>
          <p:cNvSpPr/>
          <p:nvPr/>
        </p:nvSpPr>
        <p:spPr>
          <a:xfrm>
            <a:off x="8211312" y="1874520"/>
            <a:ext cx="502920" cy="502920"/>
          </a:xfrm>
          <a:prstGeom prst="ellipse">
            <a:avLst/>
          </a:prstGeom>
          <a:solidFill>
            <a:srgbClr val="41B6E6"/>
          </a:solidFill>
          <a:ln w="12700">
            <a:solidFill>
              <a:srgbClr val="41B6E6"/>
            </a:solidFill>
            <a:prstDash val="solid"/>
          </a:ln>
        </p:spPr>
      </p:sp>
      <p:pic>
        <p:nvPicPr>
          <p:cNvPr id="30" name="Image 2" descr="/tmp/claude-0/-home-claude/0392ef1a-ea77-535e-abf6-0e4ef3a33421/scratchpad/build/icons/n5.png">    </p:cNvPr>
          <p:cNvPicPr>
            <a:picLocks noChangeAspect="1"/>
          </p:cNvPicPr>
          <p:nvPr/>
        </p:nvPicPr>
        <p:blipFill>
          <a:blip r:embed="rId3"/>
          <a:stretch>
            <a:fillRect/>
          </a:stretch>
        </p:blipFill>
        <p:spPr>
          <a:xfrm>
            <a:off x="8330184" y="1993392"/>
            <a:ext cx="265176" cy="265176"/>
          </a:xfrm>
          <a:prstGeom prst="rect">
            <a:avLst/>
          </a:prstGeom>
        </p:spPr>
      </p:pic>
      <p:sp>
        <p:nvSpPr>
          <p:cNvPr id="31" name="Text 26"/>
          <p:cNvSpPr txBox="1"/>
          <p:nvPr/>
        </p:nvSpPr>
        <p:spPr>
          <a:xfrm>
            <a:off x="8869680" y="1865376"/>
            <a:ext cx="2697480" cy="219456"/>
          </a:xfrm>
          <a:prstGeom prst="rect">
            <a:avLst/>
          </a:prstGeom>
          <a:noFill/>
          <a:ln/>
        </p:spPr>
        <p:txBody>
          <a:bodyPr wrap="square" lIns="0" tIns="0" rIns="0" bIns="0" rtlCol="0" anchor="ctr"/>
          <a:lstStyle/>
          <a:p>
            <a:pPr indent="0" marL="0">
              <a:buNone/>
            </a:pPr>
            <a:r>
              <a:rPr lang="en-US" sz="1000" b="1" spc="160" kern="0" dirty="0">
                <a:solidFill>
                  <a:srgbClr val="1B7FA6"/>
                </a:solidFill>
                <a:latin typeface="Calibri" pitchFamily="34" charset="0"/>
                <a:ea typeface="Calibri" pitchFamily="34" charset="-122"/>
                <a:cs typeface="Calibri" pitchFamily="34" charset="-120"/>
              </a:rPr>
              <a:t>2 PER YEAR</a:t>
            </a:r>
            <a:endParaRPr lang="en-US" sz="1000" dirty="0"/>
          </a:p>
        </p:txBody>
      </p:sp>
      <p:sp>
        <p:nvSpPr>
          <p:cNvPr id="32" name="Text 27"/>
          <p:cNvSpPr txBox="1"/>
          <p:nvPr/>
        </p:nvSpPr>
        <p:spPr>
          <a:xfrm>
            <a:off x="8869680" y="2084832"/>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Multiple consultant report</a:t>
            </a:r>
            <a:endParaRPr lang="en-US" sz="1200" dirty="0"/>
          </a:p>
        </p:txBody>
      </p:sp>
      <p:sp>
        <p:nvSpPr>
          <p:cNvPr id="33" name="Text 28"/>
          <p:cNvSpPr txBox="1"/>
          <p:nvPr/>
        </p:nvSpPr>
        <p:spPr>
          <a:xfrm>
            <a:off x="8229600" y="2596896"/>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Two MCRs — three in your final year — from consultants who have supervised you in the clinical CiPs you have been training in.</a:t>
            </a:r>
            <a:endParaRPr lang="en-US" sz="1000" dirty="0"/>
          </a:p>
        </p:txBody>
      </p:sp>
      <p:sp>
        <p:nvSpPr>
          <p:cNvPr id="34" name="Shape 29"/>
          <p:cNvSpPr/>
          <p:nvPr/>
        </p:nvSpPr>
        <p:spPr>
          <a:xfrm>
            <a:off x="457200" y="3895344"/>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35" name="Shape 30"/>
          <p:cNvSpPr/>
          <p:nvPr/>
        </p:nvSpPr>
        <p:spPr>
          <a:xfrm>
            <a:off x="457200" y="3895344"/>
            <a:ext cx="73152" cy="2103120"/>
          </a:xfrm>
          <a:prstGeom prst="rect">
            <a:avLst/>
          </a:prstGeom>
          <a:solidFill>
            <a:srgbClr val="009639"/>
          </a:solidFill>
          <a:ln w="12700">
            <a:solidFill>
              <a:srgbClr val="009639"/>
            </a:solidFill>
            <a:prstDash val="solid"/>
          </a:ln>
        </p:spPr>
      </p:sp>
      <p:sp>
        <p:nvSpPr>
          <p:cNvPr id="36" name="Shape 31"/>
          <p:cNvSpPr/>
          <p:nvPr/>
        </p:nvSpPr>
        <p:spPr>
          <a:xfrm>
            <a:off x="621792" y="4105656"/>
            <a:ext cx="502920" cy="502920"/>
          </a:xfrm>
          <a:prstGeom prst="ellipse">
            <a:avLst/>
          </a:prstGeom>
          <a:solidFill>
            <a:srgbClr val="009639"/>
          </a:solidFill>
          <a:ln w="12700">
            <a:solidFill>
              <a:srgbClr val="009639"/>
            </a:solidFill>
            <a:prstDash val="solid"/>
          </a:ln>
        </p:spPr>
      </p:sp>
      <p:pic>
        <p:nvPicPr>
          <p:cNvPr id="37" name="Image 3" descr="/tmp/claude-0/-home-claude/0392ef1a-ea77-535e-abf6-0e4ef3a33421/scratchpad/build/icons/w13.png">    </p:cNvPr>
          <p:cNvPicPr>
            <a:picLocks noChangeAspect="1"/>
          </p:cNvPicPr>
          <p:nvPr/>
        </p:nvPicPr>
        <p:blipFill>
          <a:blip r:embed="rId4"/>
          <a:stretch>
            <a:fillRect/>
          </a:stretch>
        </p:blipFill>
        <p:spPr>
          <a:xfrm>
            <a:off x="740664" y="4224528"/>
            <a:ext cx="265176" cy="265176"/>
          </a:xfrm>
          <a:prstGeom prst="rect">
            <a:avLst/>
          </a:prstGeom>
        </p:spPr>
      </p:pic>
      <p:sp>
        <p:nvSpPr>
          <p:cNvPr id="38" name="Text 32"/>
          <p:cNvSpPr txBox="1"/>
          <p:nvPr/>
        </p:nvSpPr>
        <p:spPr>
          <a:xfrm>
            <a:off x="1280160" y="4096512"/>
            <a:ext cx="2697480" cy="219456"/>
          </a:xfrm>
          <a:prstGeom prst="rect">
            <a:avLst/>
          </a:prstGeom>
          <a:noFill/>
          <a:ln/>
        </p:spPr>
        <p:txBody>
          <a:bodyPr wrap="square" lIns="0" tIns="0" rIns="0" bIns="0" rtlCol="0" anchor="ctr"/>
          <a:lstStyle/>
          <a:p>
            <a:pPr indent="0" marL="0">
              <a:buNone/>
            </a:pPr>
            <a:r>
              <a:rPr lang="en-US" sz="1000" b="1" spc="160" kern="0" dirty="0">
                <a:solidFill>
                  <a:srgbClr val="009639"/>
                </a:solidFill>
                <a:latin typeface="Calibri" pitchFamily="34" charset="0"/>
                <a:ea typeface="Calibri" pitchFamily="34" charset="-122"/>
                <a:cs typeface="Calibri" pitchFamily="34" charset="-120"/>
              </a:rPr>
              <a:t>1 PER YEAR</a:t>
            </a:r>
            <a:endParaRPr lang="en-US" sz="1000" dirty="0"/>
          </a:p>
        </p:txBody>
      </p:sp>
      <p:sp>
        <p:nvSpPr>
          <p:cNvPr id="39" name="Text 33"/>
          <p:cNvSpPr txBox="1"/>
          <p:nvPr/>
        </p:nvSpPr>
        <p:spPr>
          <a:xfrm>
            <a:off x="1280160" y="4315968"/>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Multi-source feedback</a:t>
            </a:r>
            <a:endParaRPr lang="en-US" sz="1200" dirty="0"/>
          </a:p>
        </p:txBody>
      </p:sp>
      <p:sp>
        <p:nvSpPr>
          <p:cNvPr id="40" name="Text 34"/>
          <p:cNvSpPr txBox="1"/>
          <p:nvPr/>
        </p:nvSpPr>
        <p:spPr>
          <a:xfrm>
            <a:off x="640080" y="4828032"/>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One MSF covering generic and clinical capabilities. In a year with IM training, at least four raters must have worked with you in an IM context.</a:t>
            </a:r>
            <a:endParaRPr lang="en-US" sz="1000" dirty="0"/>
          </a:p>
        </p:txBody>
      </p:sp>
      <p:sp>
        <p:nvSpPr>
          <p:cNvPr id="41" name="Shape 35"/>
          <p:cNvSpPr/>
          <p:nvPr/>
        </p:nvSpPr>
        <p:spPr>
          <a:xfrm>
            <a:off x="4251960" y="3895344"/>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42" name="Shape 36"/>
          <p:cNvSpPr/>
          <p:nvPr/>
        </p:nvSpPr>
        <p:spPr>
          <a:xfrm>
            <a:off x="4251960" y="3895344"/>
            <a:ext cx="73152" cy="2103120"/>
          </a:xfrm>
          <a:prstGeom prst="rect">
            <a:avLst/>
          </a:prstGeom>
          <a:solidFill>
            <a:srgbClr val="FFB81C"/>
          </a:solidFill>
          <a:ln w="12700">
            <a:solidFill>
              <a:srgbClr val="FFB81C"/>
            </a:solidFill>
            <a:prstDash val="solid"/>
          </a:ln>
        </p:spPr>
      </p:sp>
      <p:sp>
        <p:nvSpPr>
          <p:cNvPr id="43" name="Shape 37"/>
          <p:cNvSpPr/>
          <p:nvPr/>
        </p:nvSpPr>
        <p:spPr>
          <a:xfrm>
            <a:off x="4416552" y="4105656"/>
            <a:ext cx="502920" cy="502920"/>
          </a:xfrm>
          <a:prstGeom prst="ellipse">
            <a:avLst/>
          </a:prstGeom>
          <a:solidFill>
            <a:srgbClr val="FFB81C"/>
          </a:solidFill>
          <a:ln w="12700">
            <a:solidFill>
              <a:srgbClr val="FFB81C"/>
            </a:solidFill>
            <a:prstDash val="solid"/>
          </a:ln>
        </p:spPr>
      </p:sp>
      <p:pic>
        <p:nvPicPr>
          <p:cNvPr id="44" name="Image 4" descr="/tmp/claude-0/-home-claude/0392ef1a-ea77-535e-abf6-0e4ef3a33421/scratchpad/build/icons/n8.png">    </p:cNvPr>
          <p:cNvPicPr>
            <a:picLocks noChangeAspect="1"/>
          </p:cNvPicPr>
          <p:nvPr/>
        </p:nvPicPr>
        <p:blipFill>
          <a:blip r:embed="rId5"/>
          <a:stretch>
            <a:fillRect/>
          </a:stretch>
        </p:blipFill>
        <p:spPr>
          <a:xfrm>
            <a:off x="4535424" y="4224528"/>
            <a:ext cx="265176" cy="265176"/>
          </a:xfrm>
          <a:prstGeom prst="rect">
            <a:avLst/>
          </a:prstGeom>
        </p:spPr>
      </p:pic>
      <p:sp>
        <p:nvSpPr>
          <p:cNvPr id="45" name="Text 38"/>
          <p:cNvSpPr txBox="1"/>
          <p:nvPr/>
        </p:nvSpPr>
        <p:spPr>
          <a:xfrm>
            <a:off x="5074920" y="4096512"/>
            <a:ext cx="2697480" cy="219456"/>
          </a:xfrm>
          <a:prstGeom prst="rect">
            <a:avLst/>
          </a:prstGeom>
          <a:noFill/>
          <a:ln/>
        </p:spPr>
        <p:txBody>
          <a:bodyPr wrap="square" lIns="0" tIns="0" rIns="0" bIns="0" rtlCol="0" anchor="ctr"/>
          <a:lstStyle/>
          <a:p>
            <a:pPr indent="0" marL="0">
              <a:buNone/>
            </a:pPr>
            <a:r>
              <a:rPr lang="en-US" sz="1000" b="1" spc="160" kern="0" dirty="0">
                <a:solidFill>
                  <a:srgbClr val="8A5E00"/>
                </a:solidFill>
                <a:latin typeface="Calibri" pitchFamily="34" charset="0"/>
                <a:ea typeface="Calibri" pitchFamily="34" charset="-122"/>
                <a:cs typeface="Calibri" pitchFamily="34" charset="-120"/>
              </a:rPr>
              <a:t>4 PER YEAR</a:t>
            </a:r>
            <a:endParaRPr lang="en-US" sz="1000" dirty="0"/>
          </a:p>
        </p:txBody>
      </p:sp>
      <p:sp>
        <p:nvSpPr>
          <p:cNvPr id="46" name="Text 39"/>
          <p:cNvSpPr txBox="1"/>
          <p:nvPr/>
        </p:nvSpPr>
        <p:spPr>
          <a:xfrm>
            <a:off x="5074920" y="4315968"/>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ACAT</a:t>
            </a:r>
            <a:endParaRPr lang="en-US" sz="1200" dirty="0"/>
          </a:p>
        </p:txBody>
      </p:sp>
      <p:sp>
        <p:nvSpPr>
          <p:cNvPr id="47" name="Text 40"/>
          <p:cNvSpPr txBox="1"/>
          <p:nvPr/>
        </p:nvSpPr>
        <p:spPr>
          <a:xfrm>
            <a:off x="4434840" y="4828032"/>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If training in IM Clinical CiP 1 (Managing an acute unselected take): four ACATs by consultants supervising the take or post-take. Each ACAT covers a minimum of five cases.</a:t>
            </a:r>
            <a:endParaRPr lang="en-US" sz="1000" dirty="0"/>
          </a:p>
        </p:txBody>
      </p:sp>
      <p:sp>
        <p:nvSpPr>
          <p:cNvPr id="48" name="Shape 41"/>
          <p:cNvSpPr/>
          <p:nvPr/>
        </p:nvSpPr>
        <p:spPr>
          <a:xfrm>
            <a:off x="8046720" y="3895344"/>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49" name="Shape 42"/>
          <p:cNvSpPr/>
          <p:nvPr/>
        </p:nvSpPr>
        <p:spPr>
          <a:xfrm>
            <a:off x="8046720" y="3895344"/>
            <a:ext cx="73152" cy="2103120"/>
          </a:xfrm>
          <a:prstGeom prst="rect">
            <a:avLst/>
          </a:prstGeom>
          <a:solidFill>
            <a:srgbClr val="330072"/>
          </a:solidFill>
          <a:ln w="12700">
            <a:solidFill>
              <a:srgbClr val="330072"/>
            </a:solidFill>
            <a:prstDash val="solid"/>
          </a:ln>
        </p:spPr>
      </p:sp>
      <p:sp>
        <p:nvSpPr>
          <p:cNvPr id="50" name="Shape 43"/>
          <p:cNvSpPr/>
          <p:nvPr/>
        </p:nvSpPr>
        <p:spPr>
          <a:xfrm>
            <a:off x="8211312" y="4105656"/>
            <a:ext cx="502920" cy="502920"/>
          </a:xfrm>
          <a:prstGeom prst="ellipse">
            <a:avLst/>
          </a:prstGeom>
          <a:solidFill>
            <a:srgbClr val="330072"/>
          </a:solidFill>
          <a:ln w="12700">
            <a:solidFill>
              <a:srgbClr val="330072"/>
            </a:solidFill>
            <a:prstDash val="solid"/>
          </a:ln>
        </p:spPr>
      </p:sp>
      <p:pic>
        <p:nvPicPr>
          <p:cNvPr id="51" name="Image 5" descr="/tmp/claude-0/-home-claude/0392ef1a-ea77-535e-abf6-0e4ef3a33421/scratchpad/build/icons/w3.png">    </p:cNvPr>
          <p:cNvPicPr>
            <a:picLocks noChangeAspect="1"/>
          </p:cNvPicPr>
          <p:nvPr/>
        </p:nvPicPr>
        <p:blipFill>
          <a:blip r:embed="rId6"/>
          <a:stretch>
            <a:fillRect/>
          </a:stretch>
        </p:blipFill>
        <p:spPr>
          <a:xfrm>
            <a:off x="8330184" y="4224528"/>
            <a:ext cx="265176" cy="265176"/>
          </a:xfrm>
          <a:prstGeom prst="rect">
            <a:avLst/>
          </a:prstGeom>
        </p:spPr>
      </p:pic>
      <p:sp>
        <p:nvSpPr>
          <p:cNvPr id="52" name="Text 44"/>
          <p:cNvSpPr txBox="1"/>
          <p:nvPr/>
        </p:nvSpPr>
        <p:spPr>
          <a:xfrm>
            <a:off x="8869680" y="4096512"/>
            <a:ext cx="2697480" cy="219456"/>
          </a:xfrm>
          <a:prstGeom prst="rect">
            <a:avLst/>
          </a:prstGeom>
          <a:noFill/>
          <a:ln/>
        </p:spPr>
        <p:txBody>
          <a:bodyPr wrap="square" lIns="0" tIns="0" rIns="0" bIns="0" rtlCol="0" anchor="ctr"/>
          <a:lstStyle/>
          <a:p>
            <a:pPr indent="0" marL="0">
              <a:buNone/>
            </a:pPr>
            <a:r>
              <a:rPr lang="en-US" sz="1000" b="1" spc="160" kern="0" dirty="0">
                <a:solidFill>
                  <a:srgbClr val="330072"/>
                </a:solidFill>
                <a:latin typeface="Calibri" pitchFamily="34" charset="0"/>
                <a:ea typeface="Calibri" pitchFamily="34" charset="-122"/>
                <a:cs typeface="Calibri" pitchFamily="34" charset="-120"/>
              </a:rPr>
              <a:t>3 PER YEAR</a:t>
            </a:r>
            <a:endParaRPr lang="en-US" sz="1000" dirty="0"/>
          </a:p>
        </p:txBody>
      </p:sp>
      <p:sp>
        <p:nvSpPr>
          <p:cNvPr id="53" name="Text 45"/>
          <p:cNvSpPr txBox="1"/>
          <p:nvPr/>
        </p:nvSpPr>
        <p:spPr>
          <a:xfrm>
            <a:off x="8869680" y="4315968"/>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CbD and / or mini-CEX</a:t>
            </a:r>
            <a:endParaRPr lang="en-US" sz="1200" dirty="0"/>
          </a:p>
        </p:txBody>
      </p:sp>
      <p:sp>
        <p:nvSpPr>
          <p:cNvPr id="54" name="Text 46"/>
          <p:cNvSpPr txBox="1"/>
          <p:nvPr/>
        </p:nvSpPr>
        <p:spPr>
          <a:xfrm>
            <a:off x="8229600" y="4828032"/>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Three supervised learning events — case-based discussions, mini-CEXs, or a mix — carried out by consultants supervising you in internal medicine.</a:t>
            </a:r>
            <a:endParaRPr lang="en-US" sz="1000" dirty="0"/>
          </a:p>
        </p:txBody>
      </p:sp>
      <p:sp>
        <p:nvSpPr>
          <p:cNvPr id="55" name="Shape 47"/>
          <p:cNvSpPr/>
          <p:nvPr/>
        </p:nvSpPr>
        <p:spPr>
          <a:xfrm>
            <a:off x="457200" y="6071616"/>
            <a:ext cx="11247120" cy="438912"/>
          </a:xfrm>
          <a:prstGeom prst="rect">
            <a:avLst/>
          </a:prstGeom>
          <a:solidFill>
            <a:srgbClr val="F0F4F5"/>
          </a:solidFill>
          <a:ln w="12700">
            <a:solidFill>
              <a:srgbClr val="F0F4F5"/>
            </a:solidFill>
            <a:prstDash val="solid"/>
          </a:ln>
        </p:spPr>
      </p:sp>
      <p:sp>
        <p:nvSpPr>
          <p:cNvPr id="56" name="Shape 48"/>
          <p:cNvSpPr/>
          <p:nvPr/>
        </p:nvSpPr>
        <p:spPr>
          <a:xfrm>
            <a:off x="457200" y="6071616"/>
            <a:ext cx="73152" cy="438912"/>
          </a:xfrm>
          <a:prstGeom prst="rect">
            <a:avLst/>
          </a:prstGeom>
          <a:solidFill>
            <a:srgbClr val="FFB81C"/>
          </a:solidFill>
          <a:ln w="12700">
            <a:solidFill>
              <a:srgbClr val="FFB81C"/>
            </a:solidFill>
            <a:prstDash val="solid"/>
          </a:ln>
        </p:spPr>
      </p:sp>
      <p:sp>
        <p:nvSpPr>
          <p:cNvPr id="57" name="Text 49"/>
          <p:cNvSpPr txBox="1"/>
          <p:nvPr/>
        </p:nvSpPr>
        <p:spPr>
          <a:xfrm>
            <a:off x="658368" y="6071616"/>
            <a:ext cx="10881360" cy="438912"/>
          </a:xfrm>
          <a:prstGeom prst="rect">
            <a:avLst/>
          </a:prstGeom>
          <a:noFill/>
          <a:ln/>
        </p:spPr>
        <p:txBody>
          <a:bodyPr wrap="square" lIns="0" tIns="0" rIns="0" bIns="0" rtlCol="0" anchor="ctr"/>
          <a:lstStyle/>
          <a:p>
            <a:pPr indent="0" marL="0">
              <a:buNone/>
            </a:pPr>
            <a:r>
              <a:rPr lang="en-US" sz="1050" i="1" dirty="0">
                <a:solidFill>
                  <a:srgbClr val="212B32"/>
                </a:solidFill>
                <a:latin typeface="Calibri" pitchFamily="34" charset="0"/>
                <a:ea typeface="Calibri" pitchFamily="34" charset="-122"/>
                <a:cs typeface="Calibri" pitchFamily="34" charset="-120"/>
              </a:rPr>
              <a:t>Plus a valid ALS certificate in every year of IMS2 — kept in the certificates section and signed off.</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10584180" y="379476"/>
            <a:ext cx="82296" cy="82296"/>
          </a:xfrm>
          <a:prstGeom prst="ellipse">
            <a:avLst/>
          </a:prstGeom>
          <a:solidFill>
            <a:srgbClr val="D8DDE0"/>
          </a:solidFill>
          <a:ln w="12700">
            <a:solidFill>
              <a:srgbClr val="D8DDE0"/>
            </a:solidFill>
            <a:prstDash val="solid"/>
          </a:ln>
        </p:spPr>
      </p:sp>
      <p:sp>
        <p:nvSpPr>
          <p:cNvPr id="3" name="Shape 1"/>
          <p:cNvSpPr/>
          <p:nvPr/>
        </p:nvSpPr>
        <p:spPr>
          <a:xfrm>
            <a:off x="10794492" y="379476"/>
            <a:ext cx="82296" cy="82296"/>
          </a:xfrm>
          <a:prstGeom prst="ellipse">
            <a:avLst/>
          </a:prstGeom>
          <a:solidFill>
            <a:srgbClr val="D8DDE0"/>
          </a:solidFill>
          <a:ln w="12700">
            <a:solidFill>
              <a:srgbClr val="D8DDE0"/>
            </a:solidFill>
            <a:prstDash val="solid"/>
          </a:ln>
        </p:spPr>
      </p:sp>
      <p:sp>
        <p:nvSpPr>
          <p:cNvPr id="4" name="Shape 2"/>
          <p:cNvSpPr/>
          <p:nvPr/>
        </p:nvSpPr>
        <p:spPr>
          <a:xfrm>
            <a:off x="10986516" y="361188"/>
            <a:ext cx="118872" cy="118872"/>
          </a:xfrm>
          <a:prstGeom prst="ellipse">
            <a:avLst/>
          </a:prstGeom>
          <a:solidFill>
            <a:srgbClr val="41B6E6"/>
          </a:solidFill>
          <a:ln w="12700">
            <a:solidFill>
              <a:srgbClr val="41B6E6"/>
            </a:solidFill>
            <a:prstDash val="solid"/>
          </a:ln>
        </p:spPr>
      </p:sp>
      <p:sp>
        <p:nvSpPr>
          <p:cNvPr id="5" name="Shape 3"/>
          <p:cNvSpPr/>
          <p:nvPr/>
        </p:nvSpPr>
        <p:spPr>
          <a:xfrm>
            <a:off x="11215116" y="379476"/>
            <a:ext cx="82296" cy="82296"/>
          </a:xfrm>
          <a:prstGeom prst="ellipse">
            <a:avLst/>
          </a:prstGeom>
          <a:solidFill>
            <a:srgbClr val="D8DDE0"/>
          </a:solidFill>
          <a:ln w="12700">
            <a:solidFill>
              <a:srgbClr val="D8DDE0"/>
            </a:solidFill>
            <a:prstDash val="solid"/>
          </a:ln>
        </p:spPr>
      </p:sp>
      <p:sp>
        <p:nvSpPr>
          <p:cNvPr id="6" name="Shape 4"/>
          <p:cNvSpPr/>
          <p:nvPr/>
        </p:nvSpPr>
        <p:spPr>
          <a:xfrm>
            <a:off x="11425428" y="379476"/>
            <a:ext cx="82296" cy="82296"/>
          </a:xfrm>
          <a:prstGeom prst="ellipse">
            <a:avLst/>
          </a:prstGeom>
          <a:solidFill>
            <a:srgbClr val="D8DDE0"/>
          </a:solidFill>
          <a:ln w="12700">
            <a:solidFill>
              <a:srgbClr val="D8DDE0"/>
            </a:solidFill>
            <a:prstDash val="solid"/>
          </a:ln>
        </p:spPr>
      </p:sp>
      <p:sp>
        <p:nvSpPr>
          <p:cNvPr id="7" name="Shape 5"/>
          <p:cNvSpPr/>
          <p:nvPr/>
        </p:nvSpPr>
        <p:spPr>
          <a:xfrm>
            <a:off x="11635740" y="379476"/>
            <a:ext cx="82296" cy="82296"/>
          </a:xfrm>
          <a:prstGeom prst="ellipse">
            <a:avLst/>
          </a:prstGeom>
          <a:solidFill>
            <a:srgbClr val="D8DDE0"/>
          </a:solidFill>
          <a:ln w="12700">
            <a:solidFill>
              <a:srgbClr val="D8DDE0"/>
            </a:solidFill>
            <a:prstDash val="solid"/>
          </a:ln>
        </p:spPr>
      </p:sp>
      <p:sp>
        <p:nvSpPr>
          <p:cNvPr id="8" name="Text 6"/>
          <p:cNvSpPr txBox="1"/>
          <p:nvPr/>
        </p:nvSpPr>
        <p:spPr>
          <a:xfrm>
            <a:off x="457200" y="274320"/>
            <a:ext cx="9875520" cy="256032"/>
          </a:xfrm>
          <a:prstGeom prst="rect">
            <a:avLst/>
          </a:prstGeom>
          <a:noFill/>
          <a:ln/>
        </p:spPr>
        <p:txBody>
          <a:bodyPr wrap="square" lIns="0" tIns="0" rIns="0" bIns="0" rtlCol="0" anchor="ctr"/>
          <a:lstStyle/>
          <a:p>
            <a:pPr indent="0" marL="0">
              <a:buNone/>
            </a:pPr>
            <a:r>
              <a:rPr lang="en-US" sz="1100" b="1" spc="240" kern="0" dirty="0">
                <a:solidFill>
                  <a:srgbClr val="1B7FA6"/>
                </a:solidFill>
                <a:latin typeface="Calibri" pitchFamily="34" charset="0"/>
                <a:ea typeface="Calibri" pitchFamily="34" charset="-122"/>
                <a:cs typeface="Calibri" pitchFamily="34" charset="-120"/>
              </a:rPr>
              <a:t>PART 03 · WHAT QUALIFIES AS AN ACAT</a:t>
            </a:r>
            <a:endParaRPr lang="en-US" sz="1100" dirty="0"/>
          </a:p>
        </p:txBody>
      </p:sp>
      <p:sp>
        <p:nvSpPr>
          <p:cNvPr id="9" name="Text 7"/>
          <p:cNvSpPr txBox="1"/>
          <p:nvPr/>
        </p:nvSpPr>
        <p:spPr>
          <a:xfrm>
            <a:off x="457200" y="512064"/>
            <a:ext cx="11247120" cy="658368"/>
          </a:xfrm>
          <a:prstGeom prst="rect">
            <a:avLst/>
          </a:prstGeom>
          <a:noFill/>
          <a:ln/>
        </p:spPr>
        <p:txBody>
          <a:bodyPr wrap="square" lIns="0" tIns="0" rIns="0" bIns="0" rtlCol="0" anchor="ctr"/>
          <a:lstStyle/>
          <a:p>
            <a:pPr indent="0" marL="0">
              <a:buNone/>
            </a:pPr>
            <a:r>
              <a:rPr lang="en-US" sz="3000" b="1" dirty="0">
                <a:solidFill>
                  <a:srgbClr val="003087"/>
                </a:solidFill>
                <a:latin typeface="Calibri" pitchFamily="34" charset="0"/>
                <a:ea typeface="Calibri" pitchFamily="34" charset="-122"/>
                <a:cs typeface="Calibri" pitchFamily="34" charset="-120"/>
              </a:rPr>
              <a:t>An ACAT assesses the take, not your clerking</a:t>
            </a:r>
            <a:endParaRPr lang="en-US" sz="3000" dirty="0"/>
          </a:p>
        </p:txBody>
      </p:sp>
      <p:sp>
        <p:nvSpPr>
          <p:cNvPr id="10" name="Text 8"/>
          <p:cNvSpPr txBox="1"/>
          <p:nvPr/>
        </p:nvSpPr>
        <p:spPr>
          <a:xfrm>
            <a:off x="457200" y="1170432"/>
            <a:ext cx="11247120" cy="411480"/>
          </a:xfrm>
          <a:prstGeom prst="rect">
            <a:avLst/>
          </a:prstGeom>
          <a:noFill/>
          <a:ln/>
        </p:spPr>
        <p:txBody>
          <a:bodyPr wrap="square" lIns="0" tIns="0" rIns="0" bIns="0" rtlCol="0" anchor="t"/>
          <a:lstStyle/>
          <a:p>
            <a:pPr indent="0" marL="0">
              <a:buNone/>
            </a:pPr>
            <a:r>
              <a:rPr lang="en-US" sz="1200" i="1" dirty="0">
                <a:solidFill>
                  <a:srgbClr val="768692"/>
                </a:solidFill>
                <a:latin typeface="Calibri" pitchFamily="34" charset="0"/>
                <a:ea typeface="Calibri" pitchFamily="34" charset="-122"/>
                <a:cs typeface="Calibri" pitchFamily="34" charset="-120"/>
              </a:rPr>
              <a:t>It is a global judgement on how you ran the take, built from a minimum of five cases — ideally ones the team clerked and you then reviewed.</a:t>
            </a:r>
            <a:endParaRPr lang="en-US" sz="1200" dirty="0"/>
          </a:p>
        </p:txBody>
      </p:sp>
      <p:sp>
        <p:nvSpPr>
          <p:cNvPr id="11" name="Text 9"/>
          <p:cNvSpPr txBox="1"/>
          <p:nvPr/>
        </p:nvSpPr>
        <p:spPr>
          <a:xfrm>
            <a:off x="457200" y="6547104"/>
            <a:ext cx="7315200" cy="274320"/>
          </a:xfrm>
          <a:prstGeom prst="rect">
            <a:avLst/>
          </a:prstGeom>
          <a:noFill/>
          <a:ln/>
        </p:spPr>
        <p:txBody>
          <a:bodyPr wrap="square" lIns="0" tIns="0" rIns="0" bIns="0" rtlCol="0" anchor="ctr"/>
          <a:lstStyle/>
          <a:p>
            <a:pPr indent="0" marL="0">
              <a:buNone/>
            </a:pPr>
            <a:r>
              <a:rPr lang="en-US" sz="900" dirty="0">
                <a:solidFill>
                  <a:srgbClr val="768692"/>
                </a:solidFill>
                <a:latin typeface="Calibri" pitchFamily="34" charset="0"/>
                <a:ea typeface="Calibri" pitchFamily="34" charset="-122"/>
                <a:cs typeface="Calibri" pitchFamily="34" charset="-120"/>
              </a:rPr>
              <a:t>GIM ARCP · trainee guidance · </a:t>
            </a:r>
            <a:pPr indent="0" marL="0">
              <a:buNone/>
            </a:pPr>
            <a:r>
              <a:rPr lang="en-US" sz="900" b="1" dirty="0">
                <a:solidFill>
                  <a:srgbClr val="8A5E00"/>
                </a:solidFill>
                <a:latin typeface="Calibri" pitchFamily="34" charset="0"/>
                <a:ea typeface="Calibri" pitchFamily="34" charset="-122"/>
                <a:cs typeface="Calibri" pitchFamily="34" charset="-120"/>
              </a:rPr>
              <a:t>DRAFT</a:t>
            </a:r>
            <a:endParaRPr lang="en-US" sz="900" dirty="0"/>
          </a:p>
        </p:txBody>
      </p:sp>
      <p:sp>
        <p:nvSpPr>
          <p:cNvPr id="12" name="Text 10"/>
          <p:cNvSpPr txBox="1"/>
          <p:nvPr/>
        </p:nvSpPr>
        <p:spPr>
          <a:xfrm>
            <a:off x="11155680" y="6547104"/>
            <a:ext cx="548640" cy="274320"/>
          </a:xfrm>
          <a:prstGeom prst="rect">
            <a:avLst/>
          </a:prstGeom>
          <a:noFill/>
          <a:ln/>
        </p:spPr>
        <p:txBody>
          <a:bodyPr wrap="square" lIns="0" tIns="0" rIns="0" bIns="0" rtlCol="0" anchor="ctr"/>
          <a:lstStyle/>
          <a:p>
            <a:pPr algn="r" indent="0" marL="0">
              <a:buNone/>
            </a:pPr>
            <a:r>
              <a:rPr lang="en-US" sz="900" dirty="0">
                <a:solidFill>
                  <a:srgbClr val="768692"/>
                </a:solidFill>
                <a:latin typeface="Calibri" pitchFamily="34" charset="0"/>
                <a:ea typeface="Calibri" pitchFamily="34" charset="-122"/>
                <a:cs typeface="Calibri" pitchFamily="34" charset="-120"/>
              </a:rPr>
              <a:t>11</a:t>
            </a:r>
            <a:endParaRPr lang="en-US" sz="900" dirty="0"/>
          </a:p>
        </p:txBody>
      </p:sp>
      <p:sp>
        <p:nvSpPr>
          <p:cNvPr id="13" name="Shape 11"/>
          <p:cNvSpPr/>
          <p:nvPr/>
        </p:nvSpPr>
        <p:spPr>
          <a:xfrm>
            <a:off x="457200" y="1664208"/>
            <a:ext cx="5623560" cy="4334256"/>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14" name="Shape 12"/>
          <p:cNvSpPr/>
          <p:nvPr/>
        </p:nvSpPr>
        <p:spPr>
          <a:xfrm>
            <a:off x="457200" y="1664208"/>
            <a:ext cx="73152" cy="4334256"/>
          </a:xfrm>
          <a:prstGeom prst="rect">
            <a:avLst/>
          </a:prstGeom>
          <a:solidFill>
            <a:srgbClr val="003087"/>
          </a:solidFill>
          <a:ln w="12700">
            <a:solidFill>
              <a:srgbClr val="003087"/>
            </a:solidFill>
            <a:prstDash val="solid"/>
          </a:ln>
        </p:spPr>
      </p:sp>
      <p:sp>
        <p:nvSpPr>
          <p:cNvPr id="15" name="Shape 13"/>
          <p:cNvSpPr/>
          <p:nvPr/>
        </p:nvSpPr>
        <p:spPr>
          <a:xfrm>
            <a:off x="658368" y="1911096"/>
            <a:ext cx="594360" cy="594360"/>
          </a:xfrm>
          <a:prstGeom prst="ellipse">
            <a:avLst/>
          </a:prstGeom>
          <a:solidFill>
            <a:srgbClr val="003087"/>
          </a:solidFill>
          <a:ln w="12700">
            <a:solidFill>
              <a:srgbClr val="003087"/>
            </a:solidFill>
            <a:prstDash val="solid"/>
          </a:ln>
        </p:spPr>
      </p:sp>
      <p:pic>
        <p:nvPicPr>
          <p:cNvPr id="16" name="Image 0" descr="/tmp/claude-0/-home-claude/0392ef1a-ea77-535e-abf6-0e4ef3a33421/scratchpad/build/icons/w8.png">    </p:cNvPr>
          <p:cNvPicPr>
            <a:picLocks noChangeAspect="1"/>
          </p:cNvPicPr>
          <p:nvPr/>
        </p:nvPicPr>
        <p:blipFill>
          <a:blip r:embed="rId1"/>
          <a:stretch>
            <a:fillRect/>
          </a:stretch>
        </p:blipFill>
        <p:spPr>
          <a:xfrm>
            <a:off x="795528" y="2048256"/>
            <a:ext cx="320040" cy="320040"/>
          </a:xfrm>
          <a:prstGeom prst="rect">
            <a:avLst/>
          </a:prstGeom>
        </p:spPr>
      </p:pic>
      <p:sp>
        <p:nvSpPr>
          <p:cNvPr id="17" name="Text 14"/>
          <p:cNvSpPr txBox="1"/>
          <p:nvPr/>
        </p:nvSpPr>
        <p:spPr>
          <a:xfrm>
            <a:off x="1508760" y="1892808"/>
            <a:ext cx="4389120" cy="256032"/>
          </a:xfrm>
          <a:prstGeom prst="rect">
            <a:avLst/>
          </a:prstGeom>
          <a:noFill/>
          <a:ln/>
        </p:spPr>
        <p:txBody>
          <a:bodyPr wrap="square" lIns="0" tIns="0" rIns="0" bIns="0" rtlCol="0" anchor="ctr"/>
          <a:lstStyle/>
          <a:p>
            <a:pPr indent="0" marL="0">
              <a:buNone/>
            </a:pPr>
            <a:r>
              <a:rPr lang="en-US" sz="1100" b="1" spc="180" kern="0" dirty="0">
                <a:solidFill>
                  <a:srgbClr val="003087"/>
                </a:solidFill>
                <a:latin typeface="Calibri" pitchFamily="34" charset="0"/>
                <a:ea typeface="Calibri" pitchFamily="34" charset="-122"/>
                <a:cs typeface="Calibri" pitchFamily="34" charset="-120"/>
              </a:rPr>
              <a:t>WHAT IT IS</a:t>
            </a:r>
            <a:endParaRPr lang="en-US" sz="1100" dirty="0"/>
          </a:p>
        </p:txBody>
      </p:sp>
      <p:sp>
        <p:nvSpPr>
          <p:cNvPr id="18" name="Text 15"/>
          <p:cNvSpPr txBox="1"/>
          <p:nvPr/>
        </p:nvSpPr>
        <p:spPr>
          <a:xfrm>
            <a:off x="1508760" y="2167128"/>
            <a:ext cx="4389120" cy="411480"/>
          </a:xfrm>
          <a:prstGeom prst="rect">
            <a:avLst/>
          </a:prstGeom>
          <a:noFill/>
          <a:ln/>
        </p:spPr>
        <p:txBody>
          <a:bodyPr wrap="square" lIns="0" tIns="0" rIns="0" bIns="0" rtlCol="0" anchor="t"/>
          <a:lstStyle/>
          <a:p>
            <a:pPr indent="0" marL="0">
              <a:buNone/>
            </a:pPr>
            <a:r>
              <a:rPr lang="en-US" sz="1800" b="1" dirty="0">
                <a:solidFill>
                  <a:srgbClr val="003087"/>
                </a:solidFill>
                <a:latin typeface="Calibri" pitchFamily="34" charset="0"/>
                <a:ea typeface="Calibri" pitchFamily="34" charset="-122"/>
                <a:cs typeface="Calibri" pitchFamily="34" charset="-120"/>
              </a:rPr>
              <a:t>A global judgement on the take</a:t>
            </a:r>
            <a:endParaRPr lang="en-US" sz="1800" dirty="0"/>
          </a:p>
        </p:txBody>
      </p:sp>
      <p:sp>
        <p:nvSpPr>
          <p:cNvPr id="19" name="Text 16"/>
          <p:cNvSpPr txBox="1"/>
          <p:nvPr/>
        </p:nvSpPr>
        <p:spPr>
          <a:xfrm>
            <a:off x="1508760" y="2596896"/>
            <a:ext cx="4389120" cy="274320"/>
          </a:xfrm>
          <a:prstGeom prst="rect">
            <a:avLst/>
          </a:prstGeom>
          <a:noFill/>
          <a:ln/>
        </p:spPr>
        <p:txBody>
          <a:bodyPr wrap="square" lIns="0" tIns="0" rIns="0" bIns="0" rtlCol="0" anchor="ctr"/>
          <a:lstStyle/>
          <a:p>
            <a:pPr indent="0" marL="0">
              <a:buNone/>
            </a:pPr>
            <a:r>
              <a:rPr lang="en-US" sz="1100" i="1" dirty="0">
                <a:solidFill>
                  <a:srgbClr val="003087"/>
                </a:solidFill>
                <a:latin typeface="Calibri" pitchFamily="34" charset="0"/>
                <a:ea typeface="Calibri" pitchFamily="34" charset="-122"/>
                <a:cs typeface="Calibri" pitchFamily="34" charset="-120"/>
              </a:rPr>
              <a:t>JRCPTB IMS2 ARCP decision aid</a:t>
            </a:r>
            <a:endParaRPr lang="en-US" sz="1100" dirty="0"/>
          </a:p>
        </p:txBody>
      </p:sp>
      <p:sp>
        <p:nvSpPr>
          <p:cNvPr id="20" name="Text 17"/>
          <p:cNvSpPr txBox="1"/>
          <p:nvPr/>
        </p:nvSpPr>
        <p:spPr>
          <a:xfrm>
            <a:off x="713232" y="3081528"/>
            <a:ext cx="5120640" cy="2139696"/>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Four ACATs a year if you are training in IM Clinical CiP 1 — Managing an acute unselected take</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Carried out by consultants supervising in the unselected medical take or post-take setting</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A minimum of five cases in each ACAT</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A global assessment of your performance on take, or presenting new patients on ward rounds</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Covering both the individual cases and your overall performance — prioritisation, working with the team</a:t>
            </a:r>
            <a:endParaRPr lang="en-US" sz="1100" dirty="0"/>
          </a:p>
        </p:txBody>
      </p:sp>
      <p:sp>
        <p:nvSpPr>
          <p:cNvPr id="21" name="Shape 18"/>
          <p:cNvSpPr/>
          <p:nvPr/>
        </p:nvSpPr>
        <p:spPr>
          <a:xfrm>
            <a:off x="594360" y="5221224"/>
            <a:ext cx="5349240" cy="502920"/>
          </a:xfrm>
          <a:prstGeom prst="rect">
            <a:avLst/>
          </a:prstGeom>
          <a:solidFill>
            <a:srgbClr val="F0F4F5"/>
          </a:solidFill>
          <a:ln w="12700">
            <a:solidFill>
              <a:srgbClr val="F0F4F5"/>
            </a:solidFill>
            <a:prstDash val="solid"/>
          </a:ln>
        </p:spPr>
      </p:sp>
      <p:sp>
        <p:nvSpPr>
          <p:cNvPr id="22" name="Text 19"/>
          <p:cNvSpPr txBox="1"/>
          <p:nvPr/>
        </p:nvSpPr>
        <p:spPr>
          <a:xfrm>
            <a:off x="749808" y="5221224"/>
            <a:ext cx="5056632" cy="502920"/>
          </a:xfrm>
          <a:prstGeom prst="rect">
            <a:avLst/>
          </a:prstGeom>
          <a:noFill/>
          <a:ln/>
        </p:spPr>
        <p:txBody>
          <a:bodyPr wrap="square" lIns="0" tIns="0" rIns="0" bIns="0" rtlCol="0" anchor="ctr"/>
          <a:lstStyle/>
          <a:p>
            <a:pPr indent="0" marL="0">
              <a:buNone/>
            </a:pPr>
            <a:r>
              <a:rPr lang="en-US" sz="1000" b="1" dirty="0">
                <a:solidFill>
                  <a:srgbClr val="003087"/>
                </a:solidFill>
                <a:latin typeface="Calibri" pitchFamily="34" charset="0"/>
                <a:ea typeface="Calibri" pitchFamily="34" charset="-122"/>
                <a:cs typeface="Calibri" pitchFamily="34" charset="-120"/>
              </a:rPr>
              <a:t>In short: </a:t>
            </a:r>
            <a:pPr indent="0" marL="0">
              <a:buNone/>
            </a:pPr>
            <a:r>
              <a:rPr lang="en-US" sz="1000" dirty="0">
                <a:solidFill>
                  <a:srgbClr val="212B32"/>
                </a:solidFill>
                <a:latin typeface="Calibri" pitchFamily="34" charset="0"/>
                <a:ea typeface="Calibri" pitchFamily="34" charset="-122"/>
                <a:cs typeface="Calibri" pitchFamily="34" charset="-120"/>
              </a:rPr>
              <a:t>a judgement on how you ran the take, not on how you clerked five patients.</a:t>
            </a:r>
            <a:endParaRPr lang="en-US" sz="1000" dirty="0"/>
          </a:p>
        </p:txBody>
      </p:sp>
      <p:sp>
        <p:nvSpPr>
          <p:cNvPr id="23" name="Shape 20"/>
          <p:cNvSpPr/>
          <p:nvPr/>
        </p:nvSpPr>
        <p:spPr>
          <a:xfrm>
            <a:off x="6172200" y="1664208"/>
            <a:ext cx="5532120" cy="4334256"/>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24" name="Shape 21"/>
          <p:cNvSpPr/>
          <p:nvPr/>
        </p:nvSpPr>
        <p:spPr>
          <a:xfrm>
            <a:off x="6172200" y="1664208"/>
            <a:ext cx="73152" cy="4334256"/>
          </a:xfrm>
          <a:prstGeom prst="rect">
            <a:avLst/>
          </a:prstGeom>
          <a:solidFill>
            <a:srgbClr val="0072CE"/>
          </a:solidFill>
          <a:ln w="12700">
            <a:solidFill>
              <a:srgbClr val="0072CE"/>
            </a:solidFill>
            <a:prstDash val="solid"/>
          </a:ln>
        </p:spPr>
      </p:sp>
      <p:sp>
        <p:nvSpPr>
          <p:cNvPr id="25" name="Shape 22"/>
          <p:cNvSpPr/>
          <p:nvPr/>
        </p:nvSpPr>
        <p:spPr>
          <a:xfrm>
            <a:off x="6373368" y="1911096"/>
            <a:ext cx="594360" cy="594360"/>
          </a:xfrm>
          <a:prstGeom prst="ellipse">
            <a:avLst/>
          </a:prstGeom>
          <a:solidFill>
            <a:srgbClr val="0072CE"/>
          </a:solidFill>
          <a:ln w="12700">
            <a:solidFill>
              <a:srgbClr val="0072CE"/>
            </a:solidFill>
            <a:prstDash val="solid"/>
          </a:ln>
        </p:spPr>
      </p:sp>
      <p:pic>
        <p:nvPicPr>
          <p:cNvPr id="26" name="Image 1" descr="/tmp/claude-0/-home-claude/0392ef1a-ea77-535e-abf6-0e4ef3a33421/scratchpad/build/icons/w5.png">    </p:cNvPr>
          <p:cNvPicPr>
            <a:picLocks noChangeAspect="1"/>
          </p:cNvPicPr>
          <p:nvPr/>
        </p:nvPicPr>
        <p:blipFill>
          <a:blip r:embed="rId2"/>
          <a:stretch>
            <a:fillRect/>
          </a:stretch>
        </p:blipFill>
        <p:spPr>
          <a:xfrm>
            <a:off x="6510528" y="2048256"/>
            <a:ext cx="320040" cy="320040"/>
          </a:xfrm>
          <a:prstGeom prst="rect">
            <a:avLst/>
          </a:prstGeom>
        </p:spPr>
      </p:pic>
      <p:sp>
        <p:nvSpPr>
          <p:cNvPr id="27" name="Text 23"/>
          <p:cNvSpPr txBox="1"/>
          <p:nvPr/>
        </p:nvSpPr>
        <p:spPr>
          <a:xfrm>
            <a:off x="7223760" y="1892808"/>
            <a:ext cx="4297680" cy="256032"/>
          </a:xfrm>
          <a:prstGeom prst="rect">
            <a:avLst/>
          </a:prstGeom>
          <a:noFill/>
          <a:ln/>
        </p:spPr>
        <p:txBody>
          <a:bodyPr wrap="square" lIns="0" tIns="0" rIns="0" bIns="0" rtlCol="0" anchor="ctr"/>
          <a:lstStyle/>
          <a:p>
            <a:pPr indent="0" marL="0">
              <a:buNone/>
            </a:pPr>
            <a:r>
              <a:rPr lang="en-US" sz="1100" b="1" spc="180" kern="0" dirty="0">
                <a:solidFill>
                  <a:srgbClr val="0072CE"/>
                </a:solidFill>
                <a:latin typeface="Calibri" pitchFamily="34" charset="0"/>
                <a:ea typeface="Calibri" pitchFamily="34" charset="-122"/>
                <a:cs typeface="Calibri" pitchFamily="34" charset="-120"/>
              </a:rPr>
              <a:t>HOW IT WORKS</a:t>
            </a:r>
            <a:endParaRPr lang="en-US" sz="1100" dirty="0"/>
          </a:p>
        </p:txBody>
      </p:sp>
      <p:sp>
        <p:nvSpPr>
          <p:cNvPr id="28" name="Text 24"/>
          <p:cNvSpPr txBox="1"/>
          <p:nvPr/>
        </p:nvSpPr>
        <p:spPr>
          <a:xfrm>
            <a:off x="7223760" y="2167128"/>
            <a:ext cx="4297680" cy="411480"/>
          </a:xfrm>
          <a:prstGeom prst="rect">
            <a:avLst/>
          </a:prstGeom>
          <a:noFill/>
          <a:ln/>
        </p:spPr>
        <p:txBody>
          <a:bodyPr wrap="square" lIns="0" tIns="0" rIns="0" bIns="0" rtlCol="0" anchor="t"/>
          <a:lstStyle/>
          <a:p>
            <a:pPr indent="0" marL="0">
              <a:buNone/>
            </a:pPr>
            <a:r>
              <a:rPr lang="en-US" sz="1800" b="1" dirty="0">
                <a:solidFill>
                  <a:srgbClr val="003087"/>
                </a:solidFill>
                <a:latin typeface="Calibri" pitchFamily="34" charset="0"/>
                <a:ea typeface="Calibri" pitchFamily="34" charset="-122"/>
                <a:cs typeface="Calibri" pitchFamily="34" charset="-120"/>
              </a:rPr>
              <a:t>You present the take you supervised</a:t>
            </a:r>
            <a:endParaRPr lang="en-US" sz="1800" dirty="0"/>
          </a:p>
        </p:txBody>
      </p:sp>
      <p:sp>
        <p:nvSpPr>
          <p:cNvPr id="29" name="Text 25"/>
          <p:cNvSpPr txBox="1"/>
          <p:nvPr/>
        </p:nvSpPr>
        <p:spPr>
          <a:xfrm>
            <a:off x="7223760" y="2596896"/>
            <a:ext cx="4297680" cy="274320"/>
          </a:xfrm>
          <a:prstGeom prst="rect">
            <a:avLst/>
          </a:prstGeom>
          <a:noFill/>
          <a:ln/>
        </p:spPr>
        <p:txBody>
          <a:bodyPr wrap="square" lIns="0" tIns="0" rIns="0" bIns="0" rtlCol="0" anchor="ctr"/>
          <a:lstStyle/>
          <a:p>
            <a:pPr indent="0" marL="0">
              <a:buNone/>
            </a:pPr>
            <a:r>
              <a:rPr lang="en-US" sz="1100" i="1" dirty="0">
                <a:solidFill>
                  <a:srgbClr val="0072CE"/>
                </a:solidFill>
                <a:latin typeface="Calibri" pitchFamily="34" charset="0"/>
                <a:ea typeface="Calibri" pitchFamily="34" charset="-122"/>
                <a:cs typeface="Calibri" pitchFamily="34" charset="-120"/>
              </a:rPr>
              <a:t>Local expectation</a:t>
            </a:r>
            <a:endParaRPr lang="en-US" sz="1100" dirty="0"/>
          </a:p>
        </p:txBody>
      </p:sp>
      <p:sp>
        <p:nvSpPr>
          <p:cNvPr id="30" name="Text 26"/>
          <p:cNvSpPr txBox="1"/>
          <p:nvPr/>
        </p:nvSpPr>
        <p:spPr>
          <a:xfrm>
            <a:off x="6428232" y="3081528"/>
            <a:ext cx="5029200" cy="2139696"/>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Ideally you review five patients already clerked by the team, rather than patients you clerked yourself</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You present them to the consultant — that handover is the assessment</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It should show that you can supervise the take, and that you are learning to post-take rather than clerk</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The consultant judges how well you ran the take from those cases, and from the rest of the take, which they see as they post-take the patients you did not review</a:t>
            </a:r>
            <a:endParaRPr lang="en-US" sz="1100" dirty="0"/>
          </a:p>
        </p:txBody>
      </p:sp>
      <p:sp>
        <p:nvSpPr>
          <p:cNvPr id="31" name="Shape 27"/>
          <p:cNvSpPr/>
          <p:nvPr/>
        </p:nvSpPr>
        <p:spPr>
          <a:xfrm>
            <a:off x="6309360" y="5221224"/>
            <a:ext cx="5257800" cy="502920"/>
          </a:xfrm>
          <a:prstGeom prst="rect">
            <a:avLst/>
          </a:prstGeom>
          <a:solidFill>
            <a:srgbClr val="F0F4F5"/>
          </a:solidFill>
          <a:ln w="12700">
            <a:solidFill>
              <a:srgbClr val="F0F4F5"/>
            </a:solidFill>
            <a:prstDash val="solid"/>
          </a:ln>
        </p:spPr>
      </p:sp>
      <p:sp>
        <p:nvSpPr>
          <p:cNvPr id="32" name="Text 28"/>
          <p:cNvSpPr txBox="1"/>
          <p:nvPr/>
        </p:nvSpPr>
        <p:spPr>
          <a:xfrm>
            <a:off x="6464808" y="5221224"/>
            <a:ext cx="4965192" cy="502920"/>
          </a:xfrm>
          <a:prstGeom prst="rect">
            <a:avLst/>
          </a:prstGeom>
          <a:noFill/>
          <a:ln/>
        </p:spPr>
        <p:txBody>
          <a:bodyPr wrap="square" lIns="0" tIns="0" rIns="0" bIns="0" rtlCol="0" anchor="ctr"/>
          <a:lstStyle/>
          <a:p>
            <a:pPr indent="0" marL="0">
              <a:buNone/>
            </a:pPr>
            <a:r>
              <a:rPr lang="en-US" sz="1000" b="1" dirty="0">
                <a:solidFill>
                  <a:srgbClr val="0072CE"/>
                </a:solidFill>
                <a:latin typeface="Calibri" pitchFamily="34" charset="0"/>
                <a:ea typeface="Calibri" pitchFamily="34" charset="-122"/>
                <a:cs typeface="Calibri" pitchFamily="34" charset="-120"/>
              </a:rPr>
              <a:t>Which means: </a:t>
            </a:r>
            <a:pPr indent="0" marL="0">
              <a:buNone/>
            </a:pPr>
            <a:r>
              <a:rPr lang="en-US" sz="1000" dirty="0">
                <a:solidFill>
                  <a:srgbClr val="212B32"/>
                </a:solidFill>
                <a:latin typeface="Calibri" pitchFamily="34" charset="0"/>
                <a:ea typeface="Calibri" pitchFamily="34" charset="-122"/>
                <a:cs typeface="Calibri" pitchFamily="34" charset="-120"/>
              </a:rPr>
              <a:t>clerking the five patients yourself misses what the ACAT is for.</a:t>
            </a:r>
            <a:endParaRPr lang="en-US" sz="1000" dirty="0"/>
          </a:p>
        </p:txBody>
      </p:sp>
      <p:sp>
        <p:nvSpPr>
          <p:cNvPr id="33" name="Shape 29"/>
          <p:cNvSpPr/>
          <p:nvPr/>
        </p:nvSpPr>
        <p:spPr>
          <a:xfrm>
            <a:off x="457200" y="6071616"/>
            <a:ext cx="11247120" cy="438912"/>
          </a:xfrm>
          <a:prstGeom prst="rect">
            <a:avLst/>
          </a:prstGeom>
          <a:solidFill>
            <a:srgbClr val="F0F4F5"/>
          </a:solidFill>
          <a:ln w="12700">
            <a:solidFill>
              <a:srgbClr val="F0F4F5"/>
            </a:solidFill>
            <a:prstDash val="solid"/>
          </a:ln>
        </p:spPr>
      </p:sp>
      <p:sp>
        <p:nvSpPr>
          <p:cNvPr id="34" name="Shape 30"/>
          <p:cNvSpPr/>
          <p:nvPr/>
        </p:nvSpPr>
        <p:spPr>
          <a:xfrm>
            <a:off x="457200" y="6071616"/>
            <a:ext cx="73152" cy="438912"/>
          </a:xfrm>
          <a:prstGeom prst="rect">
            <a:avLst/>
          </a:prstGeom>
          <a:solidFill>
            <a:srgbClr val="009639"/>
          </a:solidFill>
          <a:ln w="12700">
            <a:solidFill>
              <a:srgbClr val="009639"/>
            </a:solidFill>
            <a:prstDash val="solid"/>
          </a:ln>
        </p:spPr>
      </p:sp>
      <p:sp>
        <p:nvSpPr>
          <p:cNvPr id="35" name="Text 31"/>
          <p:cNvSpPr txBox="1"/>
          <p:nvPr/>
        </p:nvSpPr>
        <p:spPr>
          <a:xfrm>
            <a:off x="658368" y="6071616"/>
            <a:ext cx="10881360" cy="438912"/>
          </a:xfrm>
          <a:prstGeom prst="rect">
            <a:avLst/>
          </a:prstGeom>
          <a:noFill/>
          <a:ln/>
        </p:spPr>
        <p:txBody>
          <a:bodyPr wrap="square" lIns="0" tIns="0" rIns="0" bIns="0" rtlCol="0" anchor="ctr"/>
          <a:lstStyle/>
          <a:p>
            <a:pPr indent="0" marL="0">
              <a:buNone/>
            </a:pPr>
            <a:r>
              <a:rPr lang="en-US" sz="1000" i="1" dirty="0">
                <a:solidFill>
                  <a:srgbClr val="212B32"/>
                </a:solidFill>
                <a:latin typeface="Calibri" pitchFamily="34" charset="0"/>
                <a:ea typeface="Calibri" pitchFamily="34" charset="-122"/>
                <a:cs typeface="Calibri" pitchFamily="34" charset="-120"/>
              </a:rPr>
              <a:t>SDEC is part of the take, not a clinic — JRCPTB is expected to classify it that way. Treat it as take: the same ACAT rules apply to SDEC cases as to the unselected medical take.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10584180" y="379476"/>
            <a:ext cx="82296" cy="82296"/>
          </a:xfrm>
          <a:prstGeom prst="ellipse">
            <a:avLst/>
          </a:prstGeom>
          <a:solidFill>
            <a:srgbClr val="D8DDE0"/>
          </a:solidFill>
          <a:ln w="12700">
            <a:solidFill>
              <a:srgbClr val="D8DDE0"/>
            </a:solidFill>
            <a:prstDash val="solid"/>
          </a:ln>
        </p:spPr>
      </p:sp>
      <p:sp>
        <p:nvSpPr>
          <p:cNvPr id="3" name="Shape 1"/>
          <p:cNvSpPr/>
          <p:nvPr/>
        </p:nvSpPr>
        <p:spPr>
          <a:xfrm>
            <a:off x="10794492" y="379476"/>
            <a:ext cx="82296" cy="82296"/>
          </a:xfrm>
          <a:prstGeom prst="ellipse">
            <a:avLst/>
          </a:prstGeom>
          <a:solidFill>
            <a:srgbClr val="D8DDE0"/>
          </a:solidFill>
          <a:ln w="12700">
            <a:solidFill>
              <a:srgbClr val="D8DDE0"/>
            </a:solidFill>
            <a:prstDash val="solid"/>
          </a:ln>
        </p:spPr>
      </p:sp>
      <p:sp>
        <p:nvSpPr>
          <p:cNvPr id="4" name="Shape 2"/>
          <p:cNvSpPr/>
          <p:nvPr/>
        </p:nvSpPr>
        <p:spPr>
          <a:xfrm>
            <a:off x="10986516" y="361188"/>
            <a:ext cx="118872" cy="118872"/>
          </a:xfrm>
          <a:prstGeom prst="ellipse">
            <a:avLst/>
          </a:prstGeom>
          <a:solidFill>
            <a:srgbClr val="41B6E6"/>
          </a:solidFill>
          <a:ln w="12700">
            <a:solidFill>
              <a:srgbClr val="41B6E6"/>
            </a:solidFill>
            <a:prstDash val="solid"/>
          </a:ln>
        </p:spPr>
      </p:sp>
      <p:sp>
        <p:nvSpPr>
          <p:cNvPr id="5" name="Shape 3"/>
          <p:cNvSpPr/>
          <p:nvPr/>
        </p:nvSpPr>
        <p:spPr>
          <a:xfrm>
            <a:off x="11215116" y="379476"/>
            <a:ext cx="82296" cy="82296"/>
          </a:xfrm>
          <a:prstGeom prst="ellipse">
            <a:avLst/>
          </a:prstGeom>
          <a:solidFill>
            <a:srgbClr val="D8DDE0"/>
          </a:solidFill>
          <a:ln w="12700">
            <a:solidFill>
              <a:srgbClr val="D8DDE0"/>
            </a:solidFill>
            <a:prstDash val="solid"/>
          </a:ln>
        </p:spPr>
      </p:sp>
      <p:sp>
        <p:nvSpPr>
          <p:cNvPr id="6" name="Shape 4"/>
          <p:cNvSpPr/>
          <p:nvPr/>
        </p:nvSpPr>
        <p:spPr>
          <a:xfrm>
            <a:off x="11425428" y="379476"/>
            <a:ext cx="82296" cy="82296"/>
          </a:xfrm>
          <a:prstGeom prst="ellipse">
            <a:avLst/>
          </a:prstGeom>
          <a:solidFill>
            <a:srgbClr val="D8DDE0"/>
          </a:solidFill>
          <a:ln w="12700">
            <a:solidFill>
              <a:srgbClr val="D8DDE0"/>
            </a:solidFill>
            <a:prstDash val="solid"/>
          </a:ln>
        </p:spPr>
      </p:sp>
      <p:sp>
        <p:nvSpPr>
          <p:cNvPr id="7" name="Shape 5"/>
          <p:cNvSpPr/>
          <p:nvPr/>
        </p:nvSpPr>
        <p:spPr>
          <a:xfrm>
            <a:off x="11635740" y="379476"/>
            <a:ext cx="82296" cy="82296"/>
          </a:xfrm>
          <a:prstGeom prst="ellipse">
            <a:avLst/>
          </a:prstGeom>
          <a:solidFill>
            <a:srgbClr val="D8DDE0"/>
          </a:solidFill>
          <a:ln w="12700">
            <a:solidFill>
              <a:srgbClr val="D8DDE0"/>
            </a:solidFill>
            <a:prstDash val="solid"/>
          </a:ln>
        </p:spPr>
      </p:sp>
      <p:sp>
        <p:nvSpPr>
          <p:cNvPr id="8" name="Text 6"/>
          <p:cNvSpPr txBox="1"/>
          <p:nvPr/>
        </p:nvSpPr>
        <p:spPr>
          <a:xfrm>
            <a:off x="457200" y="274320"/>
            <a:ext cx="9875520" cy="256032"/>
          </a:xfrm>
          <a:prstGeom prst="rect">
            <a:avLst/>
          </a:prstGeom>
          <a:noFill/>
          <a:ln/>
        </p:spPr>
        <p:txBody>
          <a:bodyPr wrap="square" lIns="0" tIns="0" rIns="0" bIns="0" rtlCol="0" anchor="ctr"/>
          <a:lstStyle/>
          <a:p>
            <a:pPr indent="0" marL="0">
              <a:buNone/>
            </a:pPr>
            <a:r>
              <a:rPr lang="en-US" sz="1100" b="1" spc="240" kern="0" dirty="0">
                <a:solidFill>
                  <a:srgbClr val="1B7FA6"/>
                </a:solidFill>
                <a:latin typeface="Calibri" pitchFamily="34" charset="0"/>
                <a:ea typeface="Calibri" pitchFamily="34" charset="-122"/>
                <a:cs typeface="Calibri" pitchFamily="34" charset="-120"/>
              </a:rPr>
              <a:t>PART 03 · INDICATIVE MINIMA BY CCT</a:t>
            </a:r>
            <a:endParaRPr lang="en-US" sz="1100" dirty="0"/>
          </a:p>
        </p:txBody>
      </p:sp>
      <p:sp>
        <p:nvSpPr>
          <p:cNvPr id="9" name="Text 7"/>
          <p:cNvSpPr txBox="1"/>
          <p:nvPr/>
        </p:nvSpPr>
        <p:spPr>
          <a:xfrm>
            <a:off x="457200" y="512064"/>
            <a:ext cx="11247120" cy="658368"/>
          </a:xfrm>
          <a:prstGeom prst="rect">
            <a:avLst/>
          </a:prstGeom>
          <a:noFill/>
          <a:ln/>
        </p:spPr>
        <p:txBody>
          <a:bodyPr wrap="square" lIns="0" tIns="0" rIns="0" bIns="0" rtlCol="0" anchor="ctr"/>
          <a:lstStyle/>
          <a:p>
            <a:pPr indent="0" marL="0">
              <a:buNone/>
            </a:pPr>
            <a:r>
              <a:rPr lang="en-US" sz="3000" b="1" dirty="0">
                <a:solidFill>
                  <a:srgbClr val="003087"/>
                </a:solidFill>
                <a:latin typeface="Calibri" pitchFamily="34" charset="0"/>
                <a:ea typeface="Calibri" pitchFamily="34" charset="-122"/>
                <a:cs typeface="Calibri" pitchFamily="34" charset="-120"/>
              </a:rPr>
              <a:t>The numbers by the end of IMS2</a:t>
            </a:r>
            <a:endParaRPr lang="en-US" sz="3000" dirty="0"/>
          </a:p>
        </p:txBody>
      </p:sp>
      <p:sp>
        <p:nvSpPr>
          <p:cNvPr id="10" name="Text 8"/>
          <p:cNvSpPr txBox="1"/>
          <p:nvPr/>
        </p:nvSpPr>
        <p:spPr>
          <a:xfrm>
            <a:off x="457200" y="1170432"/>
            <a:ext cx="11247120" cy="411480"/>
          </a:xfrm>
          <a:prstGeom prst="rect">
            <a:avLst/>
          </a:prstGeom>
          <a:noFill/>
          <a:ln/>
        </p:spPr>
        <p:txBody>
          <a:bodyPr wrap="square" lIns="0" tIns="0" rIns="0" bIns="0" rtlCol="0" anchor="t"/>
          <a:lstStyle/>
          <a:p>
            <a:pPr indent="0" marL="0">
              <a:buNone/>
            </a:pPr>
            <a:r>
              <a:rPr lang="en-US" sz="1200" i="1" dirty="0">
                <a:solidFill>
                  <a:srgbClr val="768692"/>
                </a:solidFill>
                <a:latin typeface="Calibri" pitchFamily="34" charset="0"/>
                <a:ea typeface="Calibri" pitchFamily="34" charset="-122"/>
                <a:cs typeface="Calibri" pitchFamily="34" charset="-120"/>
              </a:rPr>
              <a:t>These are indicative: panels judge holistically. Record them as you go — reconstructing a year of take numbers and clinic counts in June is where most portfolios come unstuck.</a:t>
            </a:r>
            <a:endParaRPr lang="en-US" sz="1200" dirty="0"/>
          </a:p>
        </p:txBody>
      </p:sp>
      <p:sp>
        <p:nvSpPr>
          <p:cNvPr id="11" name="Text 9"/>
          <p:cNvSpPr txBox="1"/>
          <p:nvPr/>
        </p:nvSpPr>
        <p:spPr>
          <a:xfrm>
            <a:off x="457200" y="6547104"/>
            <a:ext cx="7315200" cy="274320"/>
          </a:xfrm>
          <a:prstGeom prst="rect">
            <a:avLst/>
          </a:prstGeom>
          <a:noFill/>
          <a:ln/>
        </p:spPr>
        <p:txBody>
          <a:bodyPr wrap="square" lIns="0" tIns="0" rIns="0" bIns="0" rtlCol="0" anchor="ctr"/>
          <a:lstStyle/>
          <a:p>
            <a:pPr indent="0" marL="0">
              <a:buNone/>
            </a:pPr>
            <a:r>
              <a:rPr lang="en-US" sz="900" dirty="0">
                <a:solidFill>
                  <a:srgbClr val="768692"/>
                </a:solidFill>
                <a:latin typeface="Calibri" pitchFamily="34" charset="0"/>
                <a:ea typeface="Calibri" pitchFamily="34" charset="-122"/>
                <a:cs typeface="Calibri" pitchFamily="34" charset="-120"/>
              </a:rPr>
              <a:t>GIM ARCP · trainee guidance · </a:t>
            </a:r>
            <a:pPr indent="0" marL="0">
              <a:buNone/>
            </a:pPr>
            <a:r>
              <a:rPr lang="en-US" sz="900" b="1" dirty="0">
                <a:solidFill>
                  <a:srgbClr val="8A5E00"/>
                </a:solidFill>
                <a:latin typeface="Calibri" pitchFamily="34" charset="0"/>
                <a:ea typeface="Calibri" pitchFamily="34" charset="-122"/>
                <a:cs typeface="Calibri" pitchFamily="34" charset="-120"/>
              </a:rPr>
              <a:t>DRAFT</a:t>
            </a:r>
            <a:endParaRPr lang="en-US" sz="900" dirty="0"/>
          </a:p>
        </p:txBody>
      </p:sp>
      <p:sp>
        <p:nvSpPr>
          <p:cNvPr id="12" name="Text 10"/>
          <p:cNvSpPr txBox="1"/>
          <p:nvPr/>
        </p:nvSpPr>
        <p:spPr>
          <a:xfrm>
            <a:off x="11155680" y="6547104"/>
            <a:ext cx="548640" cy="274320"/>
          </a:xfrm>
          <a:prstGeom prst="rect">
            <a:avLst/>
          </a:prstGeom>
          <a:noFill/>
          <a:ln/>
        </p:spPr>
        <p:txBody>
          <a:bodyPr wrap="square" lIns="0" tIns="0" rIns="0" bIns="0" rtlCol="0" anchor="ctr"/>
          <a:lstStyle/>
          <a:p>
            <a:pPr algn="r" indent="0" marL="0">
              <a:buNone/>
            </a:pPr>
            <a:r>
              <a:rPr lang="en-US" sz="900" dirty="0">
                <a:solidFill>
                  <a:srgbClr val="768692"/>
                </a:solidFill>
                <a:latin typeface="Calibri" pitchFamily="34" charset="0"/>
                <a:ea typeface="Calibri" pitchFamily="34" charset="-122"/>
                <a:cs typeface="Calibri" pitchFamily="34" charset="-120"/>
              </a:rPr>
              <a:t>12</a:t>
            </a:r>
            <a:endParaRPr lang="en-US" sz="900" dirty="0"/>
          </a:p>
        </p:txBody>
      </p:sp>
      <p:sp>
        <p:nvSpPr>
          <p:cNvPr id="13" name="Shape 11"/>
          <p:cNvSpPr/>
          <p:nvPr/>
        </p:nvSpPr>
        <p:spPr>
          <a:xfrm>
            <a:off x="457200" y="1664208"/>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14" name="Shape 12"/>
          <p:cNvSpPr/>
          <p:nvPr/>
        </p:nvSpPr>
        <p:spPr>
          <a:xfrm>
            <a:off x="457200" y="1664208"/>
            <a:ext cx="73152" cy="2103120"/>
          </a:xfrm>
          <a:prstGeom prst="rect">
            <a:avLst/>
          </a:prstGeom>
          <a:solidFill>
            <a:srgbClr val="003087"/>
          </a:solidFill>
          <a:ln w="12700">
            <a:solidFill>
              <a:srgbClr val="003087"/>
            </a:solidFill>
            <a:prstDash val="solid"/>
          </a:ln>
        </p:spPr>
      </p:sp>
      <p:sp>
        <p:nvSpPr>
          <p:cNvPr id="15" name="Text 13"/>
          <p:cNvSpPr txBox="1"/>
          <p:nvPr/>
        </p:nvSpPr>
        <p:spPr>
          <a:xfrm>
            <a:off x="676656" y="1810512"/>
            <a:ext cx="3236976" cy="603504"/>
          </a:xfrm>
          <a:prstGeom prst="rect">
            <a:avLst/>
          </a:prstGeom>
          <a:noFill/>
          <a:ln/>
        </p:spPr>
        <p:txBody>
          <a:bodyPr wrap="square" lIns="0" tIns="0" rIns="0" bIns="0" rtlCol="0" anchor="ctr"/>
          <a:lstStyle/>
          <a:p>
            <a:pPr indent="0" marL="0">
              <a:buNone/>
            </a:pPr>
            <a:r>
              <a:rPr lang="en-US" sz="4000" b="1" dirty="0">
                <a:solidFill>
                  <a:srgbClr val="003087"/>
                </a:solidFill>
                <a:latin typeface="Calibri" pitchFamily="34" charset="0"/>
                <a:ea typeface="Calibri" pitchFamily="34" charset="-122"/>
                <a:cs typeface="Calibri" pitchFamily="34" charset="-120"/>
              </a:rPr>
              <a:t>750</a:t>
            </a:r>
            <a:pPr indent="0" marL="0">
              <a:buNone/>
            </a:pPr>
            <a:r>
              <a:rPr lang="en-US" sz="1400" b="1" dirty="0">
                <a:solidFill>
                  <a:srgbClr val="003087"/>
                </a:solidFill>
                <a:latin typeface="Calibri" pitchFamily="34" charset="0"/>
                <a:ea typeface="Calibri" pitchFamily="34" charset="-122"/>
                <a:cs typeface="Calibri" pitchFamily="34" charset="-120"/>
              </a:rPr>
              <a:t>  patients</a:t>
            </a:r>
            <a:endParaRPr lang="en-US" sz="4000" dirty="0"/>
          </a:p>
        </p:txBody>
      </p:sp>
      <p:sp>
        <p:nvSpPr>
          <p:cNvPr id="16" name="Text 14"/>
          <p:cNvSpPr txBox="1"/>
          <p:nvPr/>
        </p:nvSpPr>
        <p:spPr>
          <a:xfrm>
            <a:off x="676656" y="2450592"/>
            <a:ext cx="3236976" cy="420624"/>
          </a:xfrm>
          <a:prstGeom prst="rect">
            <a:avLst/>
          </a:prstGeom>
          <a:noFill/>
          <a:ln/>
        </p:spPr>
        <p:txBody>
          <a:bodyPr wrap="square" lIns="0" tIns="0" rIns="0" bIns="0" rtlCol="0" anchor="t"/>
          <a:lstStyle/>
          <a:p>
            <a:pPr indent="0" marL="0">
              <a:lnSpc>
                <a:spcPct val="98000"/>
              </a:lnSpc>
              <a:buNone/>
            </a:pPr>
            <a:r>
              <a:rPr lang="en-US" sz="1150" b="1" dirty="0">
                <a:solidFill>
                  <a:srgbClr val="003087"/>
                </a:solidFill>
                <a:latin typeface="Calibri" pitchFamily="34" charset="0"/>
                <a:ea typeface="Calibri" pitchFamily="34" charset="-122"/>
                <a:cs typeface="Calibri" pitchFamily="34" charset="-120"/>
              </a:rPr>
              <a:t>Unselected medical take</a:t>
            </a:r>
            <a:endParaRPr lang="en-US" sz="1150" dirty="0"/>
          </a:p>
        </p:txBody>
      </p:sp>
      <p:sp>
        <p:nvSpPr>
          <p:cNvPr id="17" name="Text 15"/>
          <p:cNvSpPr txBox="1"/>
          <p:nvPr/>
        </p:nvSpPr>
        <p:spPr>
          <a:xfrm>
            <a:off x="676656" y="2926080"/>
            <a:ext cx="3236976" cy="713232"/>
          </a:xfrm>
          <a:prstGeom prst="rect">
            <a:avLst/>
          </a:prstGeom>
          <a:noFill/>
          <a:ln/>
        </p:spPr>
        <p:txBody>
          <a:bodyPr wrap="square" lIns="0" tIns="0" rIns="0" bIns="0" rtlCol="0" anchor="t"/>
          <a:lstStyle/>
          <a:p>
            <a:pPr indent="0" marL="0">
              <a:lnSpc>
                <a:spcPct val="102000"/>
              </a:lnSpc>
              <a:buNone/>
            </a:pPr>
            <a:r>
              <a:rPr lang="en-US" sz="1000" dirty="0">
                <a:solidFill>
                  <a:srgbClr val="212B32"/>
                </a:solidFill>
                <a:latin typeface="Calibri" pitchFamily="34" charset="0"/>
                <a:ea typeface="Calibri" pitchFamily="34" charset="-122"/>
                <a:cs typeface="Calibri" pitchFamily="34" charset="-120"/>
              </a:rPr>
              <a:t>Active involvement in the care of patients presenting with acute medical problems.</a:t>
            </a:r>
            <a:endParaRPr lang="en-US" sz="1000" dirty="0"/>
          </a:p>
          <a:p>
            <a:pPr indent="0" marL="0">
              <a:lnSpc>
                <a:spcPct val="102000"/>
              </a:lnSpc>
              <a:buNone/>
            </a:pPr>
            <a:r>
              <a:rPr lang="en-US" sz="1000" dirty="0">
                <a:solidFill>
                  <a:srgbClr val="212B32"/>
                </a:solidFill>
                <a:latin typeface="Calibri" pitchFamily="34" charset="0"/>
                <a:ea typeface="Calibri" pitchFamily="34" charset="-122"/>
                <a:cs typeface="Calibri" pitchFamily="34" charset="-120"/>
              </a:rPr>
              <a:t>100 of them in your final year.</a:t>
            </a:r>
            <a:endParaRPr lang="en-US" sz="1000" dirty="0"/>
          </a:p>
        </p:txBody>
      </p:sp>
      <p:sp>
        <p:nvSpPr>
          <p:cNvPr id="18" name="Shape 16"/>
          <p:cNvSpPr/>
          <p:nvPr/>
        </p:nvSpPr>
        <p:spPr>
          <a:xfrm>
            <a:off x="4251960" y="1664208"/>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19" name="Shape 17"/>
          <p:cNvSpPr/>
          <p:nvPr/>
        </p:nvSpPr>
        <p:spPr>
          <a:xfrm>
            <a:off x="4251960" y="1664208"/>
            <a:ext cx="73152" cy="2103120"/>
          </a:xfrm>
          <a:prstGeom prst="rect">
            <a:avLst/>
          </a:prstGeom>
          <a:solidFill>
            <a:srgbClr val="0072CE"/>
          </a:solidFill>
          <a:ln w="12700">
            <a:solidFill>
              <a:srgbClr val="0072CE"/>
            </a:solidFill>
            <a:prstDash val="solid"/>
          </a:ln>
        </p:spPr>
      </p:sp>
      <p:sp>
        <p:nvSpPr>
          <p:cNvPr id="20" name="Text 18"/>
          <p:cNvSpPr txBox="1"/>
          <p:nvPr/>
        </p:nvSpPr>
        <p:spPr>
          <a:xfrm>
            <a:off x="4471416" y="1810512"/>
            <a:ext cx="3236976" cy="603504"/>
          </a:xfrm>
          <a:prstGeom prst="rect">
            <a:avLst/>
          </a:prstGeom>
          <a:noFill/>
          <a:ln/>
        </p:spPr>
        <p:txBody>
          <a:bodyPr wrap="square" lIns="0" tIns="0" rIns="0" bIns="0" rtlCol="0" anchor="ctr"/>
          <a:lstStyle/>
          <a:p>
            <a:pPr indent="0" marL="0">
              <a:buNone/>
            </a:pPr>
            <a:r>
              <a:rPr lang="en-US" sz="4000" b="1" dirty="0">
                <a:solidFill>
                  <a:srgbClr val="0072CE"/>
                </a:solidFill>
                <a:latin typeface="Calibri" pitchFamily="34" charset="0"/>
                <a:ea typeface="Calibri" pitchFamily="34" charset="-122"/>
                <a:cs typeface="Calibri" pitchFamily="34" charset="-120"/>
              </a:rPr>
              <a:t>20</a:t>
            </a:r>
            <a:pPr indent="0" marL="0">
              <a:buNone/>
            </a:pPr>
            <a:r>
              <a:rPr lang="en-US" sz="1400" b="1" dirty="0">
                <a:solidFill>
                  <a:srgbClr val="0072CE"/>
                </a:solidFill>
                <a:latin typeface="Calibri" pitchFamily="34" charset="0"/>
                <a:ea typeface="Calibri" pitchFamily="34" charset="-122"/>
                <a:cs typeface="Calibri" pitchFamily="34" charset="-120"/>
              </a:rPr>
              <a:t>  clinics</a:t>
            </a:r>
            <a:endParaRPr lang="en-US" sz="4000" dirty="0"/>
          </a:p>
        </p:txBody>
      </p:sp>
      <p:sp>
        <p:nvSpPr>
          <p:cNvPr id="21" name="Text 19"/>
          <p:cNvSpPr txBox="1"/>
          <p:nvPr/>
        </p:nvSpPr>
        <p:spPr>
          <a:xfrm>
            <a:off x="4471416" y="2450592"/>
            <a:ext cx="3236976" cy="420624"/>
          </a:xfrm>
          <a:prstGeom prst="rect">
            <a:avLst/>
          </a:prstGeom>
          <a:noFill/>
          <a:ln/>
        </p:spPr>
        <p:txBody>
          <a:bodyPr wrap="square" lIns="0" tIns="0" rIns="0" bIns="0" rtlCol="0" anchor="t"/>
          <a:lstStyle/>
          <a:p>
            <a:pPr indent="0" marL="0">
              <a:lnSpc>
                <a:spcPct val="98000"/>
              </a:lnSpc>
              <a:buNone/>
            </a:pPr>
            <a:r>
              <a:rPr lang="en-US" sz="1150" b="1" dirty="0">
                <a:solidFill>
                  <a:srgbClr val="003087"/>
                </a:solidFill>
                <a:latin typeface="Calibri" pitchFamily="34" charset="0"/>
                <a:ea typeface="Calibri" pitchFamily="34" charset="-122"/>
                <a:cs typeface="Calibri" pitchFamily="34" charset="-120"/>
              </a:rPr>
              <a:t>Outpatients in other specialties</a:t>
            </a:r>
            <a:endParaRPr lang="en-US" sz="1150" dirty="0"/>
          </a:p>
        </p:txBody>
      </p:sp>
      <p:sp>
        <p:nvSpPr>
          <p:cNvPr id="22" name="Text 20"/>
          <p:cNvSpPr txBox="1"/>
          <p:nvPr/>
        </p:nvSpPr>
        <p:spPr>
          <a:xfrm>
            <a:off x="4471416" y="2926080"/>
            <a:ext cx="3236976" cy="713232"/>
          </a:xfrm>
          <a:prstGeom prst="rect">
            <a:avLst/>
          </a:prstGeom>
          <a:noFill/>
          <a:ln/>
        </p:spPr>
        <p:txBody>
          <a:bodyPr wrap="square" lIns="0" tIns="0" rIns="0" bIns="0" rtlCol="0" anchor="t"/>
          <a:lstStyle/>
          <a:p>
            <a:pPr indent="0" marL="0">
              <a:lnSpc>
                <a:spcPct val="102000"/>
              </a:lnSpc>
              <a:buNone/>
            </a:pPr>
            <a:r>
              <a:rPr lang="en-US" sz="1000" dirty="0">
                <a:solidFill>
                  <a:srgbClr val="212B32"/>
                </a:solidFill>
                <a:latin typeface="Calibri" pitchFamily="34" charset="0"/>
                <a:ea typeface="Calibri" pitchFamily="34" charset="-122"/>
                <a:cs typeface="Calibri" pitchFamily="34" charset="-120"/>
              </a:rPr>
              <a:t>Clinics in specialties other than your own. Community experience and virtual clinics count; SDEC does not.</a:t>
            </a:r>
            <a:endParaRPr lang="en-US" sz="1000" dirty="0"/>
          </a:p>
        </p:txBody>
      </p:sp>
      <p:sp>
        <p:nvSpPr>
          <p:cNvPr id="23" name="Shape 21"/>
          <p:cNvSpPr/>
          <p:nvPr/>
        </p:nvSpPr>
        <p:spPr>
          <a:xfrm>
            <a:off x="8046720" y="1664208"/>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24" name="Shape 22"/>
          <p:cNvSpPr/>
          <p:nvPr/>
        </p:nvSpPr>
        <p:spPr>
          <a:xfrm>
            <a:off x="8046720" y="1664208"/>
            <a:ext cx="73152" cy="2103120"/>
          </a:xfrm>
          <a:prstGeom prst="rect">
            <a:avLst/>
          </a:prstGeom>
          <a:solidFill>
            <a:srgbClr val="41B6E6"/>
          </a:solidFill>
          <a:ln w="12700">
            <a:solidFill>
              <a:srgbClr val="41B6E6"/>
            </a:solidFill>
            <a:prstDash val="solid"/>
          </a:ln>
        </p:spPr>
      </p:sp>
      <p:sp>
        <p:nvSpPr>
          <p:cNvPr id="25" name="Text 23"/>
          <p:cNvSpPr txBox="1"/>
          <p:nvPr/>
        </p:nvSpPr>
        <p:spPr>
          <a:xfrm>
            <a:off x="8266176" y="1810512"/>
            <a:ext cx="3236976" cy="603504"/>
          </a:xfrm>
          <a:prstGeom prst="rect">
            <a:avLst/>
          </a:prstGeom>
          <a:noFill/>
          <a:ln/>
        </p:spPr>
        <p:txBody>
          <a:bodyPr wrap="square" lIns="0" tIns="0" rIns="0" bIns="0" rtlCol="0" anchor="ctr"/>
          <a:lstStyle/>
          <a:p>
            <a:pPr indent="0" marL="0">
              <a:buNone/>
            </a:pPr>
            <a:r>
              <a:rPr lang="en-US" sz="4000" b="1" dirty="0">
                <a:solidFill>
                  <a:srgbClr val="1B7FA6"/>
                </a:solidFill>
                <a:latin typeface="Calibri" pitchFamily="34" charset="0"/>
                <a:ea typeface="Calibri" pitchFamily="34" charset="-122"/>
                <a:cs typeface="Calibri" pitchFamily="34" charset="-120"/>
              </a:rPr>
              <a:t>12</a:t>
            </a:r>
            <a:pPr indent="0" marL="0">
              <a:buNone/>
            </a:pPr>
            <a:r>
              <a:rPr lang="en-US" sz="1400" b="1" dirty="0">
                <a:solidFill>
                  <a:srgbClr val="1B7FA6"/>
                </a:solidFill>
                <a:latin typeface="Calibri" pitchFamily="34" charset="0"/>
                <a:ea typeface="Calibri" pitchFamily="34" charset="-122"/>
                <a:cs typeface="Calibri" pitchFamily="34" charset="-120"/>
              </a:rPr>
              <a:t>  months</a:t>
            </a:r>
            <a:endParaRPr lang="en-US" sz="4000" dirty="0"/>
          </a:p>
        </p:txBody>
      </p:sp>
      <p:sp>
        <p:nvSpPr>
          <p:cNvPr id="26" name="Text 24"/>
          <p:cNvSpPr txBox="1"/>
          <p:nvPr/>
        </p:nvSpPr>
        <p:spPr>
          <a:xfrm>
            <a:off x="8266176" y="2450592"/>
            <a:ext cx="3236976" cy="420624"/>
          </a:xfrm>
          <a:prstGeom prst="rect">
            <a:avLst/>
          </a:prstGeom>
          <a:noFill/>
          <a:ln/>
        </p:spPr>
        <p:txBody>
          <a:bodyPr wrap="square" lIns="0" tIns="0" rIns="0" bIns="0" rtlCol="0" anchor="t"/>
          <a:lstStyle/>
          <a:p>
            <a:pPr indent="0" marL="0">
              <a:lnSpc>
                <a:spcPct val="98000"/>
              </a:lnSpc>
              <a:buNone/>
            </a:pPr>
            <a:r>
              <a:rPr lang="en-US" sz="1150" b="1" dirty="0">
                <a:solidFill>
                  <a:srgbClr val="003087"/>
                </a:solidFill>
                <a:latin typeface="Calibri" pitchFamily="34" charset="0"/>
                <a:ea typeface="Calibri" pitchFamily="34" charset="-122"/>
                <a:cs typeface="Calibri" pitchFamily="34" charset="-120"/>
              </a:rPr>
              <a:t>Continuing ward care</a:t>
            </a:r>
            <a:endParaRPr lang="en-US" sz="1150" dirty="0"/>
          </a:p>
        </p:txBody>
      </p:sp>
      <p:sp>
        <p:nvSpPr>
          <p:cNvPr id="27" name="Text 25"/>
          <p:cNvSpPr txBox="1"/>
          <p:nvPr/>
        </p:nvSpPr>
        <p:spPr>
          <a:xfrm>
            <a:off x="8266176" y="2926080"/>
            <a:ext cx="3236976" cy="713232"/>
          </a:xfrm>
          <a:prstGeom prst="rect">
            <a:avLst/>
          </a:prstGeom>
          <a:noFill/>
          <a:ln/>
        </p:spPr>
        <p:txBody>
          <a:bodyPr wrap="square" lIns="0" tIns="0" rIns="0" bIns="0" rtlCol="0" anchor="t"/>
          <a:lstStyle/>
          <a:p>
            <a:pPr indent="0" marL="0">
              <a:lnSpc>
                <a:spcPct val="102000"/>
              </a:lnSpc>
              <a:buNone/>
            </a:pPr>
            <a:r>
              <a:rPr lang="en-US" sz="1000" dirty="0">
                <a:solidFill>
                  <a:srgbClr val="212B32"/>
                </a:solidFill>
                <a:latin typeface="Calibri" pitchFamily="34" charset="0"/>
                <a:ea typeface="Calibri" pitchFamily="34" charset="-122"/>
                <a:cs typeface="Calibri" pitchFamily="34" charset="-120"/>
              </a:rPr>
              <a:t>Continuing care of patients admitted with acute medical problems. Attachments should be four weeks or longer — shorter ones do not count.</a:t>
            </a:r>
            <a:endParaRPr lang="en-US" sz="1000" dirty="0"/>
          </a:p>
        </p:txBody>
      </p:sp>
      <p:sp>
        <p:nvSpPr>
          <p:cNvPr id="28" name="Shape 26"/>
          <p:cNvSpPr/>
          <p:nvPr/>
        </p:nvSpPr>
        <p:spPr>
          <a:xfrm>
            <a:off x="457200" y="3895344"/>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29" name="Shape 27"/>
          <p:cNvSpPr/>
          <p:nvPr/>
        </p:nvSpPr>
        <p:spPr>
          <a:xfrm>
            <a:off x="457200" y="3895344"/>
            <a:ext cx="73152" cy="2103120"/>
          </a:xfrm>
          <a:prstGeom prst="rect">
            <a:avLst/>
          </a:prstGeom>
          <a:solidFill>
            <a:srgbClr val="009639"/>
          </a:solidFill>
          <a:ln w="12700">
            <a:solidFill>
              <a:srgbClr val="009639"/>
            </a:solidFill>
            <a:prstDash val="solid"/>
          </a:ln>
        </p:spPr>
      </p:sp>
      <p:sp>
        <p:nvSpPr>
          <p:cNvPr id="30" name="Text 28"/>
          <p:cNvSpPr txBox="1"/>
          <p:nvPr/>
        </p:nvSpPr>
        <p:spPr>
          <a:xfrm>
            <a:off x="676656" y="4041648"/>
            <a:ext cx="3236976" cy="603504"/>
          </a:xfrm>
          <a:prstGeom prst="rect">
            <a:avLst/>
          </a:prstGeom>
          <a:noFill/>
          <a:ln/>
        </p:spPr>
        <p:txBody>
          <a:bodyPr wrap="square" lIns="0" tIns="0" rIns="0" bIns="0" rtlCol="0" anchor="ctr"/>
          <a:lstStyle/>
          <a:p>
            <a:pPr indent="0" marL="0">
              <a:buNone/>
            </a:pPr>
            <a:r>
              <a:rPr lang="en-US" sz="4000" b="1" dirty="0">
                <a:solidFill>
                  <a:srgbClr val="009639"/>
                </a:solidFill>
                <a:latin typeface="Calibri" pitchFamily="34" charset="0"/>
                <a:ea typeface="Calibri" pitchFamily="34" charset="-122"/>
                <a:cs typeface="Calibri" pitchFamily="34" charset="-120"/>
              </a:rPr>
              <a:t>12</a:t>
            </a:r>
            <a:pPr indent="0" marL="0">
              <a:buNone/>
            </a:pPr>
            <a:r>
              <a:rPr lang="en-US" sz="1400" b="1" dirty="0">
                <a:solidFill>
                  <a:srgbClr val="009639"/>
                </a:solidFill>
                <a:latin typeface="Calibri" pitchFamily="34" charset="0"/>
                <a:ea typeface="Calibri" pitchFamily="34" charset="-122"/>
                <a:cs typeface="Calibri" pitchFamily="34" charset="-120"/>
              </a:rPr>
              <a:t>  hours</a:t>
            </a:r>
            <a:endParaRPr lang="en-US" sz="4000" dirty="0"/>
          </a:p>
        </p:txBody>
      </p:sp>
      <p:sp>
        <p:nvSpPr>
          <p:cNvPr id="31" name="Text 29"/>
          <p:cNvSpPr txBox="1"/>
          <p:nvPr/>
        </p:nvSpPr>
        <p:spPr>
          <a:xfrm>
            <a:off x="676656" y="4681728"/>
            <a:ext cx="3236976" cy="420624"/>
          </a:xfrm>
          <a:prstGeom prst="rect">
            <a:avLst/>
          </a:prstGeom>
          <a:noFill/>
          <a:ln/>
        </p:spPr>
        <p:txBody>
          <a:bodyPr wrap="square" lIns="0" tIns="0" rIns="0" bIns="0" rtlCol="0" anchor="t"/>
          <a:lstStyle/>
          <a:p>
            <a:pPr indent="0" marL="0">
              <a:lnSpc>
                <a:spcPct val="98000"/>
              </a:lnSpc>
              <a:buNone/>
            </a:pPr>
            <a:r>
              <a:rPr lang="en-US" sz="1150" b="1" dirty="0">
                <a:solidFill>
                  <a:srgbClr val="003087"/>
                </a:solidFill>
                <a:latin typeface="Calibri" pitchFamily="34" charset="0"/>
                <a:ea typeface="Calibri" pitchFamily="34" charset="-122"/>
                <a:cs typeface="Calibri" pitchFamily="34" charset="-120"/>
              </a:rPr>
              <a:t>Simulation</a:t>
            </a:r>
            <a:endParaRPr lang="en-US" sz="1150" dirty="0"/>
          </a:p>
        </p:txBody>
      </p:sp>
      <p:sp>
        <p:nvSpPr>
          <p:cNvPr id="32" name="Text 30"/>
          <p:cNvSpPr txBox="1"/>
          <p:nvPr/>
        </p:nvSpPr>
        <p:spPr>
          <a:xfrm>
            <a:off x="676656" y="5157216"/>
            <a:ext cx="3236976" cy="713232"/>
          </a:xfrm>
          <a:prstGeom prst="rect">
            <a:avLst/>
          </a:prstGeom>
          <a:noFill/>
          <a:ln/>
        </p:spPr>
        <p:txBody>
          <a:bodyPr wrap="square" lIns="0" tIns="0" rIns="0" bIns="0" rtlCol="0" anchor="t"/>
          <a:lstStyle/>
          <a:p>
            <a:pPr indent="0" marL="0">
              <a:lnSpc>
                <a:spcPct val="102000"/>
              </a:lnSpc>
              <a:buNone/>
            </a:pPr>
            <a:r>
              <a:rPr lang="en-US" sz="1000" dirty="0">
                <a:solidFill>
                  <a:srgbClr val="212B32"/>
                </a:solidFill>
                <a:latin typeface="Calibri" pitchFamily="34" charset="0"/>
                <a:ea typeface="Calibri" pitchFamily="34" charset="-122"/>
                <a:cs typeface="Calibri" pitchFamily="34" charset="-120"/>
              </a:rPr>
              <a:t>Including recognition of human factors in interactions.</a:t>
            </a:r>
            <a:endParaRPr lang="en-US" sz="1000" dirty="0"/>
          </a:p>
          <a:p>
            <a:pPr indent="0" marL="0">
              <a:lnSpc>
                <a:spcPct val="102000"/>
              </a:lnSpc>
              <a:buNone/>
            </a:pPr>
            <a:r>
              <a:rPr lang="en-US" sz="1000" dirty="0">
                <a:solidFill>
                  <a:srgbClr val="212B32"/>
                </a:solidFill>
                <a:latin typeface="Calibri" pitchFamily="34" charset="0"/>
                <a:ea typeface="Calibri" pitchFamily="34" charset="-122"/>
                <a:cs typeface="Calibri" pitchFamily="34" charset="-120"/>
              </a:rPr>
              <a:t>4 of those hours in the final year.</a:t>
            </a:r>
            <a:endParaRPr lang="en-US" sz="1000" dirty="0"/>
          </a:p>
          <a:p>
            <a:pPr indent="0" marL="0">
              <a:lnSpc>
                <a:spcPct val="102000"/>
              </a:lnSpc>
              <a:buNone/>
            </a:pPr>
            <a:r>
              <a:rPr lang="en-US" sz="1000" dirty="0">
                <a:solidFill>
                  <a:srgbClr val="212B32"/>
                </a:solidFill>
                <a:latin typeface="Calibri" pitchFamily="34" charset="0"/>
                <a:ea typeface="Calibri" pitchFamily="34" charset="-122"/>
                <a:cs typeface="Calibri" pitchFamily="34" charset="-120"/>
              </a:rPr>
              <a:t>Currently provided regionally. Trusts are expected to deliver it in house, to improve access and the experience.</a:t>
            </a:r>
            <a:endParaRPr lang="en-US" sz="1000" dirty="0"/>
          </a:p>
        </p:txBody>
      </p:sp>
      <p:sp>
        <p:nvSpPr>
          <p:cNvPr id="33" name="Shape 31"/>
          <p:cNvSpPr/>
          <p:nvPr/>
        </p:nvSpPr>
        <p:spPr>
          <a:xfrm>
            <a:off x="4251960" y="3895344"/>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34" name="Shape 32"/>
          <p:cNvSpPr/>
          <p:nvPr/>
        </p:nvSpPr>
        <p:spPr>
          <a:xfrm>
            <a:off x="4251960" y="3895344"/>
            <a:ext cx="73152" cy="2103120"/>
          </a:xfrm>
          <a:prstGeom prst="rect">
            <a:avLst/>
          </a:prstGeom>
          <a:solidFill>
            <a:srgbClr val="FFB81C"/>
          </a:solidFill>
          <a:ln w="12700">
            <a:solidFill>
              <a:srgbClr val="FFB81C"/>
            </a:solidFill>
            <a:prstDash val="solid"/>
          </a:ln>
        </p:spPr>
      </p:sp>
      <p:sp>
        <p:nvSpPr>
          <p:cNvPr id="35" name="Text 33"/>
          <p:cNvSpPr txBox="1"/>
          <p:nvPr/>
        </p:nvSpPr>
        <p:spPr>
          <a:xfrm>
            <a:off x="4471416" y="4041648"/>
            <a:ext cx="3236976" cy="603504"/>
          </a:xfrm>
          <a:prstGeom prst="rect">
            <a:avLst/>
          </a:prstGeom>
          <a:noFill/>
          <a:ln/>
        </p:spPr>
        <p:txBody>
          <a:bodyPr wrap="square" lIns="0" tIns="0" rIns="0" bIns="0" rtlCol="0" anchor="ctr"/>
          <a:lstStyle/>
          <a:p>
            <a:pPr indent="0" marL="0">
              <a:buNone/>
            </a:pPr>
            <a:r>
              <a:rPr lang="en-US" sz="4000" b="1" dirty="0">
                <a:solidFill>
                  <a:srgbClr val="8A5E00"/>
                </a:solidFill>
                <a:latin typeface="Calibri" pitchFamily="34" charset="0"/>
                <a:ea typeface="Calibri" pitchFamily="34" charset="-122"/>
                <a:cs typeface="Calibri" pitchFamily="34" charset="-120"/>
              </a:rPr>
              <a:t>75</a:t>
            </a:r>
            <a:pPr indent="0" marL="0">
              <a:buNone/>
            </a:pPr>
            <a:r>
              <a:rPr lang="en-US" sz="1400" b="1" dirty="0">
                <a:solidFill>
                  <a:srgbClr val="8A5E00"/>
                </a:solidFill>
                <a:latin typeface="Calibri" pitchFamily="34" charset="0"/>
                <a:ea typeface="Calibri" pitchFamily="34" charset="-122"/>
                <a:cs typeface="Calibri" pitchFamily="34" charset="-120"/>
              </a:rPr>
              <a:t>  hours</a:t>
            </a:r>
            <a:endParaRPr lang="en-US" sz="4000" dirty="0"/>
          </a:p>
        </p:txBody>
      </p:sp>
      <p:sp>
        <p:nvSpPr>
          <p:cNvPr id="36" name="Text 34"/>
          <p:cNvSpPr txBox="1"/>
          <p:nvPr/>
        </p:nvSpPr>
        <p:spPr>
          <a:xfrm>
            <a:off x="4471416" y="4681728"/>
            <a:ext cx="3236976" cy="420624"/>
          </a:xfrm>
          <a:prstGeom prst="rect">
            <a:avLst/>
          </a:prstGeom>
          <a:noFill/>
          <a:ln/>
        </p:spPr>
        <p:txBody>
          <a:bodyPr wrap="square" lIns="0" tIns="0" rIns="0" bIns="0" rtlCol="0" anchor="t"/>
          <a:lstStyle/>
          <a:p>
            <a:pPr indent="0" marL="0">
              <a:lnSpc>
                <a:spcPct val="98000"/>
              </a:lnSpc>
              <a:buNone/>
            </a:pPr>
            <a:r>
              <a:rPr lang="en-US" sz="1150" b="1" dirty="0">
                <a:solidFill>
                  <a:srgbClr val="003087"/>
                </a:solidFill>
                <a:latin typeface="Calibri" pitchFamily="34" charset="0"/>
                <a:ea typeface="Calibri" pitchFamily="34" charset="-122"/>
                <a:cs typeface="Calibri" pitchFamily="34" charset="-120"/>
              </a:rPr>
              <a:t>Recognised IM study leave</a:t>
            </a:r>
            <a:endParaRPr lang="en-US" sz="1150" dirty="0"/>
          </a:p>
        </p:txBody>
      </p:sp>
      <p:sp>
        <p:nvSpPr>
          <p:cNvPr id="37" name="Text 35"/>
          <p:cNvSpPr txBox="1"/>
          <p:nvPr/>
        </p:nvSpPr>
        <p:spPr>
          <a:xfrm>
            <a:off x="4471416" y="5157216"/>
            <a:ext cx="3236976" cy="713232"/>
          </a:xfrm>
          <a:prstGeom prst="rect">
            <a:avLst/>
          </a:prstGeom>
          <a:noFill/>
          <a:ln/>
        </p:spPr>
        <p:txBody>
          <a:bodyPr wrap="square" lIns="0" tIns="0" rIns="0" bIns="0" rtlCol="0" anchor="t"/>
          <a:lstStyle/>
          <a:p>
            <a:pPr indent="0" marL="0">
              <a:lnSpc>
                <a:spcPct val="102000"/>
              </a:lnSpc>
              <a:buNone/>
            </a:pPr>
            <a:r>
              <a:rPr lang="en-US" sz="1000" dirty="0">
                <a:solidFill>
                  <a:srgbClr val="212B32"/>
                </a:solidFill>
                <a:latin typeface="Calibri" pitchFamily="34" charset="0"/>
                <a:ea typeface="Calibri" pitchFamily="34" charset="-122"/>
                <a:cs typeface="Calibri" pitchFamily="34" charset="-120"/>
              </a:rPr>
              <a:t>CPD-accredited or deanery organised.</a:t>
            </a:r>
            <a:endParaRPr lang="en-US" sz="1000" dirty="0"/>
          </a:p>
          <a:p>
            <a:pPr indent="0" marL="0">
              <a:lnSpc>
                <a:spcPct val="102000"/>
              </a:lnSpc>
              <a:buNone/>
            </a:pPr>
            <a:r>
              <a:rPr lang="en-US" sz="1000" dirty="0">
                <a:solidFill>
                  <a:srgbClr val="212B32"/>
                </a:solidFill>
                <a:latin typeface="Calibri" pitchFamily="34" charset="0"/>
                <a:ea typeface="Calibri" pitchFamily="34" charset="-122"/>
                <a:cs typeface="Calibri" pitchFamily="34" charset="-120"/>
              </a:rPr>
              <a:t>20 of those hours in the final year.</a:t>
            </a:r>
            <a:endParaRPr lang="en-US" sz="1000" dirty="0"/>
          </a:p>
        </p:txBody>
      </p:sp>
      <p:sp>
        <p:nvSpPr>
          <p:cNvPr id="38" name="Shape 36"/>
          <p:cNvSpPr/>
          <p:nvPr/>
        </p:nvSpPr>
        <p:spPr>
          <a:xfrm>
            <a:off x="8046720" y="3895344"/>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39" name="Shape 37"/>
          <p:cNvSpPr/>
          <p:nvPr/>
        </p:nvSpPr>
        <p:spPr>
          <a:xfrm>
            <a:off x="8046720" y="3895344"/>
            <a:ext cx="73152" cy="2103120"/>
          </a:xfrm>
          <a:prstGeom prst="rect">
            <a:avLst/>
          </a:prstGeom>
          <a:solidFill>
            <a:srgbClr val="330072"/>
          </a:solidFill>
          <a:ln w="12700">
            <a:solidFill>
              <a:srgbClr val="330072"/>
            </a:solidFill>
            <a:prstDash val="solid"/>
          </a:ln>
        </p:spPr>
      </p:sp>
      <p:sp>
        <p:nvSpPr>
          <p:cNvPr id="40" name="Text 38"/>
          <p:cNvSpPr txBox="1"/>
          <p:nvPr/>
        </p:nvSpPr>
        <p:spPr>
          <a:xfrm>
            <a:off x="8266176" y="4041648"/>
            <a:ext cx="3236976" cy="603504"/>
          </a:xfrm>
          <a:prstGeom prst="rect">
            <a:avLst/>
          </a:prstGeom>
          <a:noFill/>
          <a:ln/>
        </p:spPr>
        <p:txBody>
          <a:bodyPr wrap="square" lIns="0" tIns="0" rIns="0" bIns="0" rtlCol="0" anchor="ctr"/>
          <a:lstStyle/>
          <a:p>
            <a:pPr indent="0" marL="0">
              <a:buNone/>
            </a:pPr>
            <a:r>
              <a:rPr lang="en-US" sz="4000" b="1" dirty="0">
                <a:solidFill>
                  <a:srgbClr val="330072"/>
                </a:solidFill>
                <a:latin typeface="Calibri" pitchFamily="34" charset="0"/>
                <a:ea typeface="Calibri" pitchFamily="34" charset="-122"/>
                <a:cs typeface="Calibri" pitchFamily="34" charset="-120"/>
              </a:rPr>
              <a:t>×1</a:t>
            </a:r>
            <a:pPr indent="0" marL="0">
              <a:buNone/>
            </a:pPr>
            <a:r>
              <a:rPr lang="en-US" sz="1400" b="1" dirty="0">
                <a:solidFill>
                  <a:srgbClr val="330072"/>
                </a:solidFill>
                <a:latin typeface="Calibri" pitchFamily="34" charset="0"/>
                <a:ea typeface="Calibri" pitchFamily="34" charset="-122"/>
                <a:cs typeface="Calibri" pitchFamily="34" charset="-120"/>
              </a:rPr>
              <a:t>  each</a:t>
            </a:r>
            <a:endParaRPr lang="en-US" sz="4000" dirty="0"/>
          </a:p>
        </p:txBody>
      </p:sp>
      <p:sp>
        <p:nvSpPr>
          <p:cNvPr id="41" name="Text 39"/>
          <p:cNvSpPr txBox="1"/>
          <p:nvPr/>
        </p:nvSpPr>
        <p:spPr>
          <a:xfrm>
            <a:off x="8266176" y="4681728"/>
            <a:ext cx="3236976" cy="420624"/>
          </a:xfrm>
          <a:prstGeom prst="rect">
            <a:avLst/>
          </a:prstGeom>
          <a:noFill/>
          <a:ln/>
        </p:spPr>
        <p:txBody>
          <a:bodyPr wrap="square" lIns="0" tIns="0" rIns="0" bIns="0" rtlCol="0" anchor="t"/>
          <a:lstStyle/>
          <a:p>
            <a:pPr indent="0" marL="0">
              <a:lnSpc>
                <a:spcPct val="98000"/>
              </a:lnSpc>
              <a:buNone/>
            </a:pPr>
            <a:r>
              <a:rPr lang="en-US" sz="1150" b="1" dirty="0">
                <a:solidFill>
                  <a:srgbClr val="003087"/>
                </a:solidFill>
                <a:latin typeface="Calibri" pitchFamily="34" charset="0"/>
                <a:ea typeface="Calibri" pitchFamily="34" charset="-122"/>
                <a:cs typeface="Calibri" pitchFamily="34" charset="-120"/>
              </a:rPr>
              <a:t>QI project · patient survey · teaching observation</a:t>
            </a:r>
            <a:endParaRPr lang="en-US" sz="1150" dirty="0"/>
          </a:p>
        </p:txBody>
      </p:sp>
      <p:sp>
        <p:nvSpPr>
          <p:cNvPr id="42" name="Text 40"/>
          <p:cNvSpPr txBox="1"/>
          <p:nvPr/>
        </p:nvSpPr>
        <p:spPr>
          <a:xfrm>
            <a:off x="8266176" y="5157216"/>
            <a:ext cx="3236976" cy="713232"/>
          </a:xfrm>
          <a:prstGeom prst="rect">
            <a:avLst/>
          </a:prstGeom>
          <a:noFill/>
          <a:ln/>
        </p:spPr>
        <p:txBody>
          <a:bodyPr wrap="square" lIns="0" tIns="0" rIns="0" bIns="0" rtlCol="0" anchor="t"/>
          <a:lstStyle/>
          <a:p>
            <a:pPr indent="0" marL="0">
              <a:lnSpc>
                <a:spcPct val="102000"/>
              </a:lnSpc>
              <a:buNone/>
            </a:pPr>
            <a:r>
              <a:rPr lang="en-US" sz="1000" dirty="0">
                <a:solidFill>
                  <a:srgbClr val="212B32"/>
                </a:solidFill>
                <a:latin typeface="Calibri" pitchFamily="34" charset="0"/>
                <a:ea typeface="Calibri" pitchFamily="34" charset="-122"/>
                <a:cs typeface="Calibri" pitchFamily="34" charset="-120"/>
              </a:rPr>
              <a:t>At least one of each across IMS2. The QI project is assessed with QIPAT or equivalent.</a:t>
            </a:r>
            <a:endParaRPr lang="en-US" sz="1000" dirty="0"/>
          </a:p>
        </p:txBody>
      </p:sp>
      <p:sp>
        <p:nvSpPr>
          <p:cNvPr id="43" name="Shape 41"/>
          <p:cNvSpPr/>
          <p:nvPr/>
        </p:nvSpPr>
        <p:spPr>
          <a:xfrm>
            <a:off x="457200" y="6071616"/>
            <a:ext cx="11247120" cy="438912"/>
          </a:xfrm>
          <a:prstGeom prst="rect">
            <a:avLst/>
          </a:prstGeom>
          <a:solidFill>
            <a:srgbClr val="F0F4F5"/>
          </a:solidFill>
          <a:ln w="12700">
            <a:solidFill>
              <a:srgbClr val="F0F4F5"/>
            </a:solidFill>
            <a:prstDash val="solid"/>
          </a:ln>
        </p:spPr>
      </p:sp>
      <p:sp>
        <p:nvSpPr>
          <p:cNvPr id="44" name="Shape 42"/>
          <p:cNvSpPr/>
          <p:nvPr/>
        </p:nvSpPr>
        <p:spPr>
          <a:xfrm>
            <a:off x="457200" y="6071616"/>
            <a:ext cx="73152" cy="438912"/>
          </a:xfrm>
          <a:prstGeom prst="rect">
            <a:avLst/>
          </a:prstGeom>
          <a:solidFill>
            <a:srgbClr val="FFB81C"/>
          </a:solidFill>
          <a:ln w="12700">
            <a:solidFill>
              <a:srgbClr val="FFB81C"/>
            </a:solidFill>
            <a:prstDash val="solid"/>
          </a:ln>
        </p:spPr>
      </p:sp>
      <p:sp>
        <p:nvSpPr>
          <p:cNvPr id="45" name="Text 43"/>
          <p:cNvSpPr txBox="1"/>
          <p:nvPr/>
        </p:nvSpPr>
        <p:spPr>
          <a:xfrm>
            <a:off x="658368" y="6071616"/>
            <a:ext cx="10881360" cy="438912"/>
          </a:xfrm>
          <a:prstGeom prst="rect">
            <a:avLst/>
          </a:prstGeom>
          <a:noFill/>
          <a:ln/>
        </p:spPr>
        <p:txBody>
          <a:bodyPr wrap="square" lIns="0" tIns="0" rIns="0" bIns="0" rtlCol="0" anchor="ctr"/>
          <a:lstStyle/>
          <a:p>
            <a:pPr indent="0" marL="0">
              <a:buNone/>
            </a:pPr>
            <a:r>
              <a:rPr lang="en-US" sz="1000" i="1" dirty="0">
                <a:solidFill>
                  <a:srgbClr val="212B32"/>
                </a:solidFill>
                <a:latin typeface="Calibri" pitchFamily="34" charset="0"/>
                <a:ea typeface="Calibri" pitchFamily="34" charset="-122"/>
                <a:cs typeface="Calibri" pitchFamily="34" charset="-120"/>
              </a:rPr>
              <a:t>Do not log SDEC as a clinic. Up to two have been allowed, but they will not count once JRCPTB reclassifies SDEC as take — a clinic count about to shrink is false reassurance.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10584180" y="379476"/>
            <a:ext cx="82296" cy="82296"/>
          </a:xfrm>
          <a:prstGeom prst="ellipse">
            <a:avLst/>
          </a:prstGeom>
          <a:solidFill>
            <a:srgbClr val="D8DDE0"/>
          </a:solidFill>
          <a:ln w="12700">
            <a:solidFill>
              <a:srgbClr val="D8DDE0"/>
            </a:solidFill>
            <a:prstDash val="solid"/>
          </a:ln>
        </p:spPr>
      </p:sp>
      <p:sp>
        <p:nvSpPr>
          <p:cNvPr id="3" name="Shape 1"/>
          <p:cNvSpPr/>
          <p:nvPr/>
        </p:nvSpPr>
        <p:spPr>
          <a:xfrm>
            <a:off x="10794492" y="379476"/>
            <a:ext cx="82296" cy="82296"/>
          </a:xfrm>
          <a:prstGeom prst="ellipse">
            <a:avLst/>
          </a:prstGeom>
          <a:solidFill>
            <a:srgbClr val="D8DDE0"/>
          </a:solidFill>
          <a:ln w="12700">
            <a:solidFill>
              <a:srgbClr val="D8DDE0"/>
            </a:solidFill>
            <a:prstDash val="solid"/>
          </a:ln>
        </p:spPr>
      </p:sp>
      <p:sp>
        <p:nvSpPr>
          <p:cNvPr id="4" name="Shape 2"/>
          <p:cNvSpPr/>
          <p:nvPr/>
        </p:nvSpPr>
        <p:spPr>
          <a:xfrm>
            <a:off x="10986516" y="361188"/>
            <a:ext cx="118872" cy="118872"/>
          </a:xfrm>
          <a:prstGeom prst="ellipse">
            <a:avLst/>
          </a:prstGeom>
          <a:solidFill>
            <a:srgbClr val="41B6E6"/>
          </a:solidFill>
          <a:ln w="12700">
            <a:solidFill>
              <a:srgbClr val="41B6E6"/>
            </a:solidFill>
            <a:prstDash val="solid"/>
          </a:ln>
        </p:spPr>
      </p:sp>
      <p:sp>
        <p:nvSpPr>
          <p:cNvPr id="5" name="Shape 3"/>
          <p:cNvSpPr/>
          <p:nvPr/>
        </p:nvSpPr>
        <p:spPr>
          <a:xfrm>
            <a:off x="11215116" y="379476"/>
            <a:ext cx="82296" cy="82296"/>
          </a:xfrm>
          <a:prstGeom prst="ellipse">
            <a:avLst/>
          </a:prstGeom>
          <a:solidFill>
            <a:srgbClr val="D8DDE0"/>
          </a:solidFill>
          <a:ln w="12700">
            <a:solidFill>
              <a:srgbClr val="D8DDE0"/>
            </a:solidFill>
            <a:prstDash val="solid"/>
          </a:ln>
        </p:spPr>
      </p:sp>
      <p:sp>
        <p:nvSpPr>
          <p:cNvPr id="6" name="Shape 4"/>
          <p:cNvSpPr/>
          <p:nvPr/>
        </p:nvSpPr>
        <p:spPr>
          <a:xfrm>
            <a:off x="11425428" y="379476"/>
            <a:ext cx="82296" cy="82296"/>
          </a:xfrm>
          <a:prstGeom prst="ellipse">
            <a:avLst/>
          </a:prstGeom>
          <a:solidFill>
            <a:srgbClr val="D8DDE0"/>
          </a:solidFill>
          <a:ln w="12700">
            <a:solidFill>
              <a:srgbClr val="D8DDE0"/>
            </a:solidFill>
            <a:prstDash val="solid"/>
          </a:ln>
        </p:spPr>
      </p:sp>
      <p:sp>
        <p:nvSpPr>
          <p:cNvPr id="7" name="Shape 5"/>
          <p:cNvSpPr/>
          <p:nvPr/>
        </p:nvSpPr>
        <p:spPr>
          <a:xfrm>
            <a:off x="11635740" y="379476"/>
            <a:ext cx="82296" cy="82296"/>
          </a:xfrm>
          <a:prstGeom prst="ellipse">
            <a:avLst/>
          </a:prstGeom>
          <a:solidFill>
            <a:srgbClr val="D8DDE0"/>
          </a:solidFill>
          <a:ln w="12700">
            <a:solidFill>
              <a:srgbClr val="D8DDE0"/>
            </a:solidFill>
            <a:prstDash val="solid"/>
          </a:ln>
        </p:spPr>
      </p:sp>
      <p:sp>
        <p:nvSpPr>
          <p:cNvPr id="8" name="Text 6"/>
          <p:cNvSpPr txBox="1"/>
          <p:nvPr/>
        </p:nvSpPr>
        <p:spPr>
          <a:xfrm>
            <a:off x="457200" y="274320"/>
            <a:ext cx="9875520" cy="256032"/>
          </a:xfrm>
          <a:prstGeom prst="rect">
            <a:avLst/>
          </a:prstGeom>
          <a:noFill/>
          <a:ln/>
        </p:spPr>
        <p:txBody>
          <a:bodyPr wrap="square" lIns="0" tIns="0" rIns="0" bIns="0" rtlCol="0" anchor="ctr"/>
          <a:lstStyle/>
          <a:p>
            <a:pPr indent="0" marL="0">
              <a:buNone/>
            </a:pPr>
            <a:r>
              <a:rPr lang="en-US" sz="1100" b="1" spc="240" kern="0" dirty="0">
                <a:solidFill>
                  <a:srgbClr val="1B7FA6"/>
                </a:solidFill>
                <a:latin typeface="Calibri" pitchFamily="34" charset="0"/>
                <a:ea typeface="Calibri" pitchFamily="34" charset="-122"/>
                <a:cs typeface="Calibri" pitchFamily="34" charset="-120"/>
              </a:rPr>
              <a:t>PART 03 · MINIMUM LEVEL OF ENTRUSTMENT</a:t>
            </a:r>
            <a:endParaRPr lang="en-US" sz="1100" dirty="0"/>
          </a:p>
        </p:txBody>
      </p:sp>
      <p:sp>
        <p:nvSpPr>
          <p:cNvPr id="9" name="Text 7"/>
          <p:cNvSpPr txBox="1"/>
          <p:nvPr/>
        </p:nvSpPr>
        <p:spPr>
          <a:xfrm>
            <a:off x="457200" y="512064"/>
            <a:ext cx="11247120" cy="658368"/>
          </a:xfrm>
          <a:prstGeom prst="rect">
            <a:avLst/>
          </a:prstGeom>
          <a:noFill/>
          <a:ln/>
        </p:spPr>
        <p:txBody>
          <a:bodyPr wrap="square" lIns="0" tIns="0" rIns="0" bIns="0" rtlCol="0" anchor="ctr"/>
          <a:lstStyle/>
          <a:p>
            <a:pPr indent="0" marL="0">
              <a:buNone/>
            </a:pPr>
            <a:r>
              <a:rPr lang="en-US" sz="3000" b="1" dirty="0">
                <a:solidFill>
                  <a:srgbClr val="003087"/>
                </a:solidFill>
                <a:latin typeface="Calibri" pitchFamily="34" charset="0"/>
                <a:ea typeface="Calibri" pitchFamily="34" charset="-122"/>
                <a:cs typeface="Calibri" pitchFamily="34" charset="-120"/>
              </a:rPr>
              <a:t>What level you need, and when</a:t>
            </a:r>
            <a:endParaRPr lang="en-US" sz="3000" dirty="0"/>
          </a:p>
        </p:txBody>
      </p:sp>
      <p:sp>
        <p:nvSpPr>
          <p:cNvPr id="10" name="Text 8"/>
          <p:cNvSpPr txBox="1"/>
          <p:nvPr/>
        </p:nvSpPr>
        <p:spPr>
          <a:xfrm>
            <a:off x="457200" y="1170432"/>
            <a:ext cx="11247120" cy="411480"/>
          </a:xfrm>
          <a:prstGeom prst="rect">
            <a:avLst/>
          </a:prstGeom>
          <a:noFill/>
          <a:ln/>
        </p:spPr>
        <p:txBody>
          <a:bodyPr wrap="square" lIns="0" tIns="0" rIns="0" bIns="0" rtlCol="0" anchor="t"/>
          <a:lstStyle/>
          <a:p>
            <a:pPr indent="0" marL="0">
              <a:buNone/>
            </a:pPr>
            <a:r>
              <a:rPr lang="en-US" sz="1200" i="1" dirty="0">
                <a:solidFill>
                  <a:srgbClr val="768692"/>
                </a:solidFill>
                <a:latin typeface="Calibri" pitchFamily="34" charset="0"/>
                <a:ea typeface="Calibri" pitchFamily="34" charset="-122"/>
                <a:cs typeface="Calibri" pitchFamily="34" charset="-120"/>
              </a:rPr>
              <a:t>CiP 7 (delivering effective resuscitation and managing the deteriorating patient) is the outlier — level 4 is expected from ST4. CiP 2 is the only one that starts at level 2.</a:t>
            </a:r>
            <a:endParaRPr lang="en-US" sz="1200" dirty="0"/>
          </a:p>
        </p:txBody>
      </p:sp>
      <p:sp>
        <p:nvSpPr>
          <p:cNvPr id="11" name="Text 9"/>
          <p:cNvSpPr txBox="1"/>
          <p:nvPr/>
        </p:nvSpPr>
        <p:spPr>
          <a:xfrm>
            <a:off x="457200" y="6547104"/>
            <a:ext cx="7315200" cy="274320"/>
          </a:xfrm>
          <a:prstGeom prst="rect">
            <a:avLst/>
          </a:prstGeom>
          <a:noFill/>
          <a:ln/>
        </p:spPr>
        <p:txBody>
          <a:bodyPr wrap="square" lIns="0" tIns="0" rIns="0" bIns="0" rtlCol="0" anchor="ctr"/>
          <a:lstStyle/>
          <a:p>
            <a:pPr indent="0" marL="0">
              <a:buNone/>
            </a:pPr>
            <a:r>
              <a:rPr lang="en-US" sz="900" dirty="0">
                <a:solidFill>
                  <a:srgbClr val="768692"/>
                </a:solidFill>
                <a:latin typeface="Calibri" pitchFamily="34" charset="0"/>
                <a:ea typeface="Calibri" pitchFamily="34" charset="-122"/>
                <a:cs typeface="Calibri" pitchFamily="34" charset="-120"/>
              </a:rPr>
              <a:t>GIM ARCP · trainee guidance · </a:t>
            </a:r>
            <a:pPr indent="0" marL="0">
              <a:buNone/>
            </a:pPr>
            <a:r>
              <a:rPr lang="en-US" sz="900" b="1" dirty="0">
                <a:solidFill>
                  <a:srgbClr val="8A5E00"/>
                </a:solidFill>
                <a:latin typeface="Calibri" pitchFamily="34" charset="0"/>
                <a:ea typeface="Calibri" pitchFamily="34" charset="-122"/>
                <a:cs typeface="Calibri" pitchFamily="34" charset="-120"/>
              </a:rPr>
              <a:t>DRAFT</a:t>
            </a:r>
            <a:endParaRPr lang="en-US" sz="900" dirty="0"/>
          </a:p>
        </p:txBody>
      </p:sp>
      <p:sp>
        <p:nvSpPr>
          <p:cNvPr id="12" name="Text 10"/>
          <p:cNvSpPr txBox="1"/>
          <p:nvPr/>
        </p:nvSpPr>
        <p:spPr>
          <a:xfrm>
            <a:off x="11155680" y="6547104"/>
            <a:ext cx="548640" cy="274320"/>
          </a:xfrm>
          <a:prstGeom prst="rect">
            <a:avLst/>
          </a:prstGeom>
          <a:noFill/>
          <a:ln/>
        </p:spPr>
        <p:txBody>
          <a:bodyPr wrap="square" lIns="0" tIns="0" rIns="0" bIns="0" rtlCol="0" anchor="ctr"/>
          <a:lstStyle/>
          <a:p>
            <a:pPr algn="r" indent="0" marL="0">
              <a:buNone/>
            </a:pPr>
            <a:r>
              <a:rPr lang="en-US" sz="900" dirty="0">
                <a:solidFill>
                  <a:srgbClr val="768692"/>
                </a:solidFill>
                <a:latin typeface="Calibri" pitchFamily="34" charset="0"/>
                <a:ea typeface="Calibri" pitchFamily="34" charset="-122"/>
                <a:cs typeface="Calibri" pitchFamily="34" charset="-120"/>
              </a:rPr>
              <a:t>13</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11247120" cy="914400"/>
        </p:xfrm>
        <a:graphic>
          <a:graphicData uri="http://schemas.openxmlformats.org/drawingml/2006/table">
            <a:tbl>
              <a:tblPr/>
              <a:tblGrid>
                <a:gridCol w="6675120"/>
                <a:gridCol w="914400"/>
                <a:gridCol w="914400"/>
                <a:gridCol w="914400"/>
                <a:gridCol w="914400"/>
                <a:gridCol w="914400"/>
              </a:tblGrid>
              <a:tr h="36576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IM clinical CiP</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003087"/>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ST4</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003087"/>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ST5</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003087"/>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ST6</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003087"/>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ST7</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003087"/>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CCT</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003087"/>
                    </a:solidFill>
                  </a:tcPr>
                </a:tc>
              </a:tr>
              <a:tr h="365760">
                <a:tc>
                  <a:txBody>
                    <a:bodyPr/>
                    <a:lstStyle/>
                    <a:p>
                      <a:pPr algn="l" indent="0" marL="0">
                        <a:buNone/>
                      </a:pPr>
                      <a:r>
                        <a:rPr lang="en-US" sz="1050" b="1" dirty="0">
                          <a:solidFill>
                            <a:srgbClr val="003087"/>
                          </a:solidFill>
                          <a:latin typeface="Calibri" pitchFamily="34" charset="0"/>
                          <a:ea typeface="Calibri" pitchFamily="34" charset="-122"/>
                          <a:cs typeface="Calibri" pitchFamily="34" charset="-120"/>
                        </a:rPr>
                        <a:t>CiP 1 — Managing an acute unselected take</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3087"/>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8CBFE8"/>
                    </a:solidFill>
                  </a:tcPr>
                </a:tc>
                <a:tc>
                  <a:txBody>
                    <a:bodyPr/>
                    <a:lstStyle/>
                    <a:p>
                      <a:pPr algn="ctr" indent="0" marL="0">
                        <a:buNone/>
                      </a:pPr>
                      <a:r>
                        <a:rPr lang="en-US" sz="1050" b="1" dirty="0">
                          <a:solidFill>
                            <a:srgbClr val="003087"/>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8CBFE8"/>
                    </a:solidFill>
                  </a:tcPr>
                </a:tc>
                <a:tc>
                  <a:txBody>
                    <a:bodyPr/>
                    <a:lstStyle/>
                    <a:p>
                      <a:pPr algn="ctr" indent="0" marL="0">
                        <a:buNone/>
                      </a:pPr>
                      <a:r>
                        <a:rPr lang="en-US" sz="1050" b="1" dirty="0">
                          <a:solidFill>
                            <a:srgbClr val="003087"/>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8CBFE8"/>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0072CE"/>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0072CE"/>
                    </a:solidFill>
                  </a:tcPr>
                </a:tc>
              </a:tr>
              <a:tr h="365760">
                <a:tc>
                  <a:txBody>
                    <a:bodyPr/>
                    <a:lstStyle/>
                    <a:p>
                      <a:pPr algn="l" indent="0" marL="0">
                        <a:buNone/>
                      </a:pPr>
                      <a:r>
                        <a:rPr lang="en-US" sz="1050" b="1" dirty="0">
                          <a:solidFill>
                            <a:srgbClr val="003087"/>
                          </a:solidFill>
                          <a:latin typeface="Calibri" pitchFamily="34" charset="0"/>
                          <a:ea typeface="Calibri" pitchFamily="34" charset="-122"/>
                          <a:cs typeface="Calibri" pitchFamily="34" charset="-120"/>
                        </a:rPr>
                        <a:t>CiP 2 — Managing the acute care of patients within a medical specialty service</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0F4F5"/>
                    </a:solidFill>
                  </a:tcPr>
                </a:tc>
                <a:tc>
                  <a:txBody>
                    <a:bodyPr/>
                    <a:lstStyle/>
                    <a:p>
                      <a:pPr algn="ctr" indent="0" marL="0">
                        <a:buNone/>
                      </a:pPr>
                      <a:r>
                        <a:rPr lang="en-US" sz="1050" b="1" dirty="0">
                          <a:solidFill>
                            <a:srgbClr val="003087"/>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DCEAF7"/>
                    </a:solidFill>
                  </a:tcPr>
                </a:tc>
                <a:tc>
                  <a:txBody>
                    <a:bodyPr/>
                    <a:lstStyle/>
                    <a:p>
                      <a:pPr algn="ctr" indent="0" marL="0">
                        <a:buNone/>
                      </a:pPr>
                      <a:r>
                        <a:rPr lang="en-US" sz="1050" b="1" dirty="0">
                          <a:solidFill>
                            <a:srgbClr val="003087"/>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8CBFE8"/>
                    </a:solidFill>
                  </a:tcPr>
                </a:tc>
                <a:tc>
                  <a:txBody>
                    <a:bodyPr/>
                    <a:lstStyle/>
                    <a:p>
                      <a:pPr algn="ctr" indent="0" marL="0">
                        <a:buNone/>
                      </a:pPr>
                      <a:r>
                        <a:rPr lang="en-US" sz="1050" b="1" dirty="0">
                          <a:solidFill>
                            <a:srgbClr val="003087"/>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8CBFE8"/>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0072CE"/>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0072CE"/>
                    </a:solidFill>
                  </a:tcPr>
                </a:tc>
              </a:tr>
              <a:tr h="365760">
                <a:tc>
                  <a:txBody>
                    <a:bodyPr/>
                    <a:lstStyle/>
                    <a:p>
                      <a:pPr algn="l" indent="0" marL="0">
                        <a:buNone/>
                      </a:pPr>
                      <a:r>
                        <a:rPr lang="en-US" sz="1050" b="1" dirty="0">
                          <a:solidFill>
                            <a:srgbClr val="003087"/>
                          </a:solidFill>
                          <a:latin typeface="Calibri" pitchFamily="34" charset="0"/>
                          <a:ea typeface="Calibri" pitchFamily="34" charset="-122"/>
                          <a:cs typeface="Calibri" pitchFamily="34" charset="-120"/>
                        </a:rPr>
                        <a:t>CiP 3 — Providing continuity of care to medical inpatients</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3087"/>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8CBFE8"/>
                    </a:solidFill>
                  </a:tcPr>
                </a:tc>
                <a:tc>
                  <a:txBody>
                    <a:bodyPr/>
                    <a:lstStyle/>
                    <a:p>
                      <a:pPr algn="ctr" indent="0" marL="0">
                        <a:buNone/>
                      </a:pPr>
                      <a:r>
                        <a:rPr lang="en-US" sz="1050" b="1" dirty="0">
                          <a:solidFill>
                            <a:srgbClr val="003087"/>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8CBFE8"/>
                    </a:solidFill>
                  </a:tcPr>
                </a:tc>
                <a:tc>
                  <a:txBody>
                    <a:bodyPr/>
                    <a:lstStyle/>
                    <a:p>
                      <a:pPr algn="ctr" indent="0" marL="0">
                        <a:buNone/>
                      </a:pPr>
                      <a:r>
                        <a:rPr lang="en-US" sz="1050" b="1" dirty="0">
                          <a:solidFill>
                            <a:srgbClr val="003087"/>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8CBFE8"/>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0072CE"/>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0072CE"/>
                    </a:solidFill>
                  </a:tcPr>
                </a:tc>
              </a:tr>
              <a:tr h="365760">
                <a:tc>
                  <a:txBody>
                    <a:bodyPr/>
                    <a:lstStyle/>
                    <a:p>
                      <a:pPr algn="l" indent="0" marL="0">
                        <a:buNone/>
                      </a:pPr>
                      <a:r>
                        <a:rPr lang="en-US" sz="1050" b="1" dirty="0">
                          <a:solidFill>
                            <a:srgbClr val="003087"/>
                          </a:solidFill>
                          <a:latin typeface="Calibri" pitchFamily="34" charset="0"/>
                          <a:ea typeface="Calibri" pitchFamily="34" charset="-122"/>
                          <a:cs typeface="Calibri" pitchFamily="34" charset="-120"/>
                        </a:rPr>
                        <a:t>CiP 4 — Managing outpatients with long term conditions</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0F4F5"/>
                    </a:solidFill>
                  </a:tcPr>
                </a:tc>
                <a:tc>
                  <a:txBody>
                    <a:bodyPr/>
                    <a:lstStyle/>
                    <a:p>
                      <a:pPr algn="ctr" indent="0" marL="0">
                        <a:buNone/>
                      </a:pPr>
                      <a:r>
                        <a:rPr lang="en-US" sz="1050" b="1" dirty="0">
                          <a:solidFill>
                            <a:srgbClr val="003087"/>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8CBFE8"/>
                    </a:solidFill>
                  </a:tcPr>
                </a:tc>
                <a:tc>
                  <a:txBody>
                    <a:bodyPr/>
                    <a:lstStyle/>
                    <a:p>
                      <a:pPr algn="ctr" indent="0" marL="0">
                        <a:buNone/>
                      </a:pPr>
                      <a:r>
                        <a:rPr lang="en-US" sz="1050" b="1" dirty="0">
                          <a:solidFill>
                            <a:srgbClr val="003087"/>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8CBFE8"/>
                    </a:solidFill>
                  </a:tcPr>
                </a:tc>
                <a:tc>
                  <a:txBody>
                    <a:bodyPr/>
                    <a:lstStyle/>
                    <a:p>
                      <a:pPr algn="ctr" indent="0" marL="0">
                        <a:buNone/>
                      </a:pPr>
                      <a:r>
                        <a:rPr lang="en-US" sz="1050" b="1" dirty="0">
                          <a:solidFill>
                            <a:srgbClr val="003087"/>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8CBFE8"/>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0072CE"/>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0072CE"/>
                    </a:solidFill>
                  </a:tcPr>
                </a:tc>
              </a:tr>
              <a:tr h="365760">
                <a:tc>
                  <a:txBody>
                    <a:bodyPr/>
                    <a:lstStyle/>
                    <a:p>
                      <a:pPr algn="l" indent="0" marL="0">
                        <a:buNone/>
                      </a:pPr>
                      <a:r>
                        <a:rPr lang="en-US" sz="1050" b="1" dirty="0">
                          <a:solidFill>
                            <a:srgbClr val="003087"/>
                          </a:solidFill>
                          <a:latin typeface="Calibri" pitchFamily="34" charset="0"/>
                          <a:ea typeface="Calibri" pitchFamily="34" charset="-122"/>
                          <a:cs typeface="Calibri" pitchFamily="34" charset="-120"/>
                        </a:rPr>
                        <a:t>CiP 5 — Managing medical problems in patients in other specialties and special cases</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3087"/>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8CBFE8"/>
                    </a:solidFill>
                  </a:tcPr>
                </a:tc>
                <a:tc>
                  <a:txBody>
                    <a:bodyPr/>
                    <a:lstStyle/>
                    <a:p>
                      <a:pPr algn="ctr" indent="0" marL="0">
                        <a:buNone/>
                      </a:pPr>
                      <a:r>
                        <a:rPr lang="en-US" sz="1050" b="1" dirty="0">
                          <a:solidFill>
                            <a:srgbClr val="003087"/>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8CBFE8"/>
                    </a:solidFill>
                  </a:tcPr>
                </a:tc>
                <a:tc>
                  <a:txBody>
                    <a:bodyPr/>
                    <a:lstStyle/>
                    <a:p>
                      <a:pPr algn="ctr" indent="0" marL="0">
                        <a:buNone/>
                      </a:pPr>
                      <a:r>
                        <a:rPr lang="en-US" sz="1050" b="1" dirty="0">
                          <a:solidFill>
                            <a:srgbClr val="003087"/>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8CBFE8"/>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0072CE"/>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0072CE"/>
                    </a:solidFill>
                  </a:tcPr>
                </a:tc>
              </a:tr>
              <a:tr h="365760">
                <a:tc>
                  <a:txBody>
                    <a:bodyPr/>
                    <a:lstStyle/>
                    <a:p>
                      <a:pPr algn="l" indent="0" marL="0">
                        <a:buNone/>
                      </a:pPr>
                      <a:r>
                        <a:rPr lang="en-US" sz="1050" b="1" dirty="0">
                          <a:solidFill>
                            <a:srgbClr val="003087"/>
                          </a:solidFill>
                          <a:latin typeface="Calibri" pitchFamily="34" charset="0"/>
                          <a:ea typeface="Calibri" pitchFamily="34" charset="-122"/>
                          <a:cs typeface="Calibri" pitchFamily="34" charset="-120"/>
                        </a:rPr>
                        <a:t>CiP 6 — Managing an MDT including discharge planning</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0F4F5"/>
                    </a:solidFill>
                  </a:tcPr>
                </a:tc>
                <a:tc>
                  <a:txBody>
                    <a:bodyPr/>
                    <a:lstStyle/>
                    <a:p>
                      <a:pPr algn="ctr" indent="0" marL="0">
                        <a:buNone/>
                      </a:pPr>
                      <a:r>
                        <a:rPr lang="en-US" sz="1050" b="1" dirty="0">
                          <a:solidFill>
                            <a:srgbClr val="003087"/>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8CBFE8"/>
                    </a:solidFill>
                  </a:tcPr>
                </a:tc>
                <a:tc>
                  <a:txBody>
                    <a:bodyPr/>
                    <a:lstStyle/>
                    <a:p>
                      <a:pPr algn="ctr" indent="0" marL="0">
                        <a:buNone/>
                      </a:pPr>
                      <a:r>
                        <a:rPr lang="en-US" sz="1050" b="1" dirty="0">
                          <a:solidFill>
                            <a:srgbClr val="003087"/>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8CBFE8"/>
                    </a:solidFill>
                  </a:tcPr>
                </a:tc>
                <a:tc>
                  <a:txBody>
                    <a:bodyPr/>
                    <a:lstStyle/>
                    <a:p>
                      <a:pPr algn="ctr" indent="0" marL="0">
                        <a:buNone/>
                      </a:pPr>
                      <a:r>
                        <a:rPr lang="en-US" sz="1050" b="1" dirty="0">
                          <a:solidFill>
                            <a:srgbClr val="003087"/>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8CBFE8"/>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0072CE"/>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0072CE"/>
                    </a:solidFill>
                  </a:tcPr>
                </a:tc>
              </a:tr>
              <a:tr h="365760">
                <a:tc>
                  <a:txBody>
                    <a:bodyPr/>
                    <a:lstStyle/>
                    <a:p>
                      <a:pPr algn="l" indent="0" marL="0">
                        <a:buNone/>
                      </a:pPr>
                      <a:r>
                        <a:rPr lang="en-US" sz="1050" b="1" dirty="0">
                          <a:solidFill>
                            <a:srgbClr val="003087"/>
                          </a:solidFill>
                          <a:latin typeface="Calibri" pitchFamily="34" charset="0"/>
                          <a:ea typeface="Calibri" pitchFamily="34" charset="-122"/>
                          <a:cs typeface="Calibri" pitchFamily="34" charset="-120"/>
                        </a:rPr>
                        <a:t>CiP 7 — Delivering effective resuscitation and managing the deteriorating patient</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0072CE"/>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0072CE"/>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0072CE"/>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0072CE"/>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0072CE"/>
                    </a:solidFill>
                  </a:tcPr>
                </a:tc>
              </a:tr>
              <a:tr h="365760">
                <a:tc>
                  <a:txBody>
                    <a:bodyPr/>
                    <a:lstStyle/>
                    <a:p>
                      <a:pPr algn="l" indent="0" marL="0">
                        <a:buNone/>
                      </a:pPr>
                      <a:r>
                        <a:rPr lang="en-US" sz="1050" b="1" dirty="0">
                          <a:solidFill>
                            <a:srgbClr val="003087"/>
                          </a:solidFill>
                          <a:latin typeface="Calibri" pitchFamily="34" charset="0"/>
                          <a:ea typeface="Calibri" pitchFamily="34" charset="-122"/>
                          <a:cs typeface="Calibri" pitchFamily="34" charset="-120"/>
                        </a:rPr>
                        <a:t>CiP 8 — Managing end of life and applying palliative care skills</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F0F4F5"/>
                    </a:solidFill>
                  </a:tcPr>
                </a:tc>
                <a:tc>
                  <a:txBody>
                    <a:bodyPr/>
                    <a:lstStyle/>
                    <a:p>
                      <a:pPr algn="ctr" indent="0" marL="0">
                        <a:buNone/>
                      </a:pPr>
                      <a:r>
                        <a:rPr lang="en-US" sz="1050" b="1" dirty="0">
                          <a:solidFill>
                            <a:srgbClr val="003087"/>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8CBFE8"/>
                    </a:solidFill>
                  </a:tcPr>
                </a:tc>
                <a:tc>
                  <a:txBody>
                    <a:bodyPr/>
                    <a:lstStyle/>
                    <a:p>
                      <a:pPr algn="ctr" indent="0" marL="0">
                        <a:buNone/>
                      </a:pPr>
                      <a:r>
                        <a:rPr lang="en-US" sz="1050" b="1" dirty="0">
                          <a:solidFill>
                            <a:srgbClr val="003087"/>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8CBFE8"/>
                    </a:solidFill>
                  </a:tcPr>
                </a:tc>
                <a:tc>
                  <a:txBody>
                    <a:bodyPr/>
                    <a:lstStyle/>
                    <a:p>
                      <a:pPr algn="ctr" indent="0" marL="0">
                        <a:buNone/>
                      </a:pPr>
                      <a:r>
                        <a:rPr lang="en-US" sz="1050" b="1" dirty="0">
                          <a:solidFill>
                            <a:srgbClr val="003087"/>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8CBFE8"/>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0072CE"/>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88900" marR="88900" marT="38100" marB="38100" anchor="ctr">
                    <a:lnL w="9525" cap="flat" cmpd="sng" algn="ctr">
                      <a:solidFill>
                        <a:srgbClr val="D8DDE0"/>
                      </a:solidFill>
                      <a:prstDash val="solid"/>
                      <a:round/>
                      <a:headEnd type="none" w="med" len="med"/>
                      <a:tailEnd type="none" w="med" len="med"/>
                    </a:lnL>
                    <a:lnR w="9525" cap="flat" cmpd="sng" algn="ctr">
                      <a:solidFill>
                        <a:srgbClr val="D8DDE0"/>
                      </a:solidFill>
                      <a:prstDash val="solid"/>
                      <a:round/>
                      <a:headEnd type="none" w="med" len="med"/>
                      <a:tailEnd type="none" w="med" len="med"/>
                    </a:lnR>
                    <a:lnT w="9525" cap="flat" cmpd="sng" algn="ctr">
                      <a:solidFill>
                        <a:srgbClr val="D8DDE0"/>
                      </a:solidFill>
                      <a:prstDash val="solid"/>
                      <a:round/>
                      <a:headEnd type="none" w="med" len="med"/>
                      <a:tailEnd type="none" w="med" len="med"/>
                    </a:lnT>
                    <a:lnB w="9525" cap="flat" cmpd="sng" algn="ctr">
                      <a:solidFill>
                        <a:srgbClr val="D8DDE0"/>
                      </a:solidFill>
                      <a:prstDash val="solid"/>
                      <a:round/>
                      <a:headEnd type="none" w="med" len="med"/>
                      <a:tailEnd type="none" w="med" len="med"/>
                    </a:lnB>
                    <a:solidFill>
                      <a:srgbClr val="0072CE"/>
                    </a:solidFill>
                  </a:tcPr>
                </a:tc>
              </a:tr>
            </a:tbl>
          </a:graphicData>
        </a:graphic>
      </p:graphicFrame>
      <p:sp>
        <p:nvSpPr>
          <p:cNvPr id="14" name="Shape 11"/>
          <p:cNvSpPr/>
          <p:nvPr/>
        </p:nvSpPr>
        <p:spPr>
          <a:xfrm>
            <a:off x="2788920" y="5120640"/>
            <a:ext cx="310896" cy="237744"/>
          </a:xfrm>
          <a:prstGeom prst="rect">
            <a:avLst/>
          </a:prstGeom>
          <a:solidFill>
            <a:srgbClr val="DCEAF7"/>
          </a:solidFill>
          <a:ln w="6350">
            <a:solidFill>
              <a:srgbClr val="D8DDE0"/>
            </a:solidFill>
            <a:prstDash val="solid"/>
          </a:ln>
        </p:spPr>
      </p:sp>
      <p:sp>
        <p:nvSpPr>
          <p:cNvPr id="15" name="Text 12"/>
          <p:cNvSpPr txBox="1"/>
          <p:nvPr/>
        </p:nvSpPr>
        <p:spPr>
          <a:xfrm>
            <a:off x="2788920" y="5120640"/>
            <a:ext cx="310896" cy="237744"/>
          </a:xfrm>
          <a:prstGeom prst="rect">
            <a:avLst/>
          </a:prstGeom>
          <a:noFill/>
          <a:ln/>
        </p:spPr>
        <p:txBody>
          <a:bodyPr wrap="square" lIns="0" tIns="0" rIns="0" bIns="0" rtlCol="0" anchor="ctr"/>
          <a:lstStyle/>
          <a:p>
            <a:pPr algn="ctr" indent="0" marL="0">
              <a:buNone/>
            </a:pPr>
            <a:r>
              <a:rPr lang="en-US" sz="1000" b="1" dirty="0">
                <a:solidFill>
                  <a:srgbClr val="003087"/>
                </a:solidFill>
                <a:latin typeface="Calibri" pitchFamily="34" charset="0"/>
                <a:ea typeface="Calibri" pitchFamily="34" charset="-122"/>
                <a:cs typeface="Calibri" pitchFamily="34" charset="-120"/>
              </a:rPr>
              <a:t>2</a:t>
            </a:r>
            <a:endParaRPr lang="en-US" sz="1000" dirty="0"/>
          </a:p>
        </p:txBody>
      </p:sp>
      <p:sp>
        <p:nvSpPr>
          <p:cNvPr id="16" name="Text 13"/>
          <p:cNvSpPr txBox="1"/>
          <p:nvPr/>
        </p:nvSpPr>
        <p:spPr>
          <a:xfrm>
            <a:off x="3191256" y="5120640"/>
            <a:ext cx="1965960" cy="237744"/>
          </a:xfrm>
          <a:prstGeom prst="rect">
            <a:avLst/>
          </a:prstGeom>
          <a:noFill/>
          <a:ln/>
        </p:spPr>
        <p:txBody>
          <a:bodyPr wrap="square" lIns="0" tIns="0" rIns="0" bIns="0" rtlCol="0" anchor="ctr"/>
          <a:lstStyle/>
          <a:p>
            <a:pPr indent="0" marL="0">
              <a:buNone/>
            </a:pPr>
            <a:r>
              <a:rPr lang="en-US" sz="1000" dirty="0">
                <a:solidFill>
                  <a:srgbClr val="212B32"/>
                </a:solidFill>
                <a:latin typeface="Calibri" pitchFamily="34" charset="0"/>
                <a:ea typeface="Calibri" pitchFamily="34" charset="-122"/>
                <a:cs typeface="Calibri" pitchFamily="34" charset="-120"/>
              </a:rPr>
              <a:t>Level 2 — direct supervision</a:t>
            </a:r>
            <a:endParaRPr lang="en-US" sz="1000" dirty="0"/>
          </a:p>
        </p:txBody>
      </p:sp>
      <p:sp>
        <p:nvSpPr>
          <p:cNvPr id="17" name="Shape 14"/>
          <p:cNvSpPr/>
          <p:nvPr/>
        </p:nvSpPr>
        <p:spPr>
          <a:xfrm>
            <a:off x="5166360" y="5120640"/>
            <a:ext cx="310896" cy="237744"/>
          </a:xfrm>
          <a:prstGeom prst="rect">
            <a:avLst/>
          </a:prstGeom>
          <a:solidFill>
            <a:srgbClr val="8CBFE8"/>
          </a:solidFill>
          <a:ln w="6350">
            <a:solidFill>
              <a:srgbClr val="D8DDE0"/>
            </a:solidFill>
            <a:prstDash val="solid"/>
          </a:ln>
        </p:spPr>
      </p:sp>
      <p:sp>
        <p:nvSpPr>
          <p:cNvPr id="18" name="Text 15"/>
          <p:cNvSpPr txBox="1"/>
          <p:nvPr/>
        </p:nvSpPr>
        <p:spPr>
          <a:xfrm>
            <a:off x="5166360" y="5120640"/>
            <a:ext cx="310896" cy="237744"/>
          </a:xfrm>
          <a:prstGeom prst="rect">
            <a:avLst/>
          </a:prstGeom>
          <a:noFill/>
          <a:ln/>
        </p:spPr>
        <p:txBody>
          <a:bodyPr wrap="square" lIns="0" tIns="0" rIns="0" bIns="0" rtlCol="0" anchor="ctr"/>
          <a:lstStyle/>
          <a:p>
            <a:pPr algn="ctr" indent="0" marL="0">
              <a:buNone/>
            </a:pPr>
            <a:r>
              <a:rPr lang="en-US" sz="1000" b="1" dirty="0">
                <a:solidFill>
                  <a:srgbClr val="003087"/>
                </a:solidFill>
                <a:latin typeface="Calibri" pitchFamily="34" charset="0"/>
                <a:ea typeface="Calibri" pitchFamily="34" charset="-122"/>
                <a:cs typeface="Calibri" pitchFamily="34" charset="-120"/>
              </a:rPr>
              <a:t>3</a:t>
            </a:r>
            <a:endParaRPr lang="en-US" sz="1000" dirty="0"/>
          </a:p>
        </p:txBody>
      </p:sp>
      <p:sp>
        <p:nvSpPr>
          <p:cNvPr id="19" name="Text 16"/>
          <p:cNvSpPr txBox="1"/>
          <p:nvPr/>
        </p:nvSpPr>
        <p:spPr>
          <a:xfrm>
            <a:off x="5568696" y="5120640"/>
            <a:ext cx="1965960" cy="237744"/>
          </a:xfrm>
          <a:prstGeom prst="rect">
            <a:avLst/>
          </a:prstGeom>
          <a:noFill/>
          <a:ln/>
        </p:spPr>
        <p:txBody>
          <a:bodyPr wrap="square" lIns="0" tIns="0" rIns="0" bIns="0" rtlCol="0" anchor="ctr"/>
          <a:lstStyle/>
          <a:p>
            <a:pPr indent="0" marL="0">
              <a:buNone/>
            </a:pPr>
            <a:r>
              <a:rPr lang="en-US" sz="1000" dirty="0">
                <a:solidFill>
                  <a:srgbClr val="212B32"/>
                </a:solidFill>
                <a:latin typeface="Calibri" pitchFamily="34" charset="0"/>
                <a:ea typeface="Calibri" pitchFamily="34" charset="-122"/>
                <a:cs typeface="Calibri" pitchFamily="34" charset="-120"/>
              </a:rPr>
              <a:t>Level 3 — indirect supervision</a:t>
            </a:r>
            <a:endParaRPr lang="en-US" sz="1000" dirty="0"/>
          </a:p>
        </p:txBody>
      </p:sp>
      <p:sp>
        <p:nvSpPr>
          <p:cNvPr id="20" name="Shape 17"/>
          <p:cNvSpPr/>
          <p:nvPr/>
        </p:nvSpPr>
        <p:spPr>
          <a:xfrm>
            <a:off x="7543800" y="5120640"/>
            <a:ext cx="310896" cy="237744"/>
          </a:xfrm>
          <a:prstGeom prst="rect">
            <a:avLst/>
          </a:prstGeom>
          <a:solidFill>
            <a:srgbClr val="0072CE"/>
          </a:solidFill>
          <a:ln w="6350">
            <a:solidFill>
              <a:srgbClr val="D8DDE0"/>
            </a:solidFill>
            <a:prstDash val="solid"/>
          </a:ln>
        </p:spPr>
      </p:sp>
      <p:sp>
        <p:nvSpPr>
          <p:cNvPr id="21" name="Text 18"/>
          <p:cNvSpPr txBox="1"/>
          <p:nvPr/>
        </p:nvSpPr>
        <p:spPr>
          <a:xfrm>
            <a:off x="7543800" y="5120640"/>
            <a:ext cx="310896"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2" name="Text 19"/>
          <p:cNvSpPr txBox="1"/>
          <p:nvPr/>
        </p:nvSpPr>
        <p:spPr>
          <a:xfrm>
            <a:off x="7946136" y="5120640"/>
            <a:ext cx="1965960" cy="237744"/>
          </a:xfrm>
          <a:prstGeom prst="rect">
            <a:avLst/>
          </a:prstGeom>
          <a:noFill/>
          <a:ln/>
        </p:spPr>
        <p:txBody>
          <a:bodyPr wrap="square" lIns="0" tIns="0" rIns="0" bIns="0" rtlCol="0" anchor="ctr"/>
          <a:lstStyle/>
          <a:p>
            <a:pPr indent="0" marL="0">
              <a:buNone/>
            </a:pPr>
            <a:r>
              <a:rPr lang="en-US" sz="1000" dirty="0">
                <a:solidFill>
                  <a:srgbClr val="212B32"/>
                </a:solidFill>
                <a:latin typeface="Calibri" pitchFamily="34" charset="0"/>
                <a:ea typeface="Calibri" pitchFamily="34" charset="-122"/>
                <a:cs typeface="Calibri" pitchFamily="34" charset="-120"/>
              </a:rPr>
              <a:t>Level 4 — unsupervised</a:t>
            </a:r>
            <a:endParaRPr lang="en-US" sz="1000" dirty="0"/>
          </a:p>
        </p:txBody>
      </p:sp>
      <p:sp>
        <p:nvSpPr>
          <p:cNvPr id="23" name="Text 20"/>
          <p:cNvSpPr txBox="1"/>
          <p:nvPr/>
        </p:nvSpPr>
        <p:spPr>
          <a:xfrm>
            <a:off x="457200" y="5120640"/>
            <a:ext cx="2240280" cy="237744"/>
          </a:xfrm>
          <a:prstGeom prst="rect">
            <a:avLst/>
          </a:prstGeom>
          <a:noFill/>
          <a:ln/>
        </p:spPr>
        <p:txBody>
          <a:bodyPr wrap="square" lIns="0" tIns="0" rIns="0" bIns="0" rtlCol="0" anchor="ctr"/>
          <a:lstStyle/>
          <a:p>
            <a:pPr algn="r" indent="0" marL="0">
              <a:buNone/>
            </a:pPr>
            <a:r>
              <a:rPr lang="en-US" sz="1000" dirty="0">
                <a:solidFill>
                  <a:srgbClr val="768692"/>
                </a:solidFill>
                <a:latin typeface="Calibri" pitchFamily="34" charset="0"/>
                <a:ea typeface="Calibri" pitchFamily="34" charset="-122"/>
                <a:cs typeface="Calibri" pitchFamily="34" charset="-120"/>
              </a:rPr>
              <a:t>Level 1 — observe only</a:t>
            </a:r>
            <a:endParaRPr lang="en-US" sz="1000" dirty="0"/>
          </a:p>
        </p:txBody>
      </p:sp>
      <p:sp>
        <p:nvSpPr>
          <p:cNvPr id="24" name="Text 21"/>
          <p:cNvSpPr txBox="1"/>
          <p:nvPr/>
        </p:nvSpPr>
        <p:spPr>
          <a:xfrm>
            <a:off x="457200" y="5431536"/>
            <a:ext cx="11247120" cy="548640"/>
          </a:xfrm>
          <a:prstGeom prst="rect">
            <a:avLst/>
          </a:prstGeom>
          <a:noFill/>
          <a:ln/>
        </p:spPr>
        <p:txBody>
          <a:bodyPr wrap="square" lIns="0" tIns="0" rIns="0" bIns="0" rtlCol="0" anchor="t"/>
          <a:lstStyle/>
          <a:p>
            <a:pPr algn="ctr" indent="0" marL="0">
              <a:lnSpc>
                <a:spcPct val="105000"/>
              </a:lnSpc>
              <a:buNone/>
            </a:pPr>
            <a:r>
              <a:rPr lang="en-US" sz="1050" i="1" dirty="0">
                <a:solidFill>
                  <a:srgbClr val="768692"/>
                </a:solidFill>
                <a:latin typeface="Calibri" pitchFamily="34" charset="0"/>
                <a:ea typeface="Calibri" pitchFamily="34" charset="-122"/>
                <a:cs typeface="Calibri" pitchFamily="34" charset="-120"/>
              </a:rPr>
              <a:t>Grid shown for dual CCT (Group 1 specialty). Single-specialty GIM trainees reach level 4 a year earlier, at ST6.</a:t>
            </a:r>
            <a:endParaRPr lang="en-US" sz="1050" dirty="0"/>
          </a:p>
          <a:p>
            <a:pPr algn="ctr" indent="0" marL="0">
              <a:lnSpc>
                <a:spcPct val="105000"/>
              </a:lnSpc>
              <a:buNone/>
            </a:pPr>
            <a:r>
              <a:rPr lang="en-US" sz="1050" i="1" dirty="0">
                <a:solidFill>
                  <a:srgbClr val="768692"/>
                </a:solidFill>
                <a:latin typeface="Calibri" pitchFamily="34" charset="0"/>
                <a:ea typeface="Calibri" pitchFamily="34" charset="-122"/>
                <a:cs typeface="Calibri" pitchFamily="34" charset="-120"/>
              </a:rPr>
              <a:t>CCT is the critical progression point: level 4 is required for every clinical CiP.</a:t>
            </a:r>
            <a:endParaRPr lang="en-US" sz="1050" dirty="0"/>
          </a:p>
          <a:p>
            <a:pPr algn="ctr" indent="0" marL="0">
              <a:lnSpc>
                <a:spcPct val="105000"/>
              </a:lnSpc>
              <a:buNone/>
            </a:pPr>
            <a:r>
              <a:rPr lang="en-US" sz="1050" i="1" dirty="0">
                <a:solidFill>
                  <a:srgbClr val="768692"/>
                </a:solidFill>
                <a:latin typeface="Calibri" pitchFamily="34" charset="0"/>
                <a:ea typeface="Calibri" pitchFamily="34" charset="-122"/>
                <a:cs typeface="Calibri" pitchFamily="34" charset="-120"/>
              </a:rPr>
              <a:t>Less than full time: the same requirements, accumulated pro rata over a longer programme — not reduced (GG 3.114–3.115).</a:t>
            </a:r>
            <a:endParaRPr lang="en-US" sz="1050" dirty="0"/>
          </a:p>
        </p:txBody>
      </p:sp>
      <p:sp>
        <p:nvSpPr>
          <p:cNvPr id="25" name="Shape 22"/>
          <p:cNvSpPr/>
          <p:nvPr/>
        </p:nvSpPr>
        <p:spPr>
          <a:xfrm>
            <a:off x="457200" y="6071616"/>
            <a:ext cx="11247120" cy="438912"/>
          </a:xfrm>
          <a:prstGeom prst="rect">
            <a:avLst/>
          </a:prstGeom>
          <a:solidFill>
            <a:srgbClr val="F0F4F5"/>
          </a:solidFill>
          <a:ln w="12700">
            <a:solidFill>
              <a:srgbClr val="F0F4F5"/>
            </a:solidFill>
            <a:prstDash val="solid"/>
          </a:ln>
        </p:spPr>
      </p:sp>
      <p:sp>
        <p:nvSpPr>
          <p:cNvPr id="26" name="Shape 23"/>
          <p:cNvSpPr/>
          <p:nvPr/>
        </p:nvSpPr>
        <p:spPr>
          <a:xfrm>
            <a:off x="457200" y="6071616"/>
            <a:ext cx="73152" cy="438912"/>
          </a:xfrm>
          <a:prstGeom prst="rect">
            <a:avLst/>
          </a:prstGeom>
          <a:solidFill>
            <a:srgbClr val="FFB81C"/>
          </a:solidFill>
          <a:ln w="12700">
            <a:solidFill>
              <a:srgbClr val="FFB81C"/>
            </a:solidFill>
            <a:prstDash val="solid"/>
          </a:ln>
        </p:spPr>
      </p:sp>
      <p:sp>
        <p:nvSpPr>
          <p:cNvPr id="27" name="Text 24"/>
          <p:cNvSpPr txBox="1"/>
          <p:nvPr/>
        </p:nvSpPr>
        <p:spPr>
          <a:xfrm>
            <a:off x="658368" y="6071616"/>
            <a:ext cx="10881360" cy="438912"/>
          </a:xfrm>
          <a:prstGeom prst="rect">
            <a:avLst/>
          </a:prstGeom>
          <a:noFill/>
          <a:ln/>
        </p:spPr>
        <p:txBody>
          <a:bodyPr wrap="square" lIns="0" tIns="0" rIns="0" bIns="0" rtlCol="0" anchor="ctr"/>
          <a:lstStyle/>
          <a:p>
            <a:pPr indent="0" marL="0">
              <a:buNone/>
            </a:pPr>
            <a:r>
              <a:rPr lang="en-US" sz="1050" i="1" dirty="0">
                <a:solidFill>
                  <a:srgbClr val="212B32"/>
                </a:solidFill>
                <a:latin typeface="Calibri" pitchFamily="34" charset="0"/>
                <a:ea typeface="Calibri" pitchFamily="34" charset="-122"/>
                <a:cs typeface="Calibri" pitchFamily="34" charset="-120"/>
              </a:rPr>
              <a:t>These are minimum levels for the end of each year. Your ES confirms them against your self-rating — they are not self-awarded.</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10584180" y="379476"/>
            <a:ext cx="82296" cy="82296"/>
          </a:xfrm>
          <a:prstGeom prst="ellipse">
            <a:avLst/>
          </a:prstGeom>
          <a:solidFill>
            <a:srgbClr val="D8DDE0"/>
          </a:solidFill>
          <a:ln w="12700">
            <a:solidFill>
              <a:srgbClr val="D8DDE0"/>
            </a:solidFill>
            <a:prstDash val="solid"/>
          </a:ln>
        </p:spPr>
      </p:sp>
      <p:sp>
        <p:nvSpPr>
          <p:cNvPr id="3" name="Shape 1"/>
          <p:cNvSpPr/>
          <p:nvPr/>
        </p:nvSpPr>
        <p:spPr>
          <a:xfrm>
            <a:off x="10794492" y="379476"/>
            <a:ext cx="82296" cy="82296"/>
          </a:xfrm>
          <a:prstGeom prst="ellipse">
            <a:avLst/>
          </a:prstGeom>
          <a:solidFill>
            <a:srgbClr val="D8DDE0"/>
          </a:solidFill>
          <a:ln w="12700">
            <a:solidFill>
              <a:srgbClr val="D8DDE0"/>
            </a:solidFill>
            <a:prstDash val="solid"/>
          </a:ln>
        </p:spPr>
      </p:sp>
      <p:sp>
        <p:nvSpPr>
          <p:cNvPr id="4" name="Shape 2"/>
          <p:cNvSpPr/>
          <p:nvPr/>
        </p:nvSpPr>
        <p:spPr>
          <a:xfrm>
            <a:off x="10986516" y="361188"/>
            <a:ext cx="118872" cy="118872"/>
          </a:xfrm>
          <a:prstGeom prst="ellipse">
            <a:avLst/>
          </a:prstGeom>
          <a:solidFill>
            <a:srgbClr val="41B6E6"/>
          </a:solidFill>
          <a:ln w="12700">
            <a:solidFill>
              <a:srgbClr val="41B6E6"/>
            </a:solidFill>
            <a:prstDash val="solid"/>
          </a:ln>
        </p:spPr>
      </p:sp>
      <p:sp>
        <p:nvSpPr>
          <p:cNvPr id="5" name="Shape 3"/>
          <p:cNvSpPr/>
          <p:nvPr/>
        </p:nvSpPr>
        <p:spPr>
          <a:xfrm>
            <a:off x="11215116" y="379476"/>
            <a:ext cx="82296" cy="82296"/>
          </a:xfrm>
          <a:prstGeom prst="ellipse">
            <a:avLst/>
          </a:prstGeom>
          <a:solidFill>
            <a:srgbClr val="D8DDE0"/>
          </a:solidFill>
          <a:ln w="12700">
            <a:solidFill>
              <a:srgbClr val="D8DDE0"/>
            </a:solidFill>
            <a:prstDash val="solid"/>
          </a:ln>
        </p:spPr>
      </p:sp>
      <p:sp>
        <p:nvSpPr>
          <p:cNvPr id="6" name="Shape 4"/>
          <p:cNvSpPr/>
          <p:nvPr/>
        </p:nvSpPr>
        <p:spPr>
          <a:xfrm>
            <a:off x="11425428" y="379476"/>
            <a:ext cx="82296" cy="82296"/>
          </a:xfrm>
          <a:prstGeom prst="ellipse">
            <a:avLst/>
          </a:prstGeom>
          <a:solidFill>
            <a:srgbClr val="D8DDE0"/>
          </a:solidFill>
          <a:ln w="12700">
            <a:solidFill>
              <a:srgbClr val="D8DDE0"/>
            </a:solidFill>
            <a:prstDash val="solid"/>
          </a:ln>
        </p:spPr>
      </p:sp>
      <p:sp>
        <p:nvSpPr>
          <p:cNvPr id="7" name="Shape 5"/>
          <p:cNvSpPr/>
          <p:nvPr/>
        </p:nvSpPr>
        <p:spPr>
          <a:xfrm>
            <a:off x="11635740" y="379476"/>
            <a:ext cx="82296" cy="82296"/>
          </a:xfrm>
          <a:prstGeom prst="ellipse">
            <a:avLst/>
          </a:prstGeom>
          <a:solidFill>
            <a:srgbClr val="D8DDE0"/>
          </a:solidFill>
          <a:ln w="12700">
            <a:solidFill>
              <a:srgbClr val="D8DDE0"/>
            </a:solidFill>
            <a:prstDash val="solid"/>
          </a:ln>
        </p:spPr>
      </p:sp>
      <p:sp>
        <p:nvSpPr>
          <p:cNvPr id="8" name="Text 6"/>
          <p:cNvSpPr txBox="1"/>
          <p:nvPr/>
        </p:nvSpPr>
        <p:spPr>
          <a:xfrm>
            <a:off x="457200" y="274320"/>
            <a:ext cx="9875520" cy="256032"/>
          </a:xfrm>
          <a:prstGeom prst="rect">
            <a:avLst/>
          </a:prstGeom>
          <a:noFill/>
          <a:ln/>
        </p:spPr>
        <p:txBody>
          <a:bodyPr wrap="square" lIns="0" tIns="0" rIns="0" bIns="0" rtlCol="0" anchor="ctr"/>
          <a:lstStyle/>
          <a:p>
            <a:pPr indent="0" marL="0">
              <a:buNone/>
            </a:pPr>
            <a:r>
              <a:rPr lang="en-US" sz="1100" b="1" spc="240" kern="0" dirty="0">
                <a:solidFill>
                  <a:srgbClr val="1B7FA6"/>
                </a:solidFill>
                <a:latin typeface="Calibri" pitchFamily="34" charset="0"/>
                <a:ea typeface="Calibri" pitchFamily="34" charset="-122"/>
                <a:cs typeface="Calibri" pitchFamily="34" charset="-120"/>
              </a:rPr>
              <a:t>PART 03 · MAINTENANCE, NOT ACQUISITION</a:t>
            </a:r>
            <a:endParaRPr lang="en-US" sz="1100" dirty="0"/>
          </a:p>
        </p:txBody>
      </p:sp>
      <p:sp>
        <p:nvSpPr>
          <p:cNvPr id="9" name="Text 7"/>
          <p:cNvSpPr txBox="1"/>
          <p:nvPr/>
        </p:nvSpPr>
        <p:spPr>
          <a:xfrm>
            <a:off x="457200" y="512064"/>
            <a:ext cx="11247120" cy="658368"/>
          </a:xfrm>
          <a:prstGeom prst="rect">
            <a:avLst/>
          </a:prstGeom>
          <a:noFill/>
          <a:ln/>
        </p:spPr>
        <p:txBody>
          <a:bodyPr wrap="square" lIns="0" tIns="0" rIns="0" bIns="0" rtlCol="0" anchor="ctr"/>
          <a:lstStyle/>
          <a:p>
            <a:pPr indent="0" marL="0">
              <a:buNone/>
            </a:pPr>
            <a:r>
              <a:rPr lang="en-US" sz="3000" b="1" dirty="0">
                <a:solidFill>
                  <a:srgbClr val="003087"/>
                </a:solidFill>
                <a:latin typeface="Calibri" pitchFamily="34" charset="0"/>
                <a:ea typeface="Calibri" pitchFamily="34" charset="-122"/>
                <a:cs typeface="Calibri" pitchFamily="34" charset="-120"/>
              </a:rPr>
              <a:t>Procedural skills in IMS2</a:t>
            </a:r>
            <a:endParaRPr lang="en-US" sz="3000" dirty="0"/>
          </a:p>
        </p:txBody>
      </p:sp>
      <p:sp>
        <p:nvSpPr>
          <p:cNvPr id="10" name="Text 8"/>
          <p:cNvSpPr txBox="1"/>
          <p:nvPr/>
        </p:nvSpPr>
        <p:spPr>
          <a:xfrm>
            <a:off x="457200" y="1170432"/>
            <a:ext cx="11247120" cy="411480"/>
          </a:xfrm>
          <a:prstGeom prst="rect">
            <a:avLst/>
          </a:prstGeom>
          <a:noFill/>
          <a:ln/>
        </p:spPr>
        <p:txBody>
          <a:bodyPr wrap="square" lIns="0" tIns="0" rIns="0" bIns="0" rtlCol="0" anchor="t"/>
          <a:lstStyle/>
          <a:p>
            <a:pPr indent="0" marL="0">
              <a:buNone/>
            </a:pPr>
            <a:r>
              <a:rPr lang="en-US" sz="1200" i="1" dirty="0">
                <a:solidFill>
                  <a:srgbClr val="768692"/>
                </a:solidFill>
                <a:latin typeface="Calibri" pitchFamily="34" charset="0"/>
                <a:ea typeface="Calibri" pitchFamily="34" charset="-122"/>
                <a:cs typeface="Calibri" pitchFamily="34" charset="-120"/>
              </a:rPr>
              <a:t>Competence is achieved in IMS1. In IMS2 the requirement is to maintain it — by continued practice or by skills-lab training.</a:t>
            </a:r>
            <a:endParaRPr lang="en-US" sz="1200" dirty="0"/>
          </a:p>
        </p:txBody>
      </p:sp>
      <p:sp>
        <p:nvSpPr>
          <p:cNvPr id="11" name="Text 9"/>
          <p:cNvSpPr txBox="1"/>
          <p:nvPr/>
        </p:nvSpPr>
        <p:spPr>
          <a:xfrm>
            <a:off x="457200" y="6547104"/>
            <a:ext cx="7315200" cy="274320"/>
          </a:xfrm>
          <a:prstGeom prst="rect">
            <a:avLst/>
          </a:prstGeom>
          <a:noFill/>
          <a:ln/>
        </p:spPr>
        <p:txBody>
          <a:bodyPr wrap="square" lIns="0" tIns="0" rIns="0" bIns="0" rtlCol="0" anchor="ctr"/>
          <a:lstStyle/>
          <a:p>
            <a:pPr indent="0" marL="0">
              <a:buNone/>
            </a:pPr>
            <a:r>
              <a:rPr lang="en-US" sz="900" dirty="0">
                <a:solidFill>
                  <a:srgbClr val="768692"/>
                </a:solidFill>
                <a:latin typeface="Calibri" pitchFamily="34" charset="0"/>
                <a:ea typeface="Calibri" pitchFamily="34" charset="-122"/>
                <a:cs typeface="Calibri" pitchFamily="34" charset="-120"/>
              </a:rPr>
              <a:t>GIM ARCP · trainee guidance · </a:t>
            </a:r>
            <a:pPr indent="0" marL="0">
              <a:buNone/>
            </a:pPr>
            <a:r>
              <a:rPr lang="en-US" sz="900" b="1" dirty="0">
                <a:solidFill>
                  <a:srgbClr val="8A5E00"/>
                </a:solidFill>
                <a:latin typeface="Calibri" pitchFamily="34" charset="0"/>
                <a:ea typeface="Calibri" pitchFamily="34" charset="-122"/>
                <a:cs typeface="Calibri" pitchFamily="34" charset="-120"/>
              </a:rPr>
              <a:t>DRAFT</a:t>
            </a:r>
            <a:endParaRPr lang="en-US" sz="900" dirty="0"/>
          </a:p>
        </p:txBody>
      </p:sp>
      <p:sp>
        <p:nvSpPr>
          <p:cNvPr id="12" name="Text 10"/>
          <p:cNvSpPr txBox="1"/>
          <p:nvPr/>
        </p:nvSpPr>
        <p:spPr>
          <a:xfrm>
            <a:off x="11155680" y="6547104"/>
            <a:ext cx="548640" cy="274320"/>
          </a:xfrm>
          <a:prstGeom prst="rect">
            <a:avLst/>
          </a:prstGeom>
          <a:noFill/>
          <a:ln/>
        </p:spPr>
        <p:txBody>
          <a:bodyPr wrap="square" lIns="0" tIns="0" rIns="0" bIns="0" rtlCol="0" anchor="ctr"/>
          <a:lstStyle/>
          <a:p>
            <a:pPr algn="r" indent="0" marL="0">
              <a:buNone/>
            </a:pPr>
            <a:r>
              <a:rPr lang="en-US" sz="900" dirty="0">
                <a:solidFill>
                  <a:srgbClr val="768692"/>
                </a:solidFill>
                <a:latin typeface="Calibri" pitchFamily="34" charset="0"/>
                <a:ea typeface="Calibri" pitchFamily="34" charset="-122"/>
                <a:cs typeface="Calibri" pitchFamily="34" charset="-120"/>
              </a:rPr>
              <a:t>14</a:t>
            </a:r>
            <a:endParaRPr lang="en-US" sz="900" dirty="0"/>
          </a:p>
        </p:txBody>
      </p:sp>
      <p:sp>
        <p:nvSpPr>
          <p:cNvPr id="13" name="Shape 11"/>
          <p:cNvSpPr/>
          <p:nvPr/>
        </p:nvSpPr>
        <p:spPr>
          <a:xfrm>
            <a:off x="457200" y="1664208"/>
            <a:ext cx="5623560" cy="4334256"/>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14" name="Shape 12"/>
          <p:cNvSpPr/>
          <p:nvPr/>
        </p:nvSpPr>
        <p:spPr>
          <a:xfrm>
            <a:off x="457200" y="1664208"/>
            <a:ext cx="73152" cy="4334256"/>
          </a:xfrm>
          <a:prstGeom prst="rect">
            <a:avLst/>
          </a:prstGeom>
          <a:solidFill>
            <a:srgbClr val="003087"/>
          </a:solidFill>
          <a:ln w="12700">
            <a:solidFill>
              <a:srgbClr val="003087"/>
            </a:solidFill>
            <a:prstDash val="solid"/>
          </a:ln>
        </p:spPr>
      </p:sp>
      <p:sp>
        <p:nvSpPr>
          <p:cNvPr id="15" name="Shape 13"/>
          <p:cNvSpPr/>
          <p:nvPr/>
        </p:nvSpPr>
        <p:spPr>
          <a:xfrm>
            <a:off x="658368" y="1911096"/>
            <a:ext cx="594360" cy="594360"/>
          </a:xfrm>
          <a:prstGeom prst="ellipse">
            <a:avLst/>
          </a:prstGeom>
          <a:solidFill>
            <a:srgbClr val="003087"/>
          </a:solidFill>
          <a:ln w="12700">
            <a:solidFill>
              <a:srgbClr val="003087"/>
            </a:solidFill>
            <a:prstDash val="solid"/>
          </a:ln>
        </p:spPr>
      </p:sp>
      <p:pic>
        <p:nvPicPr>
          <p:cNvPr id="16" name="Image 0" descr="/tmp/claude-0/-home-claude/0392ef1a-ea77-535e-abf6-0e4ef3a33421/scratchpad/build/icons/w2.png">    </p:cNvPr>
          <p:cNvPicPr>
            <a:picLocks noChangeAspect="1"/>
          </p:cNvPicPr>
          <p:nvPr/>
        </p:nvPicPr>
        <p:blipFill>
          <a:blip r:embed="rId1"/>
          <a:stretch>
            <a:fillRect/>
          </a:stretch>
        </p:blipFill>
        <p:spPr>
          <a:xfrm>
            <a:off x="795528" y="2048256"/>
            <a:ext cx="320040" cy="320040"/>
          </a:xfrm>
          <a:prstGeom prst="rect">
            <a:avLst/>
          </a:prstGeom>
        </p:spPr>
      </p:pic>
      <p:sp>
        <p:nvSpPr>
          <p:cNvPr id="17" name="Text 14"/>
          <p:cNvSpPr txBox="1"/>
          <p:nvPr/>
        </p:nvSpPr>
        <p:spPr>
          <a:xfrm>
            <a:off x="1508760" y="1892808"/>
            <a:ext cx="4389120" cy="256032"/>
          </a:xfrm>
          <a:prstGeom prst="rect">
            <a:avLst/>
          </a:prstGeom>
          <a:noFill/>
          <a:ln/>
        </p:spPr>
        <p:txBody>
          <a:bodyPr wrap="square" lIns="0" tIns="0" rIns="0" bIns="0" rtlCol="0" anchor="ctr"/>
          <a:lstStyle/>
          <a:p>
            <a:pPr indent="0" marL="0">
              <a:buNone/>
            </a:pPr>
            <a:r>
              <a:rPr lang="en-US" sz="1100" b="1" spc="180" kern="0" dirty="0">
                <a:solidFill>
                  <a:srgbClr val="003087"/>
                </a:solidFill>
                <a:latin typeface="Calibri" pitchFamily="34" charset="0"/>
                <a:ea typeface="Calibri" pitchFamily="34" charset="-122"/>
                <a:cs typeface="Calibri" pitchFamily="34" charset="-120"/>
              </a:rPr>
              <a:t>COMPETENT UNSUPERVISED</a:t>
            </a:r>
            <a:endParaRPr lang="en-US" sz="1100" dirty="0"/>
          </a:p>
        </p:txBody>
      </p:sp>
      <p:sp>
        <p:nvSpPr>
          <p:cNvPr id="18" name="Text 15"/>
          <p:cNvSpPr txBox="1"/>
          <p:nvPr/>
        </p:nvSpPr>
        <p:spPr>
          <a:xfrm>
            <a:off x="1508760" y="2167128"/>
            <a:ext cx="4389120" cy="411480"/>
          </a:xfrm>
          <a:prstGeom prst="rect">
            <a:avLst/>
          </a:prstGeom>
          <a:noFill/>
          <a:ln/>
        </p:spPr>
        <p:txBody>
          <a:bodyPr wrap="square" lIns="0" tIns="0" rIns="0" bIns="0" rtlCol="0" anchor="t"/>
          <a:lstStyle/>
          <a:p>
            <a:pPr indent="0" marL="0">
              <a:buNone/>
            </a:pPr>
            <a:r>
              <a:rPr lang="en-US" sz="1800" b="1" dirty="0">
                <a:solidFill>
                  <a:srgbClr val="003087"/>
                </a:solidFill>
                <a:latin typeface="Calibri" pitchFamily="34" charset="0"/>
                <a:ea typeface="Calibri" pitchFamily="34" charset="-122"/>
                <a:cs typeface="Calibri" pitchFamily="34" charset="-120"/>
              </a:rPr>
              <a:t>Maintain independent competence</a:t>
            </a:r>
            <a:endParaRPr lang="en-US" sz="1800" dirty="0"/>
          </a:p>
        </p:txBody>
      </p:sp>
      <p:sp>
        <p:nvSpPr>
          <p:cNvPr id="19" name="Text 16"/>
          <p:cNvSpPr txBox="1"/>
          <p:nvPr/>
        </p:nvSpPr>
        <p:spPr>
          <a:xfrm>
            <a:off x="1508760" y="2596896"/>
            <a:ext cx="4389120" cy="274320"/>
          </a:xfrm>
          <a:prstGeom prst="rect">
            <a:avLst/>
          </a:prstGeom>
          <a:noFill/>
          <a:ln/>
        </p:spPr>
        <p:txBody>
          <a:bodyPr wrap="square" lIns="0" tIns="0" rIns="0" bIns="0" rtlCol="0" anchor="ctr"/>
          <a:lstStyle/>
          <a:p>
            <a:pPr indent="0" marL="0">
              <a:buNone/>
            </a:pPr>
            <a:r>
              <a:rPr lang="en-US" sz="1100" i="1" dirty="0">
                <a:solidFill>
                  <a:srgbClr val="003087"/>
                </a:solidFill>
                <a:latin typeface="Calibri" pitchFamily="34" charset="0"/>
                <a:ea typeface="Calibri" pitchFamily="34" charset="-122"/>
                <a:cs typeface="Calibri" pitchFamily="34" charset="-120"/>
              </a:rPr>
              <a:t>Minimum level required in IMS2</a:t>
            </a:r>
            <a:endParaRPr lang="en-US" sz="1100" dirty="0"/>
          </a:p>
        </p:txBody>
      </p:sp>
      <p:sp>
        <p:nvSpPr>
          <p:cNvPr id="20" name="Text 17"/>
          <p:cNvSpPr txBox="1"/>
          <p:nvPr/>
        </p:nvSpPr>
        <p:spPr>
          <a:xfrm>
            <a:off x="713232" y="3081528"/>
            <a:ext cx="5120640" cy="2139696"/>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Advanced cardiopulmonary resuscitation — leadership of the CPR team</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Ascitic tap</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Direct current cardioversion</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Lumbar puncture</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Nasogastric tube</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Pleural aspiration for fluid (diagnostic) — which also implies needle decompression of a large symptomatic pneumothorax</a:t>
            </a:r>
            <a:endParaRPr lang="en-US" sz="1100" dirty="0"/>
          </a:p>
        </p:txBody>
      </p:sp>
      <p:sp>
        <p:nvSpPr>
          <p:cNvPr id="21" name="Shape 18"/>
          <p:cNvSpPr/>
          <p:nvPr/>
        </p:nvSpPr>
        <p:spPr>
          <a:xfrm>
            <a:off x="594360" y="5221224"/>
            <a:ext cx="5349240" cy="502920"/>
          </a:xfrm>
          <a:prstGeom prst="rect">
            <a:avLst/>
          </a:prstGeom>
          <a:solidFill>
            <a:srgbClr val="F0F4F5"/>
          </a:solidFill>
          <a:ln w="12700">
            <a:solidFill>
              <a:srgbClr val="F0F4F5"/>
            </a:solidFill>
            <a:prstDash val="solid"/>
          </a:ln>
        </p:spPr>
      </p:sp>
      <p:sp>
        <p:nvSpPr>
          <p:cNvPr id="22" name="Text 19"/>
          <p:cNvSpPr txBox="1"/>
          <p:nvPr/>
        </p:nvSpPr>
        <p:spPr>
          <a:xfrm>
            <a:off x="749808" y="5221224"/>
            <a:ext cx="5056632" cy="502920"/>
          </a:xfrm>
          <a:prstGeom prst="rect">
            <a:avLst/>
          </a:prstGeom>
          <a:noFill/>
          <a:ln/>
        </p:spPr>
        <p:txBody>
          <a:bodyPr wrap="square" lIns="0" tIns="0" rIns="0" bIns="0" rtlCol="0" anchor="ctr"/>
          <a:lstStyle/>
          <a:p>
            <a:pPr indent="0" marL="0">
              <a:buNone/>
            </a:pPr>
            <a:r>
              <a:rPr lang="en-US" sz="1000" b="1" dirty="0">
                <a:solidFill>
                  <a:srgbClr val="003087"/>
                </a:solidFill>
                <a:latin typeface="Calibri" pitchFamily="34" charset="0"/>
                <a:ea typeface="Calibri" pitchFamily="34" charset="-122"/>
                <a:cs typeface="Calibri" pitchFamily="34" charset="-120"/>
              </a:rPr>
              <a:t>A </a:t>
            </a:r>
            <a:pPr indent="0" marL="0">
              <a:buNone/>
            </a:pPr>
            <a:r>
              <a:rPr lang="en-US" sz="1000" dirty="0">
                <a:solidFill>
                  <a:srgbClr val="212B32"/>
                </a:solidFill>
                <a:latin typeface="Calibri" pitchFamily="34" charset="0"/>
                <a:ea typeface="Calibri" pitchFamily="34" charset="-122"/>
                <a:cs typeface="Calibri" pitchFamily="34" charset="-120"/>
              </a:rPr>
              <a:t>valid ALS certificate is required in every year of IMS2.</a:t>
            </a:r>
            <a:endParaRPr lang="en-US" sz="1000" dirty="0"/>
          </a:p>
        </p:txBody>
      </p:sp>
      <p:sp>
        <p:nvSpPr>
          <p:cNvPr id="23" name="Shape 20"/>
          <p:cNvSpPr/>
          <p:nvPr/>
        </p:nvSpPr>
        <p:spPr>
          <a:xfrm>
            <a:off x="6172200" y="1664208"/>
            <a:ext cx="5532120" cy="4334256"/>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24" name="Shape 21"/>
          <p:cNvSpPr/>
          <p:nvPr/>
        </p:nvSpPr>
        <p:spPr>
          <a:xfrm>
            <a:off x="6172200" y="1664208"/>
            <a:ext cx="73152" cy="4334256"/>
          </a:xfrm>
          <a:prstGeom prst="rect">
            <a:avLst/>
          </a:prstGeom>
          <a:solidFill>
            <a:srgbClr val="0072CE"/>
          </a:solidFill>
          <a:ln w="12700">
            <a:solidFill>
              <a:srgbClr val="0072CE"/>
            </a:solidFill>
            <a:prstDash val="solid"/>
          </a:ln>
        </p:spPr>
      </p:sp>
      <p:sp>
        <p:nvSpPr>
          <p:cNvPr id="25" name="Shape 22"/>
          <p:cNvSpPr/>
          <p:nvPr/>
        </p:nvSpPr>
        <p:spPr>
          <a:xfrm>
            <a:off x="6373368" y="1911096"/>
            <a:ext cx="594360" cy="594360"/>
          </a:xfrm>
          <a:prstGeom prst="ellipse">
            <a:avLst/>
          </a:prstGeom>
          <a:solidFill>
            <a:srgbClr val="0072CE"/>
          </a:solidFill>
          <a:ln w="12700">
            <a:solidFill>
              <a:srgbClr val="0072CE"/>
            </a:solidFill>
            <a:prstDash val="solid"/>
          </a:ln>
        </p:spPr>
      </p:sp>
      <p:pic>
        <p:nvPicPr>
          <p:cNvPr id="26" name="Image 1" descr="/tmp/claude-0/-home-claude/0392ef1a-ea77-535e-abf6-0e4ef3a33421/scratchpad/build/icons/w12.png">    </p:cNvPr>
          <p:cNvPicPr>
            <a:picLocks noChangeAspect="1"/>
          </p:cNvPicPr>
          <p:nvPr/>
        </p:nvPicPr>
        <p:blipFill>
          <a:blip r:embed="rId2"/>
          <a:stretch>
            <a:fillRect/>
          </a:stretch>
        </p:blipFill>
        <p:spPr>
          <a:xfrm>
            <a:off x="6510528" y="2048256"/>
            <a:ext cx="320040" cy="320040"/>
          </a:xfrm>
          <a:prstGeom prst="rect">
            <a:avLst/>
          </a:prstGeom>
        </p:spPr>
      </p:pic>
      <p:sp>
        <p:nvSpPr>
          <p:cNvPr id="27" name="Text 23"/>
          <p:cNvSpPr txBox="1"/>
          <p:nvPr/>
        </p:nvSpPr>
        <p:spPr>
          <a:xfrm>
            <a:off x="7223760" y="1892808"/>
            <a:ext cx="4297680" cy="256032"/>
          </a:xfrm>
          <a:prstGeom prst="rect">
            <a:avLst/>
          </a:prstGeom>
          <a:noFill/>
          <a:ln/>
        </p:spPr>
        <p:txBody>
          <a:bodyPr wrap="square" lIns="0" tIns="0" rIns="0" bIns="0" rtlCol="0" anchor="ctr"/>
          <a:lstStyle/>
          <a:p>
            <a:pPr indent="0" marL="0">
              <a:buNone/>
            </a:pPr>
            <a:r>
              <a:rPr lang="en-US" sz="1100" b="1" spc="180" kern="0" dirty="0">
                <a:solidFill>
                  <a:srgbClr val="0072CE"/>
                </a:solidFill>
                <a:latin typeface="Calibri" pitchFamily="34" charset="0"/>
                <a:ea typeface="Calibri" pitchFamily="34" charset="-122"/>
                <a:cs typeface="Calibri" pitchFamily="34" charset="-120"/>
              </a:rPr>
              <a:t>SKILLS LAB OR SUPERVISED PRACTICE</a:t>
            </a:r>
            <a:endParaRPr lang="en-US" sz="1100" dirty="0"/>
          </a:p>
        </p:txBody>
      </p:sp>
      <p:sp>
        <p:nvSpPr>
          <p:cNvPr id="28" name="Text 24"/>
          <p:cNvSpPr txBox="1"/>
          <p:nvPr/>
        </p:nvSpPr>
        <p:spPr>
          <a:xfrm>
            <a:off x="7223760" y="2167128"/>
            <a:ext cx="4297680" cy="411480"/>
          </a:xfrm>
          <a:prstGeom prst="rect">
            <a:avLst/>
          </a:prstGeom>
          <a:noFill/>
          <a:ln/>
        </p:spPr>
        <p:txBody>
          <a:bodyPr wrap="square" lIns="0" tIns="0" rIns="0" bIns="0" rtlCol="0" anchor="t"/>
          <a:lstStyle/>
          <a:p>
            <a:pPr indent="0" marL="0">
              <a:buNone/>
            </a:pPr>
            <a:r>
              <a:rPr lang="en-US" sz="1800" b="1" dirty="0">
                <a:solidFill>
                  <a:srgbClr val="003087"/>
                </a:solidFill>
                <a:latin typeface="Calibri" pitchFamily="34" charset="0"/>
                <a:ea typeface="Calibri" pitchFamily="34" charset="-122"/>
                <a:cs typeface="Calibri" pitchFamily="34" charset="-120"/>
              </a:rPr>
              <a:t>Maintain exposure</a:t>
            </a:r>
            <a:endParaRPr lang="en-US" sz="1800" dirty="0"/>
          </a:p>
        </p:txBody>
      </p:sp>
      <p:sp>
        <p:nvSpPr>
          <p:cNvPr id="29" name="Text 25"/>
          <p:cNvSpPr txBox="1"/>
          <p:nvPr/>
        </p:nvSpPr>
        <p:spPr>
          <a:xfrm>
            <a:off x="7223760" y="2596896"/>
            <a:ext cx="4297680" cy="274320"/>
          </a:xfrm>
          <a:prstGeom prst="rect">
            <a:avLst/>
          </a:prstGeom>
          <a:noFill/>
          <a:ln/>
        </p:spPr>
        <p:txBody>
          <a:bodyPr wrap="square" lIns="0" tIns="0" rIns="0" bIns="0" rtlCol="0" anchor="ctr"/>
          <a:lstStyle/>
          <a:p>
            <a:pPr indent="0" marL="0">
              <a:buNone/>
            </a:pPr>
            <a:r>
              <a:rPr lang="en-US" sz="1100" i="1" dirty="0">
                <a:solidFill>
                  <a:srgbClr val="0072CE"/>
                </a:solidFill>
                <a:latin typeface="Calibri" pitchFamily="34" charset="0"/>
                <a:ea typeface="Calibri" pitchFamily="34" charset="-122"/>
                <a:cs typeface="Calibri" pitchFamily="34" charset="-120"/>
              </a:rPr>
              <a:t>Either route is acceptable</a:t>
            </a:r>
            <a:endParaRPr lang="en-US" sz="1100" dirty="0"/>
          </a:p>
        </p:txBody>
      </p:sp>
      <p:sp>
        <p:nvSpPr>
          <p:cNvPr id="30" name="Text 26"/>
          <p:cNvSpPr txBox="1"/>
          <p:nvPr/>
        </p:nvSpPr>
        <p:spPr>
          <a:xfrm>
            <a:off x="6428232" y="3081528"/>
            <a:ext cx="5029200" cy="2139696"/>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Abdominal paracentesis</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Access to circulation for resuscitation — femoral vein or intraosseous</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Central venous cannulation — internal jugular or subclavian</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Intercostal drain for effusion</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Intercostal drain for pneumothorax</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Temporary cardiac pacing using an external device</a:t>
            </a:r>
            <a:endParaRPr lang="en-US" sz="1100" dirty="0"/>
          </a:p>
        </p:txBody>
      </p:sp>
      <p:sp>
        <p:nvSpPr>
          <p:cNvPr id="31" name="Shape 27"/>
          <p:cNvSpPr/>
          <p:nvPr/>
        </p:nvSpPr>
        <p:spPr>
          <a:xfrm>
            <a:off x="6309360" y="5221224"/>
            <a:ext cx="5257800" cy="502920"/>
          </a:xfrm>
          <a:prstGeom prst="rect">
            <a:avLst/>
          </a:prstGeom>
          <a:solidFill>
            <a:srgbClr val="F0F4F5"/>
          </a:solidFill>
          <a:ln w="12700">
            <a:solidFill>
              <a:srgbClr val="F0F4F5"/>
            </a:solidFill>
            <a:prstDash val="solid"/>
          </a:ln>
        </p:spPr>
      </p:sp>
      <p:sp>
        <p:nvSpPr>
          <p:cNvPr id="32" name="Text 28"/>
          <p:cNvSpPr txBox="1"/>
          <p:nvPr/>
        </p:nvSpPr>
        <p:spPr>
          <a:xfrm>
            <a:off x="6464808" y="5221224"/>
            <a:ext cx="4965192" cy="502920"/>
          </a:xfrm>
          <a:prstGeom prst="rect">
            <a:avLst/>
          </a:prstGeom>
          <a:noFill/>
          <a:ln/>
        </p:spPr>
        <p:txBody>
          <a:bodyPr wrap="square" lIns="0" tIns="0" rIns="0" bIns="0" rtlCol="0" anchor="ctr"/>
          <a:lstStyle/>
          <a:p>
            <a:pPr indent="0" marL="0">
              <a:buNone/>
            </a:pPr>
            <a:r>
              <a:rPr lang="en-US" sz="1000" b="1" dirty="0">
                <a:solidFill>
                  <a:srgbClr val="0072CE"/>
                </a:solidFill>
                <a:latin typeface="Calibri" pitchFamily="34" charset="0"/>
                <a:ea typeface="Calibri" pitchFamily="34" charset="-122"/>
                <a:cs typeface="Calibri" pitchFamily="34" charset="-120"/>
              </a:rPr>
              <a:t>Pleural procedures </a:t>
            </a:r>
            <a:pPr indent="0" marL="0">
              <a:buNone/>
            </a:pPr>
            <a:r>
              <a:rPr lang="en-US" sz="1000" dirty="0">
                <a:solidFill>
                  <a:srgbClr val="212B32"/>
                </a:solidFill>
                <a:latin typeface="Calibri" pitchFamily="34" charset="0"/>
                <a:ea typeface="Calibri" pitchFamily="34" charset="-122"/>
                <a:cs typeface="Calibri" pitchFamily="34" charset="-120"/>
              </a:rPr>
              <a:t>should follow BTS guidance, with ultrasound by a pleural-trained practitioner.</a:t>
            </a:r>
            <a:endParaRPr lang="en-US" sz="1000" dirty="0"/>
          </a:p>
        </p:txBody>
      </p:sp>
      <p:sp>
        <p:nvSpPr>
          <p:cNvPr id="33" name="Shape 29"/>
          <p:cNvSpPr/>
          <p:nvPr/>
        </p:nvSpPr>
        <p:spPr>
          <a:xfrm>
            <a:off x="457200" y="6071616"/>
            <a:ext cx="11247120" cy="438912"/>
          </a:xfrm>
          <a:prstGeom prst="rect">
            <a:avLst/>
          </a:prstGeom>
          <a:solidFill>
            <a:srgbClr val="F0F4F5"/>
          </a:solidFill>
          <a:ln w="12700">
            <a:solidFill>
              <a:srgbClr val="F0F4F5"/>
            </a:solidFill>
            <a:prstDash val="solid"/>
          </a:ln>
        </p:spPr>
      </p:sp>
      <p:sp>
        <p:nvSpPr>
          <p:cNvPr id="34" name="Shape 30"/>
          <p:cNvSpPr/>
          <p:nvPr/>
        </p:nvSpPr>
        <p:spPr>
          <a:xfrm>
            <a:off x="457200" y="6071616"/>
            <a:ext cx="73152" cy="438912"/>
          </a:xfrm>
          <a:prstGeom prst="rect">
            <a:avLst/>
          </a:prstGeom>
          <a:solidFill>
            <a:srgbClr val="FFB81C"/>
          </a:solidFill>
          <a:ln w="12700">
            <a:solidFill>
              <a:srgbClr val="FFB81C"/>
            </a:solidFill>
            <a:prstDash val="solid"/>
          </a:ln>
        </p:spPr>
      </p:sp>
      <p:sp>
        <p:nvSpPr>
          <p:cNvPr id="35" name="Text 31"/>
          <p:cNvSpPr txBox="1"/>
          <p:nvPr/>
        </p:nvSpPr>
        <p:spPr>
          <a:xfrm>
            <a:off x="658368" y="6071616"/>
            <a:ext cx="10881360" cy="438912"/>
          </a:xfrm>
          <a:prstGeom prst="rect">
            <a:avLst/>
          </a:prstGeom>
          <a:noFill/>
          <a:ln/>
        </p:spPr>
        <p:txBody>
          <a:bodyPr wrap="square" lIns="0" tIns="0" rIns="0" bIns="0" rtlCol="0" anchor="ctr"/>
          <a:lstStyle/>
          <a:p>
            <a:pPr indent="0" marL="0">
              <a:buNone/>
            </a:pPr>
            <a:r>
              <a:rPr lang="en-US" sz="1000" i="1" dirty="0">
                <a:solidFill>
                  <a:srgbClr val="212B32"/>
                </a:solidFill>
                <a:latin typeface="Calibri" pitchFamily="34" charset="0"/>
                <a:ea typeface="Calibri" pitchFamily="34" charset="-122"/>
                <a:cs typeface="Calibri" pitchFamily="34" charset="-120"/>
              </a:rPr>
              <a:t>Once you have been signed off as able to perform a procedure independently, no further DOPS is required — unless you or your educational supervisor think one is.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10584180" y="379476"/>
            <a:ext cx="82296" cy="82296"/>
          </a:xfrm>
          <a:prstGeom prst="ellipse">
            <a:avLst/>
          </a:prstGeom>
          <a:solidFill>
            <a:srgbClr val="D8DDE0"/>
          </a:solidFill>
          <a:ln w="12700">
            <a:solidFill>
              <a:srgbClr val="D8DDE0"/>
            </a:solidFill>
            <a:prstDash val="solid"/>
          </a:ln>
        </p:spPr>
      </p:sp>
      <p:sp>
        <p:nvSpPr>
          <p:cNvPr id="3" name="Shape 1"/>
          <p:cNvSpPr/>
          <p:nvPr/>
        </p:nvSpPr>
        <p:spPr>
          <a:xfrm>
            <a:off x="10794492" y="379476"/>
            <a:ext cx="82296" cy="82296"/>
          </a:xfrm>
          <a:prstGeom prst="ellipse">
            <a:avLst/>
          </a:prstGeom>
          <a:solidFill>
            <a:srgbClr val="D8DDE0"/>
          </a:solidFill>
          <a:ln w="12700">
            <a:solidFill>
              <a:srgbClr val="D8DDE0"/>
            </a:solidFill>
            <a:prstDash val="solid"/>
          </a:ln>
        </p:spPr>
      </p:sp>
      <p:sp>
        <p:nvSpPr>
          <p:cNvPr id="4" name="Shape 2"/>
          <p:cNvSpPr/>
          <p:nvPr/>
        </p:nvSpPr>
        <p:spPr>
          <a:xfrm>
            <a:off x="11004804" y="379476"/>
            <a:ext cx="82296" cy="82296"/>
          </a:xfrm>
          <a:prstGeom prst="ellipse">
            <a:avLst/>
          </a:prstGeom>
          <a:solidFill>
            <a:srgbClr val="D8DDE0"/>
          </a:solidFill>
          <a:ln w="12700">
            <a:solidFill>
              <a:srgbClr val="D8DDE0"/>
            </a:solidFill>
            <a:prstDash val="solid"/>
          </a:ln>
        </p:spPr>
      </p:sp>
      <p:sp>
        <p:nvSpPr>
          <p:cNvPr id="5" name="Shape 3"/>
          <p:cNvSpPr/>
          <p:nvPr/>
        </p:nvSpPr>
        <p:spPr>
          <a:xfrm>
            <a:off x="11196828" y="361188"/>
            <a:ext cx="118872" cy="118872"/>
          </a:xfrm>
          <a:prstGeom prst="ellipse">
            <a:avLst/>
          </a:prstGeom>
          <a:solidFill>
            <a:srgbClr val="009639"/>
          </a:solidFill>
          <a:ln w="12700">
            <a:solidFill>
              <a:srgbClr val="009639"/>
            </a:solidFill>
            <a:prstDash val="solid"/>
          </a:ln>
        </p:spPr>
      </p:sp>
      <p:sp>
        <p:nvSpPr>
          <p:cNvPr id="6" name="Shape 4"/>
          <p:cNvSpPr/>
          <p:nvPr/>
        </p:nvSpPr>
        <p:spPr>
          <a:xfrm>
            <a:off x="11425428" y="379476"/>
            <a:ext cx="82296" cy="82296"/>
          </a:xfrm>
          <a:prstGeom prst="ellipse">
            <a:avLst/>
          </a:prstGeom>
          <a:solidFill>
            <a:srgbClr val="D8DDE0"/>
          </a:solidFill>
          <a:ln w="12700">
            <a:solidFill>
              <a:srgbClr val="D8DDE0"/>
            </a:solidFill>
            <a:prstDash val="solid"/>
          </a:ln>
        </p:spPr>
      </p:sp>
      <p:sp>
        <p:nvSpPr>
          <p:cNvPr id="7" name="Shape 5"/>
          <p:cNvSpPr/>
          <p:nvPr/>
        </p:nvSpPr>
        <p:spPr>
          <a:xfrm>
            <a:off x="11635740" y="379476"/>
            <a:ext cx="82296" cy="82296"/>
          </a:xfrm>
          <a:prstGeom prst="ellipse">
            <a:avLst/>
          </a:prstGeom>
          <a:solidFill>
            <a:srgbClr val="D8DDE0"/>
          </a:solidFill>
          <a:ln w="12700">
            <a:solidFill>
              <a:srgbClr val="D8DDE0"/>
            </a:solidFill>
            <a:prstDash val="solid"/>
          </a:ln>
        </p:spPr>
      </p:sp>
      <p:sp>
        <p:nvSpPr>
          <p:cNvPr id="8" name="Text 6"/>
          <p:cNvSpPr txBox="1"/>
          <p:nvPr/>
        </p:nvSpPr>
        <p:spPr>
          <a:xfrm>
            <a:off x="457200" y="274320"/>
            <a:ext cx="9875520" cy="256032"/>
          </a:xfrm>
          <a:prstGeom prst="rect">
            <a:avLst/>
          </a:prstGeom>
          <a:noFill/>
          <a:ln/>
        </p:spPr>
        <p:txBody>
          <a:bodyPr wrap="square" lIns="0" tIns="0" rIns="0" bIns="0" rtlCol="0" anchor="ctr"/>
          <a:lstStyle/>
          <a:p>
            <a:pPr indent="0" marL="0">
              <a:buNone/>
            </a:pPr>
            <a:r>
              <a:rPr lang="en-US" sz="1100" b="1" spc="240" kern="0" dirty="0">
                <a:solidFill>
                  <a:srgbClr val="009639"/>
                </a:solidFill>
                <a:latin typeface="Calibri" pitchFamily="34" charset="0"/>
                <a:ea typeface="Calibri" pitchFamily="34" charset="-122"/>
                <a:cs typeface="Calibri" pitchFamily="34" charset="-120"/>
              </a:rPr>
              <a:t>PART 04 · TWO CiPs, DEDICATED PATHWAYS</a:t>
            </a:r>
            <a:endParaRPr lang="en-US" sz="1100" dirty="0"/>
          </a:p>
        </p:txBody>
      </p:sp>
      <p:sp>
        <p:nvSpPr>
          <p:cNvPr id="9" name="Text 7"/>
          <p:cNvSpPr txBox="1"/>
          <p:nvPr/>
        </p:nvSpPr>
        <p:spPr>
          <a:xfrm>
            <a:off x="457200" y="512064"/>
            <a:ext cx="11247120" cy="658368"/>
          </a:xfrm>
          <a:prstGeom prst="rect">
            <a:avLst/>
          </a:prstGeom>
          <a:noFill/>
          <a:ln/>
        </p:spPr>
        <p:txBody>
          <a:bodyPr wrap="square" lIns="0" tIns="0" rIns="0" bIns="0" rtlCol="0" anchor="ctr"/>
          <a:lstStyle/>
          <a:p>
            <a:pPr indent="0" marL="0">
              <a:buNone/>
            </a:pPr>
            <a:r>
              <a:rPr lang="en-US" sz="3000" b="1" dirty="0">
                <a:solidFill>
                  <a:srgbClr val="003087"/>
                </a:solidFill>
                <a:latin typeface="Calibri" pitchFamily="34" charset="0"/>
                <a:ea typeface="Calibri" pitchFamily="34" charset="-122"/>
                <a:cs typeface="Calibri" pitchFamily="34" charset="-120"/>
              </a:rPr>
              <a:t>CiPs 1 and 4 — undertaken outside your specialty</a:t>
            </a:r>
            <a:endParaRPr lang="en-US" sz="3000" dirty="0"/>
          </a:p>
        </p:txBody>
      </p:sp>
      <p:sp>
        <p:nvSpPr>
          <p:cNvPr id="10" name="Text 8"/>
          <p:cNvSpPr txBox="1"/>
          <p:nvPr/>
        </p:nvSpPr>
        <p:spPr>
          <a:xfrm>
            <a:off x="457200" y="1170432"/>
            <a:ext cx="11247120" cy="411480"/>
          </a:xfrm>
          <a:prstGeom prst="rect">
            <a:avLst/>
          </a:prstGeom>
          <a:noFill/>
          <a:ln/>
        </p:spPr>
        <p:txBody>
          <a:bodyPr wrap="square" lIns="0" tIns="0" rIns="0" bIns="0" rtlCol="0" anchor="t"/>
          <a:lstStyle/>
          <a:p>
            <a:pPr indent="0" marL="0">
              <a:buNone/>
            </a:pPr>
            <a:r>
              <a:rPr lang="en-US" sz="1200" i="1" dirty="0">
                <a:solidFill>
                  <a:srgbClr val="768692"/>
                </a:solidFill>
                <a:latin typeface="Calibri" pitchFamily="34" charset="0"/>
                <a:ea typeface="Calibri" pitchFamily="34" charset="-122"/>
                <a:cs typeface="Calibri" pitchFamily="34" charset="-120"/>
              </a:rPr>
              <a:t>These do not accumulate from your specialty's ward and clinic work. They sit on top of the home role and need deliberate planning.</a:t>
            </a:r>
            <a:endParaRPr lang="en-US" sz="1200" dirty="0"/>
          </a:p>
        </p:txBody>
      </p:sp>
      <p:sp>
        <p:nvSpPr>
          <p:cNvPr id="11" name="Text 9"/>
          <p:cNvSpPr txBox="1"/>
          <p:nvPr/>
        </p:nvSpPr>
        <p:spPr>
          <a:xfrm>
            <a:off x="457200" y="6547104"/>
            <a:ext cx="7315200" cy="274320"/>
          </a:xfrm>
          <a:prstGeom prst="rect">
            <a:avLst/>
          </a:prstGeom>
          <a:noFill/>
          <a:ln/>
        </p:spPr>
        <p:txBody>
          <a:bodyPr wrap="square" lIns="0" tIns="0" rIns="0" bIns="0" rtlCol="0" anchor="ctr"/>
          <a:lstStyle/>
          <a:p>
            <a:pPr indent="0" marL="0">
              <a:buNone/>
            </a:pPr>
            <a:r>
              <a:rPr lang="en-US" sz="900" dirty="0">
                <a:solidFill>
                  <a:srgbClr val="768692"/>
                </a:solidFill>
                <a:latin typeface="Calibri" pitchFamily="34" charset="0"/>
                <a:ea typeface="Calibri" pitchFamily="34" charset="-122"/>
                <a:cs typeface="Calibri" pitchFamily="34" charset="-120"/>
              </a:rPr>
              <a:t>GIM ARCP · trainee guidance · </a:t>
            </a:r>
            <a:pPr indent="0" marL="0">
              <a:buNone/>
            </a:pPr>
            <a:r>
              <a:rPr lang="en-US" sz="900" b="1" dirty="0">
                <a:solidFill>
                  <a:srgbClr val="8A5E00"/>
                </a:solidFill>
                <a:latin typeface="Calibri" pitchFamily="34" charset="0"/>
                <a:ea typeface="Calibri" pitchFamily="34" charset="-122"/>
                <a:cs typeface="Calibri" pitchFamily="34" charset="-120"/>
              </a:rPr>
              <a:t>DRAFT</a:t>
            </a:r>
            <a:endParaRPr lang="en-US" sz="900" dirty="0"/>
          </a:p>
        </p:txBody>
      </p:sp>
      <p:sp>
        <p:nvSpPr>
          <p:cNvPr id="12" name="Text 10"/>
          <p:cNvSpPr txBox="1"/>
          <p:nvPr/>
        </p:nvSpPr>
        <p:spPr>
          <a:xfrm>
            <a:off x="11155680" y="6547104"/>
            <a:ext cx="548640" cy="274320"/>
          </a:xfrm>
          <a:prstGeom prst="rect">
            <a:avLst/>
          </a:prstGeom>
          <a:noFill/>
          <a:ln/>
        </p:spPr>
        <p:txBody>
          <a:bodyPr wrap="square" lIns="0" tIns="0" rIns="0" bIns="0" rtlCol="0" anchor="ctr"/>
          <a:lstStyle/>
          <a:p>
            <a:pPr algn="r" indent="0" marL="0">
              <a:buNone/>
            </a:pPr>
            <a:r>
              <a:rPr lang="en-US" sz="900" dirty="0">
                <a:solidFill>
                  <a:srgbClr val="768692"/>
                </a:solidFill>
                <a:latin typeface="Calibri" pitchFamily="34" charset="0"/>
                <a:ea typeface="Calibri" pitchFamily="34" charset="-122"/>
                <a:cs typeface="Calibri" pitchFamily="34" charset="-120"/>
              </a:rPr>
              <a:t>15</a:t>
            </a:r>
            <a:endParaRPr lang="en-US" sz="900" dirty="0"/>
          </a:p>
        </p:txBody>
      </p:sp>
      <p:sp>
        <p:nvSpPr>
          <p:cNvPr id="13" name="Shape 11"/>
          <p:cNvSpPr/>
          <p:nvPr/>
        </p:nvSpPr>
        <p:spPr>
          <a:xfrm>
            <a:off x="457200" y="1664208"/>
            <a:ext cx="5623560" cy="4334256"/>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14" name="Shape 12"/>
          <p:cNvSpPr/>
          <p:nvPr/>
        </p:nvSpPr>
        <p:spPr>
          <a:xfrm>
            <a:off x="457200" y="1664208"/>
            <a:ext cx="73152" cy="4334256"/>
          </a:xfrm>
          <a:prstGeom prst="rect">
            <a:avLst/>
          </a:prstGeom>
          <a:solidFill>
            <a:srgbClr val="003087"/>
          </a:solidFill>
          <a:ln w="12700">
            <a:solidFill>
              <a:srgbClr val="003087"/>
            </a:solidFill>
            <a:prstDash val="solid"/>
          </a:ln>
        </p:spPr>
      </p:sp>
      <p:sp>
        <p:nvSpPr>
          <p:cNvPr id="15" name="Shape 13"/>
          <p:cNvSpPr/>
          <p:nvPr/>
        </p:nvSpPr>
        <p:spPr>
          <a:xfrm>
            <a:off x="658368" y="1911096"/>
            <a:ext cx="594360" cy="594360"/>
          </a:xfrm>
          <a:prstGeom prst="ellipse">
            <a:avLst/>
          </a:prstGeom>
          <a:solidFill>
            <a:srgbClr val="003087"/>
          </a:solidFill>
          <a:ln w="12700">
            <a:solidFill>
              <a:srgbClr val="003087"/>
            </a:solidFill>
            <a:prstDash val="solid"/>
          </a:ln>
        </p:spPr>
      </p:sp>
      <p:pic>
        <p:nvPicPr>
          <p:cNvPr id="16" name="Image 0" descr="/tmp/claude-0/-home-claude/0392ef1a-ea77-535e-abf6-0e4ef3a33421/scratchpad/build/icons/w8.png">    </p:cNvPr>
          <p:cNvPicPr>
            <a:picLocks noChangeAspect="1"/>
          </p:cNvPicPr>
          <p:nvPr/>
        </p:nvPicPr>
        <p:blipFill>
          <a:blip r:embed="rId1"/>
          <a:stretch>
            <a:fillRect/>
          </a:stretch>
        </p:blipFill>
        <p:spPr>
          <a:xfrm>
            <a:off x="795528" y="2048256"/>
            <a:ext cx="320040" cy="320040"/>
          </a:xfrm>
          <a:prstGeom prst="rect">
            <a:avLst/>
          </a:prstGeom>
        </p:spPr>
      </p:pic>
      <p:sp>
        <p:nvSpPr>
          <p:cNvPr id="17" name="Text 14"/>
          <p:cNvSpPr txBox="1"/>
          <p:nvPr/>
        </p:nvSpPr>
        <p:spPr>
          <a:xfrm>
            <a:off x="1508760" y="1892808"/>
            <a:ext cx="4389120" cy="256032"/>
          </a:xfrm>
          <a:prstGeom prst="rect">
            <a:avLst/>
          </a:prstGeom>
          <a:noFill/>
          <a:ln/>
        </p:spPr>
        <p:txBody>
          <a:bodyPr wrap="square" lIns="0" tIns="0" rIns="0" bIns="0" rtlCol="0" anchor="ctr"/>
          <a:lstStyle/>
          <a:p>
            <a:pPr indent="0" marL="0">
              <a:buNone/>
            </a:pPr>
            <a:r>
              <a:rPr lang="en-US" sz="1100" b="1" spc="180" kern="0" dirty="0">
                <a:solidFill>
                  <a:srgbClr val="003087"/>
                </a:solidFill>
                <a:latin typeface="Calibri" pitchFamily="34" charset="0"/>
                <a:ea typeface="Calibri" pitchFamily="34" charset="-122"/>
                <a:cs typeface="Calibri" pitchFamily="34" charset="-120"/>
              </a:rPr>
              <a:t>IM CLINICAL CiP 1</a:t>
            </a:r>
            <a:endParaRPr lang="en-US" sz="1100" dirty="0"/>
          </a:p>
        </p:txBody>
      </p:sp>
      <p:sp>
        <p:nvSpPr>
          <p:cNvPr id="18" name="Text 15"/>
          <p:cNvSpPr txBox="1"/>
          <p:nvPr/>
        </p:nvSpPr>
        <p:spPr>
          <a:xfrm>
            <a:off x="1508760" y="2167128"/>
            <a:ext cx="4389120" cy="658368"/>
          </a:xfrm>
          <a:prstGeom prst="rect">
            <a:avLst/>
          </a:prstGeom>
          <a:noFill/>
          <a:ln/>
        </p:spPr>
        <p:txBody>
          <a:bodyPr wrap="square" lIns="0" tIns="0" rIns="0" bIns="0" rtlCol="0" anchor="t"/>
          <a:lstStyle/>
          <a:p>
            <a:pPr indent="0" marL="0">
              <a:buNone/>
            </a:pPr>
            <a:r>
              <a:rPr lang="en-US" sz="1800" b="1" dirty="0">
                <a:solidFill>
                  <a:srgbClr val="003087"/>
                </a:solidFill>
                <a:latin typeface="Calibri" pitchFamily="34" charset="0"/>
                <a:ea typeface="Calibri" pitchFamily="34" charset="-122"/>
                <a:cs typeface="Calibri" pitchFamily="34" charset="-120"/>
              </a:rPr>
              <a:t>Managing an acute unselected take</a:t>
            </a:r>
            <a:endParaRPr lang="en-US" sz="1800" dirty="0"/>
          </a:p>
        </p:txBody>
      </p:sp>
      <p:sp>
        <p:nvSpPr>
          <p:cNvPr id="19" name="Text 16"/>
          <p:cNvSpPr txBox="1"/>
          <p:nvPr/>
        </p:nvSpPr>
        <p:spPr>
          <a:xfrm>
            <a:off x="1508760" y="2843784"/>
            <a:ext cx="4389120" cy="274320"/>
          </a:xfrm>
          <a:prstGeom prst="rect">
            <a:avLst/>
          </a:prstGeom>
          <a:noFill/>
          <a:ln/>
        </p:spPr>
        <p:txBody>
          <a:bodyPr wrap="square" lIns="0" tIns="0" rIns="0" bIns="0" rtlCol="0" anchor="ctr"/>
          <a:lstStyle/>
          <a:p>
            <a:pPr indent="0" marL="0">
              <a:buNone/>
            </a:pPr>
            <a:r>
              <a:rPr lang="en-US" sz="1100" i="1" dirty="0">
                <a:solidFill>
                  <a:srgbClr val="003087"/>
                </a:solidFill>
                <a:latin typeface="Calibri" pitchFamily="34" charset="0"/>
                <a:ea typeface="Calibri" pitchFamily="34" charset="-122"/>
                <a:cs typeface="Calibri" pitchFamily="34" charset="-120"/>
              </a:rPr>
              <a:t>Met through the unselected medical take rota</a:t>
            </a:r>
            <a:endParaRPr lang="en-US" sz="1100" dirty="0"/>
          </a:p>
        </p:txBody>
      </p:sp>
      <p:sp>
        <p:nvSpPr>
          <p:cNvPr id="20" name="Text 17"/>
          <p:cNvSpPr txBox="1"/>
          <p:nvPr/>
        </p:nvSpPr>
        <p:spPr>
          <a:xfrm>
            <a:off x="713232" y="3328416"/>
            <a:ext cx="5120640" cy="1892808"/>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750 patients on the unselected medical take across IMS2</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100 patients in the final year of training</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Includes SDEC and post-take wards — SDEC counts here, not as a clinic</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Four ACATs per year by consultants supervising the take, five cases each</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Level 3 at ST4 to ST6, level 4 by CCT</a:t>
            </a:r>
            <a:endParaRPr lang="en-US" sz="1100" dirty="0"/>
          </a:p>
        </p:txBody>
      </p:sp>
      <p:sp>
        <p:nvSpPr>
          <p:cNvPr id="21" name="Shape 18"/>
          <p:cNvSpPr/>
          <p:nvPr/>
        </p:nvSpPr>
        <p:spPr>
          <a:xfrm>
            <a:off x="594360" y="5221224"/>
            <a:ext cx="5349240" cy="502920"/>
          </a:xfrm>
          <a:prstGeom prst="rect">
            <a:avLst/>
          </a:prstGeom>
          <a:solidFill>
            <a:srgbClr val="F0F4F5"/>
          </a:solidFill>
          <a:ln w="12700">
            <a:solidFill>
              <a:srgbClr val="F0F4F5"/>
            </a:solidFill>
            <a:prstDash val="solid"/>
          </a:ln>
        </p:spPr>
      </p:sp>
      <p:sp>
        <p:nvSpPr>
          <p:cNvPr id="22" name="Text 19"/>
          <p:cNvSpPr txBox="1"/>
          <p:nvPr/>
        </p:nvSpPr>
        <p:spPr>
          <a:xfrm>
            <a:off x="749808" y="5221224"/>
            <a:ext cx="5056632" cy="502920"/>
          </a:xfrm>
          <a:prstGeom prst="rect">
            <a:avLst/>
          </a:prstGeom>
          <a:noFill/>
          <a:ln/>
        </p:spPr>
        <p:txBody>
          <a:bodyPr wrap="square" lIns="0" tIns="0" rIns="0" bIns="0" rtlCol="0" anchor="ctr"/>
          <a:lstStyle/>
          <a:p>
            <a:pPr indent="0" marL="0">
              <a:buNone/>
            </a:pPr>
            <a:r>
              <a:rPr lang="en-US" sz="1000" b="1" dirty="0">
                <a:solidFill>
                  <a:srgbClr val="003087"/>
                </a:solidFill>
                <a:latin typeface="Calibri" pitchFamily="34" charset="0"/>
                <a:ea typeface="Calibri" pitchFamily="34" charset="-122"/>
                <a:cs typeface="Calibri" pitchFamily="34" charset="-120"/>
              </a:rPr>
              <a:t>Evidence: </a:t>
            </a:r>
            <a:pPr indent="0" marL="0">
              <a:buNone/>
            </a:pPr>
            <a:r>
              <a:rPr lang="en-US" sz="1000" dirty="0">
                <a:solidFill>
                  <a:srgbClr val="212B32"/>
                </a:solidFill>
                <a:latin typeface="Calibri" pitchFamily="34" charset="0"/>
                <a:ea typeface="Calibri" pitchFamily="34" charset="-122"/>
                <a:cs typeface="Calibri" pitchFamily="34" charset="-120"/>
              </a:rPr>
              <a:t>ACAT × take · CbD × complex presentation · MCR from take consultants</a:t>
            </a:r>
            <a:endParaRPr lang="en-US" sz="1000" dirty="0"/>
          </a:p>
        </p:txBody>
      </p:sp>
      <p:sp>
        <p:nvSpPr>
          <p:cNvPr id="23" name="Shape 20"/>
          <p:cNvSpPr/>
          <p:nvPr/>
        </p:nvSpPr>
        <p:spPr>
          <a:xfrm>
            <a:off x="6172200" y="1664208"/>
            <a:ext cx="5532120" cy="4334256"/>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24" name="Shape 21"/>
          <p:cNvSpPr/>
          <p:nvPr/>
        </p:nvSpPr>
        <p:spPr>
          <a:xfrm>
            <a:off x="6172200" y="1664208"/>
            <a:ext cx="73152" cy="4334256"/>
          </a:xfrm>
          <a:prstGeom prst="rect">
            <a:avLst/>
          </a:prstGeom>
          <a:solidFill>
            <a:srgbClr val="AE2573"/>
          </a:solidFill>
          <a:ln w="12700">
            <a:solidFill>
              <a:srgbClr val="AE2573"/>
            </a:solidFill>
            <a:prstDash val="solid"/>
          </a:ln>
        </p:spPr>
      </p:sp>
      <p:sp>
        <p:nvSpPr>
          <p:cNvPr id="25" name="Shape 22"/>
          <p:cNvSpPr/>
          <p:nvPr/>
        </p:nvSpPr>
        <p:spPr>
          <a:xfrm>
            <a:off x="6373368" y="1911096"/>
            <a:ext cx="594360" cy="594360"/>
          </a:xfrm>
          <a:prstGeom prst="ellipse">
            <a:avLst/>
          </a:prstGeom>
          <a:solidFill>
            <a:srgbClr val="AE2573"/>
          </a:solidFill>
          <a:ln w="12700">
            <a:solidFill>
              <a:srgbClr val="AE2573"/>
            </a:solidFill>
            <a:prstDash val="solid"/>
          </a:ln>
        </p:spPr>
      </p:sp>
      <p:pic>
        <p:nvPicPr>
          <p:cNvPr id="26" name="Image 1" descr="/tmp/claude-0/-home-claude/0392ef1a-ea77-535e-abf6-0e4ef3a33421/scratchpad/build/icons/w9.png">    </p:cNvPr>
          <p:cNvPicPr>
            <a:picLocks noChangeAspect="1"/>
          </p:cNvPicPr>
          <p:nvPr/>
        </p:nvPicPr>
        <p:blipFill>
          <a:blip r:embed="rId2"/>
          <a:stretch>
            <a:fillRect/>
          </a:stretch>
        </p:blipFill>
        <p:spPr>
          <a:xfrm>
            <a:off x="6510528" y="2048256"/>
            <a:ext cx="320040" cy="320040"/>
          </a:xfrm>
          <a:prstGeom prst="rect">
            <a:avLst/>
          </a:prstGeom>
        </p:spPr>
      </p:pic>
      <p:sp>
        <p:nvSpPr>
          <p:cNvPr id="27" name="Text 23"/>
          <p:cNvSpPr txBox="1"/>
          <p:nvPr/>
        </p:nvSpPr>
        <p:spPr>
          <a:xfrm>
            <a:off x="7223760" y="1892808"/>
            <a:ext cx="4297680" cy="256032"/>
          </a:xfrm>
          <a:prstGeom prst="rect">
            <a:avLst/>
          </a:prstGeom>
          <a:noFill/>
          <a:ln/>
        </p:spPr>
        <p:txBody>
          <a:bodyPr wrap="square" lIns="0" tIns="0" rIns="0" bIns="0" rtlCol="0" anchor="ctr"/>
          <a:lstStyle/>
          <a:p>
            <a:pPr indent="0" marL="0">
              <a:buNone/>
            </a:pPr>
            <a:r>
              <a:rPr lang="en-US" sz="1100" b="1" spc="180" kern="0" dirty="0">
                <a:solidFill>
                  <a:srgbClr val="AE2573"/>
                </a:solidFill>
                <a:latin typeface="Calibri" pitchFamily="34" charset="0"/>
                <a:ea typeface="Calibri" pitchFamily="34" charset="-122"/>
                <a:cs typeface="Calibri" pitchFamily="34" charset="-120"/>
              </a:rPr>
              <a:t>IM CLINICAL CiP 4</a:t>
            </a:r>
            <a:endParaRPr lang="en-US" sz="1100" dirty="0"/>
          </a:p>
        </p:txBody>
      </p:sp>
      <p:sp>
        <p:nvSpPr>
          <p:cNvPr id="28" name="Text 24"/>
          <p:cNvSpPr txBox="1"/>
          <p:nvPr/>
        </p:nvSpPr>
        <p:spPr>
          <a:xfrm>
            <a:off x="7223760" y="2167128"/>
            <a:ext cx="4297680" cy="658368"/>
          </a:xfrm>
          <a:prstGeom prst="rect">
            <a:avLst/>
          </a:prstGeom>
          <a:noFill/>
          <a:ln/>
        </p:spPr>
        <p:txBody>
          <a:bodyPr wrap="square" lIns="0" tIns="0" rIns="0" bIns="0" rtlCol="0" anchor="t"/>
          <a:lstStyle/>
          <a:p>
            <a:pPr indent="0" marL="0">
              <a:buNone/>
            </a:pPr>
            <a:r>
              <a:rPr lang="en-US" sz="1800" b="1" dirty="0">
                <a:solidFill>
                  <a:srgbClr val="003087"/>
                </a:solidFill>
                <a:latin typeface="Calibri" pitchFamily="34" charset="0"/>
                <a:ea typeface="Calibri" pitchFamily="34" charset="-122"/>
                <a:cs typeface="Calibri" pitchFamily="34" charset="-120"/>
              </a:rPr>
              <a:t>Managing outpatients with long term conditions</a:t>
            </a:r>
            <a:endParaRPr lang="en-US" sz="1800" dirty="0"/>
          </a:p>
        </p:txBody>
      </p:sp>
      <p:sp>
        <p:nvSpPr>
          <p:cNvPr id="29" name="Text 25"/>
          <p:cNvSpPr txBox="1"/>
          <p:nvPr/>
        </p:nvSpPr>
        <p:spPr>
          <a:xfrm>
            <a:off x="7223760" y="2843784"/>
            <a:ext cx="4297680" cy="274320"/>
          </a:xfrm>
          <a:prstGeom prst="rect">
            <a:avLst/>
          </a:prstGeom>
          <a:noFill/>
          <a:ln/>
        </p:spPr>
        <p:txBody>
          <a:bodyPr wrap="square" lIns="0" tIns="0" rIns="0" bIns="0" rtlCol="0" anchor="ctr"/>
          <a:lstStyle/>
          <a:p>
            <a:pPr indent="0" marL="0">
              <a:buNone/>
            </a:pPr>
            <a:r>
              <a:rPr lang="en-US" sz="1100" i="1" dirty="0">
                <a:solidFill>
                  <a:srgbClr val="AE2573"/>
                </a:solidFill>
                <a:latin typeface="Calibri" pitchFamily="34" charset="0"/>
                <a:ea typeface="Calibri" pitchFamily="34" charset="-122"/>
                <a:cs typeface="Calibri" pitchFamily="34" charset="-120"/>
              </a:rPr>
              <a:t>Met by accumulating clinics across rotations</a:t>
            </a:r>
            <a:endParaRPr lang="en-US" sz="1100" dirty="0"/>
          </a:p>
        </p:txBody>
      </p:sp>
      <p:sp>
        <p:nvSpPr>
          <p:cNvPr id="30" name="Text 26"/>
          <p:cNvSpPr txBox="1"/>
          <p:nvPr/>
        </p:nvSpPr>
        <p:spPr>
          <a:xfrm>
            <a:off x="6428232" y="3328416"/>
            <a:ext cx="5029200" cy="1892808"/>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20 outpatient clinics in specialties other than your own</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Includes community experience and virtual clinics — but not SDEC, which is take</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Spread across rotations — cardiology, respiratory, neurology, diabetes, renal</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Each clinic samples long-term condition management and shared decision-making</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Level 3 at ST4 to ST6, level 4 by CCT</a:t>
            </a:r>
            <a:endParaRPr lang="en-US" sz="1100" dirty="0"/>
          </a:p>
        </p:txBody>
      </p:sp>
      <p:sp>
        <p:nvSpPr>
          <p:cNvPr id="31" name="Shape 27"/>
          <p:cNvSpPr/>
          <p:nvPr/>
        </p:nvSpPr>
        <p:spPr>
          <a:xfrm>
            <a:off x="6309360" y="5221224"/>
            <a:ext cx="5257800" cy="502920"/>
          </a:xfrm>
          <a:prstGeom prst="rect">
            <a:avLst/>
          </a:prstGeom>
          <a:solidFill>
            <a:srgbClr val="F0F4F5"/>
          </a:solidFill>
          <a:ln w="12700">
            <a:solidFill>
              <a:srgbClr val="F0F4F5"/>
            </a:solidFill>
            <a:prstDash val="solid"/>
          </a:ln>
        </p:spPr>
      </p:sp>
      <p:sp>
        <p:nvSpPr>
          <p:cNvPr id="32" name="Text 28"/>
          <p:cNvSpPr txBox="1"/>
          <p:nvPr/>
        </p:nvSpPr>
        <p:spPr>
          <a:xfrm>
            <a:off x="6464808" y="5221224"/>
            <a:ext cx="4965192" cy="502920"/>
          </a:xfrm>
          <a:prstGeom prst="rect">
            <a:avLst/>
          </a:prstGeom>
          <a:noFill/>
          <a:ln/>
        </p:spPr>
        <p:txBody>
          <a:bodyPr wrap="square" lIns="0" tIns="0" rIns="0" bIns="0" rtlCol="0" anchor="ctr"/>
          <a:lstStyle/>
          <a:p>
            <a:pPr indent="0" marL="0">
              <a:buNone/>
            </a:pPr>
            <a:r>
              <a:rPr lang="en-US" sz="1000" b="1" dirty="0">
                <a:solidFill>
                  <a:srgbClr val="AE2573"/>
                </a:solidFill>
                <a:latin typeface="Calibri" pitchFamily="34" charset="0"/>
                <a:ea typeface="Calibri" pitchFamily="34" charset="-122"/>
                <a:cs typeface="Calibri" pitchFamily="34" charset="-120"/>
              </a:rPr>
              <a:t>Evidence: </a:t>
            </a:r>
            <a:pPr indent="0" marL="0">
              <a:buNone/>
            </a:pPr>
            <a:r>
              <a:rPr lang="en-US" sz="1000" dirty="0">
                <a:solidFill>
                  <a:srgbClr val="212B32"/>
                </a:solidFill>
                <a:latin typeface="Calibri" pitchFamily="34" charset="0"/>
                <a:ea typeface="Calibri" pitchFamily="34" charset="-122"/>
                <a:cs typeface="Calibri" pitchFamily="34" charset="-120"/>
              </a:rPr>
              <a:t>Mini-CEX × clinic encounter · CbD × LTC management · reflection × shared decision-making</a:t>
            </a:r>
            <a:endParaRPr lang="en-US" sz="1000" dirty="0"/>
          </a:p>
        </p:txBody>
      </p:sp>
      <p:sp>
        <p:nvSpPr>
          <p:cNvPr id="33" name="Shape 29"/>
          <p:cNvSpPr/>
          <p:nvPr/>
        </p:nvSpPr>
        <p:spPr>
          <a:xfrm>
            <a:off x="457200" y="6071616"/>
            <a:ext cx="11247120" cy="438912"/>
          </a:xfrm>
          <a:prstGeom prst="rect">
            <a:avLst/>
          </a:prstGeom>
          <a:solidFill>
            <a:srgbClr val="F0F4F5"/>
          </a:solidFill>
          <a:ln w="12700">
            <a:solidFill>
              <a:srgbClr val="F0F4F5"/>
            </a:solidFill>
            <a:prstDash val="solid"/>
          </a:ln>
        </p:spPr>
      </p:sp>
      <p:sp>
        <p:nvSpPr>
          <p:cNvPr id="34" name="Shape 30"/>
          <p:cNvSpPr/>
          <p:nvPr/>
        </p:nvSpPr>
        <p:spPr>
          <a:xfrm>
            <a:off x="457200" y="6071616"/>
            <a:ext cx="73152" cy="438912"/>
          </a:xfrm>
          <a:prstGeom prst="rect">
            <a:avLst/>
          </a:prstGeom>
          <a:solidFill>
            <a:srgbClr val="FFB81C"/>
          </a:solidFill>
          <a:ln w="12700">
            <a:solidFill>
              <a:srgbClr val="FFB81C"/>
            </a:solidFill>
            <a:prstDash val="solid"/>
          </a:ln>
        </p:spPr>
      </p:sp>
      <p:sp>
        <p:nvSpPr>
          <p:cNvPr id="35" name="Text 31"/>
          <p:cNvSpPr txBox="1"/>
          <p:nvPr/>
        </p:nvSpPr>
        <p:spPr>
          <a:xfrm>
            <a:off x="658368" y="6071616"/>
            <a:ext cx="10881360" cy="438912"/>
          </a:xfrm>
          <a:prstGeom prst="rect">
            <a:avLst/>
          </a:prstGeom>
          <a:noFill/>
          <a:ln/>
        </p:spPr>
        <p:txBody>
          <a:bodyPr wrap="square" lIns="0" tIns="0" rIns="0" bIns="0" rtlCol="0" anchor="ctr"/>
          <a:lstStyle/>
          <a:p>
            <a:pPr indent="0" marL="0">
              <a:buNone/>
            </a:pPr>
            <a:r>
              <a:rPr lang="en-US" sz="1050" i="1" dirty="0">
                <a:solidFill>
                  <a:srgbClr val="212B32"/>
                </a:solidFill>
                <a:latin typeface="Calibri" pitchFamily="34" charset="0"/>
                <a:ea typeface="Calibri" pitchFamily="34" charset="-122"/>
                <a:cs typeface="Calibri" pitchFamily="34" charset="-120"/>
              </a:rPr>
              <a:t>Both need planning across the whole programme — flag clinic and take opportunities in the first week of each rotation, not the last.</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10584180" y="379476"/>
            <a:ext cx="82296" cy="82296"/>
          </a:xfrm>
          <a:prstGeom prst="ellipse">
            <a:avLst/>
          </a:prstGeom>
          <a:solidFill>
            <a:srgbClr val="D8DDE0"/>
          </a:solidFill>
          <a:ln w="12700">
            <a:solidFill>
              <a:srgbClr val="D8DDE0"/>
            </a:solidFill>
            <a:prstDash val="solid"/>
          </a:ln>
        </p:spPr>
      </p:sp>
      <p:sp>
        <p:nvSpPr>
          <p:cNvPr id="3" name="Shape 1"/>
          <p:cNvSpPr/>
          <p:nvPr/>
        </p:nvSpPr>
        <p:spPr>
          <a:xfrm>
            <a:off x="10794492" y="379476"/>
            <a:ext cx="82296" cy="82296"/>
          </a:xfrm>
          <a:prstGeom prst="ellipse">
            <a:avLst/>
          </a:prstGeom>
          <a:solidFill>
            <a:srgbClr val="D8DDE0"/>
          </a:solidFill>
          <a:ln w="12700">
            <a:solidFill>
              <a:srgbClr val="D8DDE0"/>
            </a:solidFill>
            <a:prstDash val="solid"/>
          </a:ln>
        </p:spPr>
      </p:sp>
      <p:sp>
        <p:nvSpPr>
          <p:cNvPr id="4" name="Shape 2"/>
          <p:cNvSpPr/>
          <p:nvPr/>
        </p:nvSpPr>
        <p:spPr>
          <a:xfrm>
            <a:off x="11004804" y="379476"/>
            <a:ext cx="82296" cy="82296"/>
          </a:xfrm>
          <a:prstGeom prst="ellipse">
            <a:avLst/>
          </a:prstGeom>
          <a:solidFill>
            <a:srgbClr val="D8DDE0"/>
          </a:solidFill>
          <a:ln w="12700">
            <a:solidFill>
              <a:srgbClr val="D8DDE0"/>
            </a:solidFill>
            <a:prstDash val="solid"/>
          </a:ln>
        </p:spPr>
      </p:sp>
      <p:sp>
        <p:nvSpPr>
          <p:cNvPr id="5" name="Shape 3"/>
          <p:cNvSpPr/>
          <p:nvPr/>
        </p:nvSpPr>
        <p:spPr>
          <a:xfrm>
            <a:off x="11196828" y="361188"/>
            <a:ext cx="118872" cy="118872"/>
          </a:xfrm>
          <a:prstGeom prst="ellipse">
            <a:avLst/>
          </a:prstGeom>
          <a:solidFill>
            <a:srgbClr val="009639"/>
          </a:solidFill>
          <a:ln w="12700">
            <a:solidFill>
              <a:srgbClr val="009639"/>
            </a:solidFill>
            <a:prstDash val="solid"/>
          </a:ln>
        </p:spPr>
      </p:sp>
      <p:sp>
        <p:nvSpPr>
          <p:cNvPr id="6" name="Shape 4"/>
          <p:cNvSpPr/>
          <p:nvPr/>
        </p:nvSpPr>
        <p:spPr>
          <a:xfrm>
            <a:off x="11425428" y="379476"/>
            <a:ext cx="82296" cy="82296"/>
          </a:xfrm>
          <a:prstGeom prst="ellipse">
            <a:avLst/>
          </a:prstGeom>
          <a:solidFill>
            <a:srgbClr val="D8DDE0"/>
          </a:solidFill>
          <a:ln w="12700">
            <a:solidFill>
              <a:srgbClr val="D8DDE0"/>
            </a:solidFill>
            <a:prstDash val="solid"/>
          </a:ln>
        </p:spPr>
      </p:sp>
      <p:sp>
        <p:nvSpPr>
          <p:cNvPr id="7" name="Shape 5"/>
          <p:cNvSpPr/>
          <p:nvPr/>
        </p:nvSpPr>
        <p:spPr>
          <a:xfrm>
            <a:off x="11635740" y="379476"/>
            <a:ext cx="82296" cy="82296"/>
          </a:xfrm>
          <a:prstGeom prst="ellipse">
            <a:avLst/>
          </a:prstGeom>
          <a:solidFill>
            <a:srgbClr val="D8DDE0"/>
          </a:solidFill>
          <a:ln w="12700">
            <a:solidFill>
              <a:srgbClr val="D8DDE0"/>
            </a:solidFill>
            <a:prstDash val="solid"/>
          </a:ln>
        </p:spPr>
      </p:sp>
      <p:sp>
        <p:nvSpPr>
          <p:cNvPr id="8" name="Text 6"/>
          <p:cNvSpPr txBox="1"/>
          <p:nvPr/>
        </p:nvSpPr>
        <p:spPr>
          <a:xfrm>
            <a:off x="457200" y="274320"/>
            <a:ext cx="9875520" cy="256032"/>
          </a:xfrm>
          <a:prstGeom prst="rect">
            <a:avLst/>
          </a:prstGeom>
          <a:noFill/>
          <a:ln/>
        </p:spPr>
        <p:txBody>
          <a:bodyPr wrap="square" lIns="0" tIns="0" rIns="0" bIns="0" rtlCol="0" anchor="ctr"/>
          <a:lstStyle/>
          <a:p>
            <a:pPr indent="0" marL="0">
              <a:buNone/>
            </a:pPr>
            <a:r>
              <a:rPr lang="en-US" sz="1100" b="1" spc="240" kern="0" dirty="0">
                <a:solidFill>
                  <a:srgbClr val="009639"/>
                </a:solidFill>
                <a:latin typeface="Calibri" pitchFamily="34" charset="0"/>
                <a:ea typeface="Calibri" pitchFamily="34" charset="-122"/>
                <a:cs typeface="Calibri" pitchFamily="34" charset="-120"/>
              </a:rPr>
              <a:t>PART 04 · FROM YOUR HOME SPECIALTY</a:t>
            </a:r>
            <a:endParaRPr lang="en-US" sz="1100" dirty="0"/>
          </a:p>
        </p:txBody>
      </p:sp>
      <p:sp>
        <p:nvSpPr>
          <p:cNvPr id="9" name="Text 7"/>
          <p:cNvSpPr txBox="1"/>
          <p:nvPr/>
        </p:nvSpPr>
        <p:spPr>
          <a:xfrm>
            <a:off x="457200" y="512064"/>
            <a:ext cx="11247120" cy="658368"/>
          </a:xfrm>
          <a:prstGeom prst="rect">
            <a:avLst/>
          </a:prstGeom>
          <a:noFill/>
          <a:ln/>
        </p:spPr>
        <p:txBody>
          <a:bodyPr wrap="square" lIns="0" tIns="0" rIns="0" bIns="0" rtlCol="0" anchor="ctr"/>
          <a:lstStyle/>
          <a:p>
            <a:pPr indent="0" marL="0">
              <a:buNone/>
            </a:pPr>
            <a:r>
              <a:rPr lang="en-US" sz="3000" b="1" dirty="0">
                <a:solidFill>
                  <a:srgbClr val="003087"/>
                </a:solidFill>
                <a:latin typeface="Calibri" pitchFamily="34" charset="0"/>
                <a:ea typeface="Calibri" pitchFamily="34" charset="-122"/>
                <a:cs typeface="Calibri" pitchFamily="34" charset="-120"/>
              </a:rPr>
              <a:t>The other six come out of the work you already do</a:t>
            </a:r>
            <a:endParaRPr lang="en-US" sz="3000" dirty="0"/>
          </a:p>
        </p:txBody>
      </p:sp>
      <p:sp>
        <p:nvSpPr>
          <p:cNvPr id="10" name="Text 8"/>
          <p:cNvSpPr txBox="1"/>
          <p:nvPr/>
        </p:nvSpPr>
        <p:spPr>
          <a:xfrm>
            <a:off x="457200" y="1170432"/>
            <a:ext cx="11247120" cy="411480"/>
          </a:xfrm>
          <a:prstGeom prst="rect">
            <a:avLst/>
          </a:prstGeom>
          <a:noFill/>
          <a:ln/>
        </p:spPr>
        <p:txBody>
          <a:bodyPr wrap="square" lIns="0" tIns="0" rIns="0" bIns="0" rtlCol="0" anchor="t"/>
          <a:lstStyle/>
          <a:p>
            <a:pPr indent="0" marL="0">
              <a:buNone/>
            </a:pPr>
            <a:r>
              <a:rPr lang="en-US" sz="1200" i="1" dirty="0">
                <a:solidFill>
                  <a:srgbClr val="768692"/>
                </a:solidFill>
                <a:latin typeface="Calibri" pitchFamily="34" charset="0"/>
                <a:ea typeface="Calibri" pitchFamily="34" charset="-122"/>
                <a:cs typeface="Calibri" pitchFamily="34" charset="-120"/>
              </a:rPr>
              <a:t>Stop hunting outside your specialty for "GIM cases" — routine specialty work covers the remaining six CiPs. Tag each WBA to a CiP as you go, and spread evidence across all six rather than stacking the easy ones.</a:t>
            </a:r>
            <a:endParaRPr lang="en-US" sz="1200" dirty="0"/>
          </a:p>
        </p:txBody>
      </p:sp>
      <p:sp>
        <p:nvSpPr>
          <p:cNvPr id="11" name="Text 9"/>
          <p:cNvSpPr txBox="1"/>
          <p:nvPr/>
        </p:nvSpPr>
        <p:spPr>
          <a:xfrm>
            <a:off x="457200" y="6547104"/>
            <a:ext cx="7315200" cy="274320"/>
          </a:xfrm>
          <a:prstGeom prst="rect">
            <a:avLst/>
          </a:prstGeom>
          <a:noFill/>
          <a:ln/>
        </p:spPr>
        <p:txBody>
          <a:bodyPr wrap="square" lIns="0" tIns="0" rIns="0" bIns="0" rtlCol="0" anchor="ctr"/>
          <a:lstStyle/>
          <a:p>
            <a:pPr indent="0" marL="0">
              <a:buNone/>
            </a:pPr>
            <a:r>
              <a:rPr lang="en-US" sz="900" dirty="0">
                <a:solidFill>
                  <a:srgbClr val="768692"/>
                </a:solidFill>
                <a:latin typeface="Calibri" pitchFamily="34" charset="0"/>
                <a:ea typeface="Calibri" pitchFamily="34" charset="-122"/>
                <a:cs typeface="Calibri" pitchFamily="34" charset="-120"/>
              </a:rPr>
              <a:t>GIM ARCP · trainee guidance · </a:t>
            </a:r>
            <a:pPr indent="0" marL="0">
              <a:buNone/>
            </a:pPr>
            <a:r>
              <a:rPr lang="en-US" sz="900" b="1" dirty="0">
                <a:solidFill>
                  <a:srgbClr val="8A5E00"/>
                </a:solidFill>
                <a:latin typeface="Calibri" pitchFamily="34" charset="0"/>
                <a:ea typeface="Calibri" pitchFamily="34" charset="-122"/>
                <a:cs typeface="Calibri" pitchFamily="34" charset="-120"/>
              </a:rPr>
              <a:t>DRAFT</a:t>
            </a:r>
            <a:endParaRPr lang="en-US" sz="900" dirty="0"/>
          </a:p>
        </p:txBody>
      </p:sp>
      <p:sp>
        <p:nvSpPr>
          <p:cNvPr id="12" name="Text 10"/>
          <p:cNvSpPr txBox="1"/>
          <p:nvPr/>
        </p:nvSpPr>
        <p:spPr>
          <a:xfrm>
            <a:off x="11155680" y="6547104"/>
            <a:ext cx="548640" cy="274320"/>
          </a:xfrm>
          <a:prstGeom prst="rect">
            <a:avLst/>
          </a:prstGeom>
          <a:noFill/>
          <a:ln/>
        </p:spPr>
        <p:txBody>
          <a:bodyPr wrap="square" lIns="0" tIns="0" rIns="0" bIns="0" rtlCol="0" anchor="ctr"/>
          <a:lstStyle/>
          <a:p>
            <a:pPr algn="r" indent="0" marL="0">
              <a:buNone/>
            </a:pPr>
            <a:r>
              <a:rPr lang="en-US" sz="900" dirty="0">
                <a:solidFill>
                  <a:srgbClr val="768692"/>
                </a:solidFill>
                <a:latin typeface="Calibri" pitchFamily="34" charset="0"/>
                <a:ea typeface="Calibri" pitchFamily="34" charset="-122"/>
                <a:cs typeface="Calibri" pitchFamily="34" charset="-120"/>
              </a:rPr>
              <a:t>16</a:t>
            </a:r>
            <a:endParaRPr lang="en-US" sz="900" dirty="0"/>
          </a:p>
        </p:txBody>
      </p:sp>
      <p:sp>
        <p:nvSpPr>
          <p:cNvPr id="13" name="Shape 11"/>
          <p:cNvSpPr/>
          <p:nvPr/>
        </p:nvSpPr>
        <p:spPr>
          <a:xfrm>
            <a:off x="457200" y="1664208"/>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14" name="Shape 12"/>
          <p:cNvSpPr/>
          <p:nvPr/>
        </p:nvSpPr>
        <p:spPr>
          <a:xfrm>
            <a:off x="457200" y="1664208"/>
            <a:ext cx="73152" cy="2103120"/>
          </a:xfrm>
          <a:prstGeom prst="rect">
            <a:avLst/>
          </a:prstGeom>
          <a:solidFill>
            <a:srgbClr val="003087"/>
          </a:solidFill>
          <a:ln w="12700">
            <a:solidFill>
              <a:srgbClr val="003087"/>
            </a:solidFill>
            <a:prstDash val="solid"/>
          </a:ln>
        </p:spPr>
      </p:sp>
      <p:sp>
        <p:nvSpPr>
          <p:cNvPr id="15" name="Shape 13"/>
          <p:cNvSpPr/>
          <p:nvPr/>
        </p:nvSpPr>
        <p:spPr>
          <a:xfrm>
            <a:off x="640080" y="1847088"/>
            <a:ext cx="411480" cy="411480"/>
          </a:xfrm>
          <a:prstGeom prst="ellipse">
            <a:avLst/>
          </a:prstGeom>
          <a:solidFill>
            <a:srgbClr val="003087"/>
          </a:solidFill>
          <a:ln w="12700">
            <a:solidFill>
              <a:srgbClr val="003087"/>
            </a:solidFill>
            <a:prstDash val="solid"/>
          </a:ln>
        </p:spPr>
      </p:sp>
      <p:pic>
        <p:nvPicPr>
          <p:cNvPr id="16" name="Image 0" descr="/tmp/claude-0/-home-claude/0392ef1a-ea77-535e-abf6-0e4ef3a33421/scratchpad/build/icons/w2.png">    </p:cNvPr>
          <p:cNvPicPr>
            <a:picLocks noChangeAspect="1"/>
          </p:cNvPicPr>
          <p:nvPr/>
        </p:nvPicPr>
        <p:blipFill>
          <a:blip r:embed="rId1"/>
          <a:stretch>
            <a:fillRect/>
          </a:stretch>
        </p:blipFill>
        <p:spPr>
          <a:xfrm>
            <a:off x="740664" y="1947672"/>
            <a:ext cx="210312" cy="210312"/>
          </a:xfrm>
          <a:prstGeom prst="rect">
            <a:avLst/>
          </a:prstGeom>
        </p:spPr>
      </p:pic>
      <p:sp>
        <p:nvSpPr>
          <p:cNvPr id="17" name="Text 14"/>
          <p:cNvSpPr txBox="1"/>
          <p:nvPr/>
        </p:nvSpPr>
        <p:spPr>
          <a:xfrm>
            <a:off x="1152144" y="1920240"/>
            <a:ext cx="2779776" cy="256032"/>
          </a:xfrm>
          <a:prstGeom prst="rect">
            <a:avLst/>
          </a:prstGeom>
          <a:noFill/>
          <a:ln/>
        </p:spPr>
        <p:txBody>
          <a:bodyPr wrap="square" lIns="0" tIns="0" rIns="0" bIns="0" rtlCol="0" anchor="ctr"/>
          <a:lstStyle/>
          <a:p>
            <a:pPr indent="0" marL="0">
              <a:buNone/>
            </a:pPr>
            <a:r>
              <a:rPr lang="en-US" sz="1000" b="1" spc="120" kern="0" dirty="0">
                <a:solidFill>
                  <a:srgbClr val="003087"/>
                </a:solidFill>
                <a:latin typeface="Calibri" pitchFamily="34" charset="0"/>
                <a:ea typeface="Calibri" pitchFamily="34" charset="-122"/>
                <a:cs typeface="Calibri" pitchFamily="34" charset="-120"/>
              </a:rPr>
              <a:t>IM CLINICAL CiP 2</a:t>
            </a:r>
            <a:endParaRPr lang="en-US" sz="1000" dirty="0"/>
          </a:p>
        </p:txBody>
      </p:sp>
      <p:sp>
        <p:nvSpPr>
          <p:cNvPr id="18" name="Text 15"/>
          <p:cNvSpPr txBox="1"/>
          <p:nvPr/>
        </p:nvSpPr>
        <p:spPr>
          <a:xfrm>
            <a:off x="640080" y="2340864"/>
            <a:ext cx="3291840" cy="457200"/>
          </a:xfrm>
          <a:prstGeom prst="rect">
            <a:avLst/>
          </a:prstGeom>
          <a:noFill/>
          <a:ln/>
        </p:spPr>
        <p:txBody>
          <a:bodyPr wrap="square" lIns="0" tIns="0" rIns="0" bIns="0" rtlCol="0" anchor="t"/>
          <a:lstStyle/>
          <a:p>
            <a:pPr indent="0" marL="0">
              <a:lnSpc>
                <a:spcPct val="95000"/>
              </a:lnSpc>
              <a:buNone/>
            </a:pPr>
            <a:r>
              <a:rPr lang="en-US" sz="1050" b="1" dirty="0">
                <a:solidFill>
                  <a:srgbClr val="003087"/>
                </a:solidFill>
                <a:latin typeface="Calibri" pitchFamily="34" charset="0"/>
                <a:ea typeface="Calibri" pitchFamily="34" charset="-122"/>
                <a:cs typeface="Calibri" pitchFamily="34" charset="-120"/>
              </a:rPr>
              <a:t>Managing the acute care of patients within a medical specialty service</a:t>
            </a:r>
            <a:endParaRPr lang="en-US" sz="1050" dirty="0"/>
          </a:p>
        </p:txBody>
      </p:sp>
      <p:sp>
        <p:nvSpPr>
          <p:cNvPr id="19" name="Text 16"/>
          <p:cNvSpPr txBox="1"/>
          <p:nvPr/>
        </p:nvSpPr>
        <p:spPr>
          <a:xfrm>
            <a:off x="640080" y="2852928"/>
            <a:ext cx="3273552" cy="786384"/>
          </a:xfrm>
          <a:prstGeom prst="rect">
            <a:avLst/>
          </a:prstGeom>
          <a:noFill/>
          <a:ln/>
        </p:spPr>
        <p:txBody>
          <a:bodyPr wrap="square" lIns="0" tIns="0" rIns="0" bIns="0" rtlCol="0" anchor="t"/>
          <a:lstStyle/>
          <a:p>
            <a:pPr marL="152400" indent="-152400">
              <a:lnSpc>
                <a:spcPct val="102000"/>
              </a:lnSpc>
              <a:spcAft>
                <a:spcPts val="300"/>
              </a:spcAft>
              <a:buSzPct val="100000"/>
              <a:buChar char="•"/>
            </a:pPr>
            <a:r>
              <a:rPr lang="en-US" sz="1000" dirty="0">
                <a:solidFill>
                  <a:srgbClr val="212B32"/>
                </a:solidFill>
                <a:latin typeface="Calibri" pitchFamily="34" charset="0"/>
                <a:ea typeface="Calibri" pitchFamily="34" charset="-122"/>
                <a:cs typeface="Calibri" pitchFamily="34" charset="-120"/>
              </a:rPr>
              <a:t>Time-critical presentations unique to your specialty</a:t>
            </a:r>
            <a:endParaRPr lang="en-US" sz="1000" dirty="0"/>
          </a:p>
          <a:p>
            <a:pPr marL="152400" indent="-152400">
              <a:lnSpc>
                <a:spcPct val="102000"/>
              </a:lnSpc>
              <a:spcAft>
                <a:spcPts val="300"/>
              </a:spcAft>
              <a:buSzPct val="100000"/>
              <a:buChar char="•"/>
            </a:pPr>
            <a:r>
              <a:rPr lang="en-US" sz="1000" dirty="0">
                <a:solidFill>
                  <a:srgbClr val="212B32"/>
                </a:solidFill>
                <a:latin typeface="Calibri" pitchFamily="34" charset="0"/>
                <a:ea typeface="Calibri" pitchFamily="34" charset="-122"/>
                <a:cs typeface="Calibri" pitchFamily="34" charset="-120"/>
              </a:rPr>
              <a:t>Your specialty's emergency or escalation pathway</a:t>
            </a:r>
            <a:endParaRPr lang="en-US" sz="1000" dirty="0"/>
          </a:p>
          <a:p>
            <a:pPr marL="152400" indent="-152400">
              <a:lnSpc>
                <a:spcPct val="102000"/>
              </a:lnSpc>
              <a:spcAft>
                <a:spcPts val="300"/>
              </a:spcAft>
              <a:buSzPct val="100000"/>
              <a:buChar char="•"/>
            </a:pPr>
            <a:r>
              <a:rPr lang="en-US" sz="1000" dirty="0">
                <a:solidFill>
                  <a:srgbClr val="212B32"/>
                </a:solidFill>
                <a:latin typeface="Calibri" pitchFamily="34" charset="0"/>
                <a:ea typeface="Calibri" pitchFamily="34" charset="-122"/>
                <a:cs typeface="Calibri" pitchFamily="34" charset="-120"/>
              </a:rPr>
              <a:t>First assessment of a high-risk new referral</a:t>
            </a:r>
            <a:endParaRPr lang="en-US" sz="1000" dirty="0"/>
          </a:p>
        </p:txBody>
      </p:sp>
      <p:sp>
        <p:nvSpPr>
          <p:cNvPr id="20" name="Shape 17"/>
          <p:cNvSpPr/>
          <p:nvPr/>
        </p:nvSpPr>
        <p:spPr>
          <a:xfrm>
            <a:off x="4251960" y="1664208"/>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21" name="Shape 18"/>
          <p:cNvSpPr/>
          <p:nvPr/>
        </p:nvSpPr>
        <p:spPr>
          <a:xfrm>
            <a:off x="4251960" y="1664208"/>
            <a:ext cx="73152" cy="2103120"/>
          </a:xfrm>
          <a:prstGeom prst="rect">
            <a:avLst/>
          </a:prstGeom>
          <a:solidFill>
            <a:srgbClr val="0072CE"/>
          </a:solidFill>
          <a:ln w="12700">
            <a:solidFill>
              <a:srgbClr val="0072CE"/>
            </a:solidFill>
            <a:prstDash val="solid"/>
          </a:ln>
        </p:spPr>
      </p:sp>
      <p:sp>
        <p:nvSpPr>
          <p:cNvPr id="22" name="Shape 19"/>
          <p:cNvSpPr/>
          <p:nvPr/>
        </p:nvSpPr>
        <p:spPr>
          <a:xfrm>
            <a:off x="4434840" y="1847088"/>
            <a:ext cx="411480" cy="411480"/>
          </a:xfrm>
          <a:prstGeom prst="ellipse">
            <a:avLst/>
          </a:prstGeom>
          <a:solidFill>
            <a:srgbClr val="0072CE"/>
          </a:solidFill>
          <a:ln w="12700">
            <a:solidFill>
              <a:srgbClr val="0072CE"/>
            </a:solidFill>
            <a:prstDash val="solid"/>
          </a:ln>
        </p:spPr>
      </p:sp>
      <p:pic>
        <p:nvPicPr>
          <p:cNvPr id="23" name="Image 1" descr="/tmp/claude-0/-home-claude/0392ef1a-ea77-535e-abf6-0e4ef3a33421/scratchpad/build/icons/w3.png">    </p:cNvPr>
          <p:cNvPicPr>
            <a:picLocks noChangeAspect="1"/>
          </p:cNvPicPr>
          <p:nvPr/>
        </p:nvPicPr>
        <p:blipFill>
          <a:blip r:embed="rId2"/>
          <a:stretch>
            <a:fillRect/>
          </a:stretch>
        </p:blipFill>
        <p:spPr>
          <a:xfrm>
            <a:off x="4535424" y="1947672"/>
            <a:ext cx="210312" cy="210312"/>
          </a:xfrm>
          <a:prstGeom prst="rect">
            <a:avLst/>
          </a:prstGeom>
        </p:spPr>
      </p:pic>
      <p:sp>
        <p:nvSpPr>
          <p:cNvPr id="24" name="Text 20"/>
          <p:cNvSpPr txBox="1"/>
          <p:nvPr/>
        </p:nvSpPr>
        <p:spPr>
          <a:xfrm>
            <a:off x="4946904" y="1920240"/>
            <a:ext cx="2779776" cy="256032"/>
          </a:xfrm>
          <a:prstGeom prst="rect">
            <a:avLst/>
          </a:prstGeom>
          <a:noFill/>
          <a:ln/>
        </p:spPr>
        <p:txBody>
          <a:bodyPr wrap="square" lIns="0" tIns="0" rIns="0" bIns="0" rtlCol="0" anchor="ctr"/>
          <a:lstStyle/>
          <a:p>
            <a:pPr indent="0" marL="0">
              <a:buNone/>
            </a:pPr>
            <a:r>
              <a:rPr lang="en-US" sz="1000" b="1" spc="120" kern="0" dirty="0">
                <a:solidFill>
                  <a:srgbClr val="0072CE"/>
                </a:solidFill>
                <a:latin typeface="Calibri" pitchFamily="34" charset="0"/>
                <a:ea typeface="Calibri" pitchFamily="34" charset="-122"/>
                <a:cs typeface="Calibri" pitchFamily="34" charset="-120"/>
              </a:rPr>
              <a:t>IM CLINICAL CiP 3</a:t>
            </a:r>
            <a:endParaRPr lang="en-US" sz="1000" dirty="0"/>
          </a:p>
        </p:txBody>
      </p:sp>
      <p:sp>
        <p:nvSpPr>
          <p:cNvPr id="25" name="Text 21"/>
          <p:cNvSpPr txBox="1"/>
          <p:nvPr/>
        </p:nvSpPr>
        <p:spPr>
          <a:xfrm>
            <a:off x="4434840" y="2340864"/>
            <a:ext cx="3291840" cy="457200"/>
          </a:xfrm>
          <a:prstGeom prst="rect">
            <a:avLst/>
          </a:prstGeom>
          <a:noFill/>
          <a:ln/>
        </p:spPr>
        <p:txBody>
          <a:bodyPr wrap="square" lIns="0" tIns="0" rIns="0" bIns="0" rtlCol="0" anchor="t"/>
          <a:lstStyle/>
          <a:p>
            <a:pPr indent="0" marL="0">
              <a:lnSpc>
                <a:spcPct val="95000"/>
              </a:lnSpc>
              <a:buNone/>
            </a:pPr>
            <a:r>
              <a:rPr lang="en-US" sz="1050" b="1" dirty="0">
                <a:solidFill>
                  <a:srgbClr val="003087"/>
                </a:solidFill>
                <a:latin typeface="Calibri" pitchFamily="34" charset="0"/>
                <a:ea typeface="Calibri" pitchFamily="34" charset="-122"/>
                <a:cs typeface="Calibri" pitchFamily="34" charset="-120"/>
              </a:rPr>
              <a:t>Providing continuity of care to medical inpatients</a:t>
            </a:r>
            <a:endParaRPr lang="en-US" sz="1050" dirty="0"/>
          </a:p>
        </p:txBody>
      </p:sp>
      <p:sp>
        <p:nvSpPr>
          <p:cNvPr id="26" name="Text 22"/>
          <p:cNvSpPr txBox="1"/>
          <p:nvPr/>
        </p:nvSpPr>
        <p:spPr>
          <a:xfrm>
            <a:off x="4434840" y="2852928"/>
            <a:ext cx="3273552" cy="786384"/>
          </a:xfrm>
          <a:prstGeom prst="rect">
            <a:avLst/>
          </a:prstGeom>
          <a:noFill/>
          <a:ln/>
        </p:spPr>
        <p:txBody>
          <a:bodyPr wrap="square" lIns="0" tIns="0" rIns="0" bIns="0" rtlCol="0" anchor="t"/>
          <a:lstStyle/>
          <a:p>
            <a:pPr marL="152400" indent="-152400">
              <a:lnSpc>
                <a:spcPct val="102000"/>
              </a:lnSpc>
              <a:spcAft>
                <a:spcPts val="300"/>
              </a:spcAft>
              <a:buSzPct val="100000"/>
              <a:buChar char="•"/>
            </a:pPr>
            <a:r>
              <a:rPr lang="en-US" sz="1000" dirty="0">
                <a:solidFill>
                  <a:srgbClr val="212B32"/>
                </a:solidFill>
                <a:latin typeface="Calibri" pitchFamily="34" charset="0"/>
                <a:ea typeface="Calibri" pitchFamily="34" charset="-122"/>
                <a:cs typeface="Calibri" pitchFamily="34" charset="-120"/>
              </a:rPr>
              <a:t>Your inpatients with multiple comorbidities</a:t>
            </a:r>
            <a:endParaRPr lang="en-US" sz="1000" dirty="0"/>
          </a:p>
          <a:p>
            <a:pPr marL="152400" indent="-152400">
              <a:lnSpc>
                <a:spcPct val="102000"/>
              </a:lnSpc>
              <a:spcAft>
                <a:spcPts val="300"/>
              </a:spcAft>
              <a:buSzPct val="100000"/>
              <a:buChar char="•"/>
            </a:pPr>
            <a:r>
              <a:rPr lang="en-US" sz="1000" dirty="0">
                <a:solidFill>
                  <a:srgbClr val="212B32"/>
                </a:solidFill>
                <a:latin typeface="Calibri" pitchFamily="34" charset="0"/>
                <a:ea typeface="Calibri" pitchFamily="34" charset="-122"/>
                <a:cs typeface="Calibri" pitchFamily="34" charset="-120"/>
              </a:rPr>
              <a:t>Polypharmacy review across an admission</a:t>
            </a:r>
            <a:endParaRPr lang="en-US" sz="1000" dirty="0"/>
          </a:p>
          <a:p>
            <a:pPr marL="152400" indent="-152400">
              <a:lnSpc>
                <a:spcPct val="102000"/>
              </a:lnSpc>
              <a:spcAft>
                <a:spcPts val="300"/>
              </a:spcAft>
              <a:buSzPct val="100000"/>
              <a:buChar char="•"/>
            </a:pPr>
            <a:r>
              <a:rPr lang="en-US" sz="1000" dirty="0">
                <a:solidFill>
                  <a:srgbClr val="212B32"/>
                </a:solidFill>
                <a:latin typeface="Calibri" pitchFamily="34" charset="0"/>
                <a:ea typeface="Calibri" pitchFamily="34" charset="-122"/>
                <a:cs typeface="Calibri" pitchFamily="34" charset="-120"/>
              </a:rPr>
              <a:t>Decisions as a patient's condition evolves</a:t>
            </a:r>
            <a:endParaRPr lang="en-US" sz="1000" dirty="0"/>
          </a:p>
        </p:txBody>
      </p:sp>
      <p:sp>
        <p:nvSpPr>
          <p:cNvPr id="27" name="Shape 23"/>
          <p:cNvSpPr/>
          <p:nvPr/>
        </p:nvSpPr>
        <p:spPr>
          <a:xfrm>
            <a:off x="8046720" y="1664208"/>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28" name="Shape 24"/>
          <p:cNvSpPr/>
          <p:nvPr/>
        </p:nvSpPr>
        <p:spPr>
          <a:xfrm>
            <a:off x="8046720" y="1664208"/>
            <a:ext cx="73152" cy="2103120"/>
          </a:xfrm>
          <a:prstGeom prst="rect">
            <a:avLst/>
          </a:prstGeom>
          <a:solidFill>
            <a:srgbClr val="41B6E6"/>
          </a:solidFill>
          <a:ln w="12700">
            <a:solidFill>
              <a:srgbClr val="41B6E6"/>
            </a:solidFill>
            <a:prstDash val="solid"/>
          </a:ln>
        </p:spPr>
      </p:sp>
      <p:sp>
        <p:nvSpPr>
          <p:cNvPr id="29" name="Shape 25"/>
          <p:cNvSpPr/>
          <p:nvPr/>
        </p:nvSpPr>
        <p:spPr>
          <a:xfrm>
            <a:off x="8229600" y="1847088"/>
            <a:ext cx="411480" cy="411480"/>
          </a:xfrm>
          <a:prstGeom prst="ellipse">
            <a:avLst/>
          </a:prstGeom>
          <a:solidFill>
            <a:srgbClr val="41B6E6"/>
          </a:solidFill>
          <a:ln w="12700">
            <a:solidFill>
              <a:srgbClr val="41B6E6"/>
            </a:solidFill>
            <a:prstDash val="solid"/>
          </a:ln>
        </p:spPr>
      </p:sp>
      <p:pic>
        <p:nvPicPr>
          <p:cNvPr id="30" name="Image 2" descr="/tmp/claude-0/-home-claude/0392ef1a-ea77-535e-abf6-0e4ef3a33421/scratchpad/build/icons/n4.png">    </p:cNvPr>
          <p:cNvPicPr>
            <a:picLocks noChangeAspect="1"/>
          </p:cNvPicPr>
          <p:nvPr/>
        </p:nvPicPr>
        <p:blipFill>
          <a:blip r:embed="rId3"/>
          <a:stretch>
            <a:fillRect/>
          </a:stretch>
        </p:blipFill>
        <p:spPr>
          <a:xfrm>
            <a:off x="8330184" y="1947672"/>
            <a:ext cx="210312" cy="210312"/>
          </a:xfrm>
          <a:prstGeom prst="rect">
            <a:avLst/>
          </a:prstGeom>
        </p:spPr>
      </p:pic>
      <p:sp>
        <p:nvSpPr>
          <p:cNvPr id="31" name="Text 26"/>
          <p:cNvSpPr txBox="1"/>
          <p:nvPr/>
        </p:nvSpPr>
        <p:spPr>
          <a:xfrm>
            <a:off x="8741664" y="1920240"/>
            <a:ext cx="2779776" cy="256032"/>
          </a:xfrm>
          <a:prstGeom prst="rect">
            <a:avLst/>
          </a:prstGeom>
          <a:noFill/>
          <a:ln/>
        </p:spPr>
        <p:txBody>
          <a:bodyPr wrap="square" lIns="0" tIns="0" rIns="0" bIns="0" rtlCol="0" anchor="ctr"/>
          <a:lstStyle/>
          <a:p>
            <a:pPr indent="0" marL="0">
              <a:buNone/>
            </a:pPr>
            <a:r>
              <a:rPr lang="en-US" sz="1000" b="1" spc="120" kern="0" dirty="0">
                <a:solidFill>
                  <a:srgbClr val="1B7FA6"/>
                </a:solidFill>
                <a:latin typeface="Calibri" pitchFamily="34" charset="0"/>
                <a:ea typeface="Calibri" pitchFamily="34" charset="-122"/>
                <a:cs typeface="Calibri" pitchFamily="34" charset="-120"/>
              </a:rPr>
              <a:t>IM CLINICAL CiP 5</a:t>
            </a:r>
            <a:endParaRPr lang="en-US" sz="1000" dirty="0"/>
          </a:p>
        </p:txBody>
      </p:sp>
      <p:sp>
        <p:nvSpPr>
          <p:cNvPr id="32" name="Text 27"/>
          <p:cNvSpPr txBox="1"/>
          <p:nvPr/>
        </p:nvSpPr>
        <p:spPr>
          <a:xfrm>
            <a:off x="8229600" y="2340864"/>
            <a:ext cx="3291840" cy="457200"/>
          </a:xfrm>
          <a:prstGeom prst="rect">
            <a:avLst/>
          </a:prstGeom>
          <a:noFill/>
          <a:ln/>
        </p:spPr>
        <p:txBody>
          <a:bodyPr wrap="square" lIns="0" tIns="0" rIns="0" bIns="0" rtlCol="0" anchor="t"/>
          <a:lstStyle/>
          <a:p>
            <a:pPr indent="0" marL="0">
              <a:lnSpc>
                <a:spcPct val="95000"/>
              </a:lnSpc>
              <a:buNone/>
            </a:pPr>
            <a:r>
              <a:rPr lang="en-US" sz="1050" b="1" dirty="0">
                <a:solidFill>
                  <a:srgbClr val="003087"/>
                </a:solidFill>
                <a:latin typeface="Calibri" pitchFamily="34" charset="0"/>
                <a:ea typeface="Calibri" pitchFamily="34" charset="-122"/>
                <a:cs typeface="Calibri" pitchFamily="34" charset="-120"/>
              </a:rPr>
              <a:t>Managing medical problems in patients in other specialties and special cases</a:t>
            </a:r>
            <a:endParaRPr lang="en-US" sz="1050" dirty="0"/>
          </a:p>
        </p:txBody>
      </p:sp>
      <p:sp>
        <p:nvSpPr>
          <p:cNvPr id="33" name="Text 28"/>
          <p:cNvSpPr txBox="1"/>
          <p:nvPr/>
        </p:nvSpPr>
        <p:spPr>
          <a:xfrm>
            <a:off x="8229600" y="2852928"/>
            <a:ext cx="3273552" cy="786384"/>
          </a:xfrm>
          <a:prstGeom prst="rect">
            <a:avLst/>
          </a:prstGeom>
          <a:noFill/>
          <a:ln/>
        </p:spPr>
        <p:txBody>
          <a:bodyPr wrap="square" lIns="0" tIns="0" rIns="0" bIns="0" rtlCol="0" anchor="t"/>
          <a:lstStyle/>
          <a:p>
            <a:pPr marL="152400" indent="-152400">
              <a:lnSpc>
                <a:spcPct val="102000"/>
              </a:lnSpc>
              <a:spcAft>
                <a:spcPts val="300"/>
              </a:spcAft>
              <a:buSzPct val="100000"/>
              <a:buChar char="•"/>
            </a:pPr>
            <a:r>
              <a:rPr lang="en-US" sz="1000" dirty="0">
                <a:solidFill>
                  <a:srgbClr val="212B32"/>
                </a:solidFill>
                <a:latin typeface="Calibri" pitchFamily="34" charset="0"/>
                <a:ea typeface="Calibri" pitchFamily="34" charset="-122"/>
                <a:cs typeface="Calibri" pitchFamily="34" charset="-120"/>
              </a:rPr>
              <a:t>Consults you provide to other teams or wards</a:t>
            </a:r>
            <a:endParaRPr lang="en-US" sz="1000" dirty="0"/>
          </a:p>
          <a:p>
            <a:pPr marL="152400" indent="-152400">
              <a:lnSpc>
                <a:spcPct val="102000"/>
              </a:lnSpc>
              <a:spcAft>
                <a:spcPts val="300"/>
              </a:spcAft>
              <a:buSzPct val="100000"/>
              <a:buChar char="•"/>
            </a:pPr>
            <a:r>
              <a:rPr lang="en-US" sz="1000" dirty="0">
                <a:solidFill>
                  <a:srgbClr val="212B32"/>
                </a:solidFill>
                <a:latin typeface="Calibri" pitchFamily="34" charset="0"/>
                <a:ea typeface="Calibri" pitchFamily="34" charset="-122"/>
                <a:cs typeface="Calibri" pitchFamily="34" charset="-120"/>
              </a:rPr>
              <a:t>Shared care under another admitting team</a:t>
            </a:r>
            <a:endParaRPr lang="en-US" sz="1000" dirty="0"/>
          </a:p>
          <a:p>
            <a:pPr marL="152400" indent="-152400">
              <a:lnSpc>
                <a:spcPct val="102000"/>
              </a:lnSpc>
              <a:spcAft>
                <a:spcPts val="300"/>
              </a:spcAft>
              <a:buSzPct val="100000"/>
              <a:buChar char="•"/>
            </a:pPr>
            <a:r>
              <a:rPr lang="en-US" sz="1000" dirty="0">
                <a:solidFill>
                  <a:srgbClr val="212B32"/>
                </a:solidFill>
                <a:latin typeface="Calibri" pitchFamily="34" charset="0"/>
                <a:ea typeface="Calibri" pitchFamily="34" charset="-122"/>
                <a:cs typeface="Calibri" pitchFamily="34" charset="-120"/>
              </a:rPr>
              <a:t>Perioperative or peripartum input</a:t>
            </a:r>
            <a:endParaRPr lang="en-US" sz="1000" dirty="0"/>
          </a:p>
        </p:txBody>
      </p:sp>
      <p:sp>
        <p:nvSpPr>
          <p:cNvPr id="34" name="Shape 29"/>
          <p:cNvSpPr/>
          <p:nvPr/>
        </p:nvSpPr>
        <p:spPr>
          <a:xfrm>
            <a:off x="457200" y="3895344"/>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35" name="Shape 30"/>
          <p:cNvSpPr/>
          <p:nvPr/>
        </p:nvSpPr>
        <p:spPr>
          <a:xfrm>
            <a:off x="457200" y="3895344"/>
            <a:ext cx="73152" cy="2103120"/>
          </a:xfrm>
          <a:prstGeom prst="rect">
            <a:avLst/>
          </a:prstGeom>
          <a:solidFill>
            <a:srgbClr val="009639"/>
          </a:solidFill>
          <a:ln w="12700">
            <a:solidFill>
              <a:srgbClr val="009639"/>
            </a:solidFill>
            <a:prstDash val="solid"/>
          </a:ln>
        </p:spPr>
      </p:sp>
      <p:sp>
        <p:nvSpPr>
          <p:cNvPr id="36" name="Shape 31"/>
          <p:cNvSpPr/>
          <p:nvPr/>
        </p:nvSpPr>
        <p:spPr>
          <a:xfrm>
            <a:off x="640080" y="4078224"/>
            <a:ext cx="411480" cy="411480"/>
          </a:xfrm>
          <a:prstGeom prst="ellipse">
            <a:avLst/>
          </a:prstGeom>
          <a:solidFill>
            <a:srgbClr val="009639"/>
          </a:solidFill>
          <a:ln w="12700">
            <a:solidFill>
              <a:srgbClr val="009639"/>
            </a:solidFill>
            <a:prstDash val="solid"/>
          </a:ln>
        </p:spPr>
      </p:sp>
      <p:pic>
        <p:nvPicPr>
          <p:cNvPr id="37" name="Image 3" descr="/tmp/claude-0/-home-claude/0392ef1a-ea77-535e-abf6-0e4ef3a33421/scratchpad/build/icons/w5.png">    </p:cNvPr>
          <p:cNvPicPr>
            <a:picLocks noChangeAspect="1"/>
          </p:cNvPicPr>
          <p:nvPr/>
        </p:nvPicPr>
        <p:blipFill>
          <a:blip r:embed="rId4"/>
          <a:stretch>
            <a:fillRect/>
          </a:stretch>
        </p:blipFill>
        <p:spPr>
          <a:xfrm>
            <a:off x="740664" y="4178808"/>
            <a:ext cx="210312" cy="210312"/>
          </a:xfrm>
          <a:prstGeom prst="rect">
            <a:avLst/>
          </a:prstGeom>
        </p:spPr>
      </p:pic>
      <p:sp>
        <p:nvSpPr>
          <p:cNvPr id="38" name="Text 32"/>
          <p:cNvSpPr txBox="1"/>
          <p:nvPr/>
        </p:nvSpPr>
        <p:spPr>
          <a:xfrm>
            <a:off x="1152144" y="4151376"/>
            <a:ext cx="2779776" cy="256032"/>
          </a:xfrm>
          <a:prstGeom prst="rect">
            <a:avLst/>
          </a:prstGeom>
          <a:noFill/>
          <a:ln/>
        </p:spPr>
        <p:txBody>
          <a:bodyPr wrap="square" lIns="0" tIns="0" rIns="0" bIns="0" rtlCol="0" anchor="ctr"/>
          <a:lstStyle/>
          <a:p>
            <a:pPr indent="0" marL="0">
              <a:buNone/>
            </a:pPr>
            <a:r>
              <a:rPr lang="en-US" sz="1000" b="1" spc="120" kern="0" dirty="0">
                <a:solidFill>
                  <a:srgbClr val="009639"/>
                </a:solidFill>
                <a:latin typeface="Calibri" pitchFamily="34" charset="0"/>
                <a:ea typeface="Calibri" pitchFamily="34" charset="-122"/>
                <a:cs typeface="Calibri" pitchFamily="34" charset="-120"/>
              </a:rPr>
              <a:t>IM CLINICAL CiP 6</a:t>
            </a:r>
            <a:endParaRPr lang="en-US" sz="1000" dirty="0"/>
          </a:p>
        </p:txBody>
      </p:sp>
      <p:sp>
        <p:nvSpPr>
          <p:cNvPr id="39" name="Text 33"/>
          <p:cNvSpPr txBox="1"/>
          <p:nvPr/>
        </p:nvSpPr>
        <p:spPr>
          <a:xfrm>
            <a:off x="640080" y="4572000"/>
            <a:ext cx="3291840" cy="457200"/>
          </a:xfrm>
          <a:prstGeom prst="rect">
            <a:avLst/>
          </a:prstGeom>
          <a:noFill/>
          <a:ln/>
        </p:spPr>
        <p:txBody>
          <a:bodyPr wrap="square" lIns="0" tIns="0" rIns="0" bIns="0" rtlCol="0" anchor="t"/>
          <a:lstStyle/>
          <a:p>
            <a:pPr indent="0" marL="0">
              <a:lnSpc>
                <a:spcPct val="95000"/>
              </a:lnSpc>
              <a:buNone/>
            </a:pPr>
            <a:r>
              <a:rPr lang="en-US" sz="1050" b="1" dirty="0">
                <a:solidFill>
                  <a:srgbClr val="003087"/>
                </a:solidFill>
                <a:latin typeface="Calibri" pitchFamily="34" charset="0"/>
                <a:ea typeface="Calibri" pitchFamily="34" charset="-122"/>
                <a:cs typeface="Calibri" pitchFamily="34" charset="-120"/>
              </a:rPr>
              <a:t>Managing an MDT including discharge planning</a:t>
            </a:r>
            <a:endParaRPr lang="en-US" sz="1050" dirty="0"/>
          </a:p>
        </p:txBody>
      </p:sp>
      <p:sp>
        <p:nvSpPr>
          <p:cNvPr id="40" name="Text 34"/>
          <p:cNvSpPr txBox="1"/>
          <p:nvPr/>
        </p:nvSpPr>
        <p:spPr>
          <a:xfrm>
            <a:off x="640080" y="5084064"/>
            <a:ext cx="3273552" cy="786384"/>
          </a:xfrm>
          <a:prstGeom prst="rect">
            <a:avLst/>
          </a:prstGeom>
          <a:noFill/>
          <a:ln/>
        </p:spPr>
        <p:txBody>
          <a:bodyPr wrap="square" lIns="0" tIns="0" rIns="0" bIns="0" rtlCol="0" anchor="t"/>
          <a:lstStyle/>
          <a:p>
            <a:pPr marL="152400" indent="-152400">
              <a:lnSpc>
                <a:spcPct val="102000"/>
              </a:lnSpc>
              <a:spcAft>
                <a:spcPts val="300"/>
              </a:spcAft>
              <a:buSzPct val="100000"/>
              <a:buChar char="•"/>
            </a:pPr>
            <a:r>
              <a:rPr lang="en-US" sz="1000" dirty="0">
                <a:solidFill>
                  <a:srgbClr val="212B32"/>
                </a:solidFill>
                <a:latin typeface="Calibri" pitchFamily="34" charset="0"/>
                <a:ea typeface="Calibri" pitchFamily="34" charset="-122"/>
                <a:cs typeface="Calibri" pitchFamily="34" charset="-120"/>
              </a:rPr>
              <a:t>Your specialty's MDT and case discussions</a:t>
            </a:r>
            <a:endParaRPr lang="en-US" sz="1000" dirty="0"/>
          </a:p>
          <a:p>
            <a:pPr marL="152400" indent="-152400">
              <a:lnSpc>
                <a:spcPct val="102000"/>
              </a:lnSpc>
              <a:spcAft>
                <a:spcPts val="300"/>
              </a:spcAft>
              <a:buSzPct val="100000"/>
              <a:buChar char="•"/>
            </a:pPr>
            <a:r>
              <a:rPr lang="en-US" sz="1000" dirty="0">
                <a:solidFill>
                  <a:srgbClr val="212B32"/>
                </a:solidFill>
                <a:latin typeface="Calibri" pitchFamily="34" charset="0"/>
                <a:ea typeface="Calibri" pitchFamily="34" charset="-122"/>
                <a:cs typeface="Calibri" pitchFamily="34" charset="-120"/>
              </a:rPr>
              <a:t>Complex discharge with therapies and community teams</a:t>
            </a:r>
            <a:endParaRPr lang="en-US" sz="1000" dirty="0"/>
          </a:p>
          <a:p>
            <a:pPr marL="152400" indent="-152400">
              <a:lnSpc>
                <a:spcPct val="102000"/>
              </a:lnSpc>
              <a:spcAft>
                <a:spcPts val="300"/>
              </a:spcAft>
              <a:buSzPct val="100000"/>
              <a:buChar char="•"/>
            </a:pPr>
            <a:r>
              <a:rPr lang="en-US" sz="1000" dirty="0">
                <a:solidFill>
                  <a:srgbClr val="212B32"/>
                </a:solidFill>
                <a:latin typeface="Calibri" pitchFamily="34" charset="0"/>
                <a:ea typeface="Calibri" pitchFamily="34" charset="-122"/>
                <a:cs typeface="Calibri" pitchFamily="34" charset="-120"/>
              </a:rPr>
              <a:t>Joint decisions with specialist nurses</a:t>
            </a:r>
            <a:endParaRPr lang="en-US" sz="1000" dirty="0"/>
          </a:p>
        </p:txBody>
      </p:sp>
      <p:sp>
        <p:nvSpPr>
          <p:cNvPr id="41" name="Shape 35"/>
          <p:cNvSpPr/>
          <p:nvPr/>
        </p:nvSpPr>
        <p:spPr>
          <a:xfrm>
            <a:off x="4251960" y="3895344"/>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42" name="Shape 36"/>
          <p:cNvSpPr/>
          <p:nvPr/>
        </p:nvSpPr>
        <p:spPr>
          <a:xfrm>
            <a:off x="4251960" y="3895344"/>
            <a:ext cx="73152" cy="2103120"/>
          </a:xfrm>
          <a:prstGeom prst="rect">
            <a:avLst/>
          </a:prstGeom>
          <a:solidFill>
            <a:srgbClr val="FFB81C"/>
          </a:solidFill>
          <a:ln w="12700">
            <a:solidFill>
              <a:srgbClr val="FFB81C"/>
            </a:solidFill>
            <a:prstDash val="solid"/>
          </a:ln>
        </p:spPr>
      </p:sp>
      <p:sp>
        <p:nvSpPr>
          <p:cNvPr id="43" name="Shape 37"/>
          <p:cNvSpPr/>
          <p:nvPr/>
        </p:nvSpPr>
        <p:spPr>
          <a:xfrm>
            <a:off x="4434840" y="4078224"/>
            <a:ext cx="411480" cy="411480"/>
          </a:xfrm>
          <a:prstGeom prst="ellipse">
            <a:avLst/>
          </a:prstGeom>
          <a:solidFill>
            <a:srgbClr val="FFB81C"/>
          </a:solidFill>
          <a:ln w="12700">
            <a:solidFill>
              <a:srgbClr val="FFB81C"/>
            </a:solidFill>
            <a:prstDash val="solid"/>
          </a:ln>
        </p:spPr>
      </p:sp>
      <p:pic>
        <p:nvPicPr>
          <p:cNvPr id="44" name="Image 4" descr="/tmp/claude-0/-home-claude/0392ef1a-ea77-535e-abf6-0e4ef3a33421/scratchpad/build/icons/n6.png">    </p:cNvPr>
          <p:cNvPicPr>
            <a:picLocks noChangeAspect="1"/>
          </p:cNvPicPr>
          <p:nvPr/>
        </p:nvPicPr>
        <p:blipFill>
          <a:blip r:embed="rId5"/>
          <a:stretch>
            <a:fillRect/>
          </a:stretch>
        </p:blipFill>
        <p:spPr>
          <a:xfrm>
            <a:off x="4535424" y="4178808"/>
            <a:ext cx="210312" cy="210312"/>
          </a:xfrm>
          <a:prstGeom prst="rect">
            <a:avLst/>
          </a:prstGeom>
        </p:spPr>
      </p:pic>
      <p:sp>
        <p:nvSpPr>
          <p:cNvPr id="45" name="Text 38"/>
          <p:cNvSpPr txBox="1"/>
          <p:nvPr/>
        </p:nvSpPr>
        <p:spPr>
          <a:xfrm>
            <a:off x="4946904" y="4151376"/>
            <a:ext cx="2779776" cy="256032"/>
          </a:xfrm>
          <a:prstGeom prst="rect">
            <a:avLst/>
          </a:prstGeom>
          <a:noFill/>
          <a:ln/>
        </p:spPr>
        <p:txBody>
          <a:bodyPr wrap="square" lIns="0" tIns="0" rIns="0" bIns="0" rtlCol="0" anchor="ctr"/>
          <a:lstStyle/>
          <a:p>
            <a:pPr indent="0" marL="0">
              <a:buNone/>
            </a:pPr>
            <a:r>
              <a:rPr lang="en-US" sz="1000" b="1" spc="120" kern="0" dirty="0">
                <a:solidFill>
                  <a:srgbClr val="8A5E00"/>
                </a:solidFill>
                <a:latin typeface="Calibri" pitchFamily="34" charset="0"/>
                <a:ea typeface="Calibri" pitchFamily="34" charset="-122"/>
                <a:cs typeface="Calibri" pitchFamily="34" charset="-120"/>
              </a:rPr>
              <a:t>IM CLINICAL CiP 7</a:t>
            </a:r>
            <a:endParaRPr lang="en-US" sz="1000" dirty="0"/>
          </a:p>
        </p:txBody>
      </p:sp>
      <p:sp>
        <p:nvSpPr>
          <p:cNvPr id="46" name="Text 39"/>
          <p:cNvSpPr txBox="1"/>
          <p:nvPr/>
        </p:nvSpPr>
        <p:spPr>
          <a:xfrm>
            <a:off x="4434840" y="4572000"/>
            <a:ext cx="3291840" cy="457200"/>
          </a:xfrm>
          <a:prstGeom prst="rect">
            <a:avLst/>
          </a:prstGeom>
          <a:noFill/>
          <a:ln/>
        </p:spPr>
        <p:txBody>
          <a:bodyPr wrap="square" lIns="0" tIns="0" rIns="0" bIns="0" rtlCol="0" anchor="t"/>
          <a:lstStyle/>
          <a:p>
            <a:pPr indent="0" marL="0">
              <a:lnSpc>
                <a:spcPct val="95000"/>
              </a:lnSpc>
              <a:buNone/>
            </a:pPr>
            <a:r>
              <a:rPr lang="en-US" sz="1050" b="1" dirty="0">
                <a:solidFill>
                  <a:srgbClr val="003087"/>
                </a:solidFill>
                <a:latin typeface="Calibri" pitchFamily="34" charset="0"/>
                <a:ea typeface="Calibri" pitchFamily="34" charset="-122"/>
                <a:cs typeface="Calibri" pitchFamily="34" charset="-120"/>
              </a:rPr>
              <a:t>Delivering effective resuscitation and managing the deteriorating patient</a:t>
            </a:r>
            <a:endParaRPr lang="en-US" sz="1050" dirty="0"/>
          </a:p>
        </p:txBody>
      </p:sp>
      <p:sp>
        <p:nvSpPr>
          <p:cNvPr id="47" name="Text 40"/>
          <p:cNvSpPr txBox="1"/>
          <p:nvPr/>
        </p:nvSpPr>
        <p:spPr>
          <a:xfrm>
            <a:off x="4434840" y="5084064"/>
            <a:ext cx="3273552" cy="786384"/>
          </a:xfrm>
          <a:prstGeom prst="rect">
            <a:avLst/>
          </a:prstGeom>
          <a:noFill/>
          <a:ln/>
        </p:spPr>
        <p:txBody>
          <a:bodyPr wrap="square" lIns="0" tIns="0" rIns="0" bIns="0" rtlCol="0" anchor="t"/>
          <a:lstStyle/>
          <a:p>
            <a:pPr marL="152400" indent="-152400">
              <a:lnSpc>
                <a:spcPct val="102000"/>
              </a:lnSpc>
              <a:spcAft>
                <a:spcPts val="300"/>
              </a:spcAft>
              <a:buSzPct val="100000"/>
              <a:buChar char="•"/>
            </a:pPr>
            <a:r>
              <a:rPr lang="en-US" sz="1000" dirty="0">
                <a:solidFill>
                  <a:srgbClr val="212B32"/>
                </a:solidFill>
                <a:latin typeface="Calibri" pitchFamily="34" charset="0"/>
                <a:ea typeface="Calibri" pitchFamily="34" charset="-122"/>
                <a:cs typeface="Calibri" pitchFamily="34" charset="-120"/>
              </a:rPr>
              <a:t>Escalating a deteriorating patient</a:t>
            </a:r>
            <a:endParaRPr lang="en-US" sz="1000" dirty="0"/>
          </a:p>
          <a:p>
            <a:pPr marL="152400" indent="-152400">
              <a:lnSpc>
                <a:spcPct val="102000"/>
              </a:lnSpc>
              <a:spcAft>
                <a:spcPts val="300"/>
              </a:spcAft>
              <a:buSzPct val="100000"/>
              <a:buChar char="•"/>
            </a:pPr>
            <a:r>
              <a:rPr lang="en-US" sz="1000" dirty="0">
                <a:solidFill>
                  <a:srgbClr val="212B32"/>
                </a:solidFill>
                <a:latin typeface="Calibri" pitchFamily="34" charset="0"/>
                <a:ea typeface="Calibri" pitchFamily="34" charset="-122"/>
                <a:cs typeface="Calibri" pitchFamily="34" charset="-120"/>
              </a:rPr>
              <a:t>Your specialty's peri-arrest or crash call</a:t>
            </a:r>
            <a:endParaRPr lang="en-US" sz="1000" dirty="0"/>
          </a:p>
          <a:p>
            <a:pPr marL="152400" indent="-152400">
              <a:lnSpc>
                <a:spcPct val="102000"/>
              </a:lnSpc>
              <a:spcAft>
                <a:spcPts val="300"/>
              </a:spcAft>
              <a:buSzPct val="100000"/>
              <a:buChar char="•"/>
            </a:pPr>
            <a:r>
              <a:rPr lang="en-US" sz="1000" dirty="0">
                <a:solidFill>
                  <a:srgbClr val="212B32"/>
                </a:solidFill>
                <a:latin typeface="Calibri" pitchFamily="34" charset="0"/>
                <a:ea typeface="Calibri" pitchFamily="34" charset="-122"/>
                <a:cs typeface="Calibri" pitchFamily="34" charset="-120"/>
              </a:rPr>
              <a:t>Referral and transfer to critical care</a:t>
            </a:r>
            <a:endParaRPr lang="en-US" sz="1000" dirty="0"/>
          </a:p>
        </p:txBody>
      </p:sp>
      <p:sp>
        <p:nvSpPr>
          <p:cNvPr id="48" name="Shape 41"/>
          <p:cNvSpPr/>
          <p:nvPr/>
        </p:nvSpPr>
        <p:spPr>
          <a:xfrm>
            <a:off x="8046720" y="3895344"/>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49" name="Shape 42"/>
          <p:cNvSpPr/>
          <p:nvPr/>
        </p:nvSpPr>
        <p:spPr>
          <a:xfrm>
            <a:off x="8046720" y="3895344"/>
            <a:ext cx="73152" cy="2103120"/>
          </a:xfrm>
          <a:prstGeom prst="rect">
            <a:avLst/>
          </a:prstGeom>
          <a:solidFill>
            <a:srgbClr val="330072"/>
          </a:solidFill>
          <a:ln w="12700">
            <a:solidFill>
              <a:srgbClr val="330072"/>
            </a:solidFill>
            <a:prstDash val="solid"/>
          </a:ln>
        </p:spPr>
      </p:sp>
      <p:sp>
        <p:nvSpPr>
          <p:cNvPr id="50" name="Shape 43"/>
          <p:cNvSpPr/>
          <p:nvPr/>
        </p:nvSpPr>
        <p:spPr>
          <a:xfrm>
            <a:off x="8229600" y="4078224"/>
            <a:ext cx="411480" cy="411480"/>
          </a:xfrm>
          <a:prstGeom prst="ellipse">
            <a:avLst/>
          </a:prstGeom>
          <a:solidFill>
            <a:srgbClr val="330072"/>
          </a:solidFill>
          <a:ln w="12700">
            <a:solidFill>
              <a:srgbClr val="330072"/>
            </a:solidFill>
            <a:prstDash val="solid"/>
          </a:ln>
        </p:spPr>
      </p:sp>
      <p:pic>
        <p:nvPicPr>
          <p:cNvPr id="51" name="Image 5" descr="/tmp/claude-0/-home-claude/0392ef1a-ea77-535e-abf6-0e4ef3a33421/scratchpad/build/icons/w7.png">    </p:cNvPr>
          <p:cNvPicPr>
            <a:picLocks noChangeAspect="1"/>
          </p:cNvPicPr>
          <p:nvPr/>
        </p:nvPicPr>
        <p:blipFill>
          <a:blip r:embed="rId6"/>
          <a:stretch>
            <a:fillRect/>
          </a:stretch>
        </p:blipFill>
        <p:spPr>
          <a:xfrm>
            <a:off x="8330184" y="4178808"/>
            <a:ext cx="210312" cy="210312"/>
          </a:xfrm>
          <a:prstGeom prst="rect">
            <a:avLst/>
          </a:prstGeom>
        </p:spPr>
      </p:pic>
      <p:sp>
        <p:nvSpPr>
          <p:cNvPr id="52" name="Text 44"/>
          <p:cNvSpPr txBox="1"/>
          <p:nvPr/>
        </p:nvSpPr>
        <p:spPr>
          <a:xfrm>
            <a:off x="8741664" y="4151376"/>
            <a:ext cx="2779776" cy="256032"/>
          </a:xfrm>
          <a:prstGeom prst="rect">
            <a:avLst/>
          </a:prstGeom>
          <a:noFill/>
          <a:ln/>
        </p:spPr>
        <p:txBody>
          <a:bodyPr wrap="square" lIns="0" tIns="0" rIns="0" bIns="0" rtlCol="0" anchor="ctr"/>
          <a:lstStyle/>
          <a:p>
            <a:pPr indent="0" marL="0">
              <a:buNone/>
            </a:pPr>
            <a:r>
              <a:rPr lang="en-US" sz="1000" b="1" spc="120" kern="0" dirty="0">
                <a:solidFill>
                  <a:srgbClr val="330072"/>
                </a:solidFill>
                <a:latin typeface="Calibri" pitchFamily="34" charset="0"/>
                <a:ea typeface="Calibri" pitchFamily="34" charset="-122"/>
                <a:cs typeface="Calibri" pitchFamily="34" charset="-120"/>
              </a:rPr>
              <a:t>IM CLINICAL CiP 8</a:t>
            </a:r>
            <a:endParaRPr lang="en-US" sz="1000" dirty="0"/>
          </a:p>
        </p:txBody>
      </p:sp>
      <p:sp>
        <p:nvSpPr>
          <p:cNvPr id="53" name="Text 45"/>
          <p:cNvSpPr txBox="1"/>
          <p:nvPr/>
        </p:nvSpPr>
        <p:spPr>
          <a:xfrm>
            <a:off x="8229600" y="4572000"/>
            <a:ext cx="3291840" cy="457200"/>
          </a:xfrm>
          <a:prstGeom prst="rect">
            <a:avLst/>
          </a:prstGeom>
          <a:noFill/>
          <a:ln/>
        </p:spPr>
        <p:txBody>
          <a:bodyPr wrap="square" lIns="0" tIns="0" rIns="0" bIns="0" rtlCol="0" anchor="t"/>
          <a:lstStyle/>
          <a:p>
            <a:pPr indent="0" marL="0">
              <a:lnSpc>
                <a:spcPct val="95000"/>
              </a:lnSpc>
              <a:buNone/>
            </a:pPr>
            <a:r>
              <a:rPr lang="en-US" sz="1050" b="1" dirty="0">
                <a:solidFill>
                  <a:srgbClr val="003087"/>
                </a:solidFill>
                <a:latin typeface="Calibri" pitchFamily="34" charset="0"/>
                <a:ea typeface="Calibri" pitchFamily="34" charset="-122"/>
                <a:cs typeface="Calibri" pitchFamily="34" charset="-120"/>
              </a:rPr>
              <a:t>Managing end of life and applying palliative care skills</a:t>
            </a:r>
            <a:endParaRPr lang="en-US" sz="1050" dirty="0"/>
          </a:p>
        </p:txBody>
      </p:sp>
      <p:sp>
        <p:nvSpPr>
          <p:cNvPr id="54" name="Text 46"/>
          <p:cNvSpPr txBox="1"/>
          <p:nvPr/>
        </p:nvSpPr>
        <p:spPr>
          <a:xfrm>
            <a:off x="8229600" y="5084064"/>
            <a:ext cx="3273552" cy="786384"/>
          </a:xfrm>
          <a:prstGeom prst="rect">
            <a:avLst/>
          </a:prstGeom>
          <a:noFill/>
          <a:ln/>
        </p:spPr>
        <p:txBody>
          <a:bodyPr wrap="square" lIns="0" tIns="0" rIns="0" bIns="0" rtlCol="0" anchor="t"/>
          <a:lstStyle/>
          <a:p>
            <a:pPr marL="152400" indent="-152400">
              <a:lnSpc>
                <a:spcPct val="102000"/>
              </a:lnSpc>
              <a:spcAft>
                <a:spcPts val="300"/>
              </a:spcAft>
              <a:buSzPct val="100000"/>
              <a:buChar char="•"/>
            </a:pPr>
            <a:r>
              <a:rPr lang="en-US" sz="1000" dirty="0">
                <a:solidFill>
                  <a:srgbClr val="212B32"/>
                </a:solidFill>
                <a:latin typeface="Calibri" pitchFamily="34" charset="0"/>
                <a:ea typeface="Calibri" pitchFamily="34" charset="-122"/>
                <a:cs typeface="Calibri" pitchFamily="34" charset="-120"/>
              </a:rPr>
              <a:t>EOL conversations in your disease trajectories</a:t>
            </a:r>
            <a:endParaRPr lang="en-US" sz="1000" dirty="0"/>
          </a:p>
          <a:p>
            <a:pPr marL="152400" indent="-152400">
              <a:lnSpc>
                <a:spcPct val="102000"/>
              </a:lnSpc>
              <a:spcAft>
                <a:spcPts val="300"/>
              </a:spcAft>
              <a:buSzPct val="100000"/>
              <a:buChar char="•"/>
            </a:pPr>
            <a:r>
              <a:rPr lang="en-US" sz="1000" dirty="0">
                <a:solidFill>
                  <a:srgbClr val="212B32"/>
                </a:solidFill>
                <a:latin typeface="Calibri" pitchFamily="34" charset="0"/>
                <a:ea typeface="Calibri" pitchFamily="34" charset="-122"/>
                <a:cs typeface="Calibri" pitchFamily="34" charset="-120"/>
              </a:rPr>
              <a:t>Advance care planning and ReSPECT</a:t>
            </a:r>
            <a:endParaRPr lang="en-US" sz="1000" dirty="0"/>
          </a:p>
          <a:p>
            <a:pPr marL="152400" indent="-152400">
              <a:lnSpc>
                <a:spcPct val="102000"/>
              </a:lnSpc>
              <a:spcAft>
                <a:spcPts val="300"/>
              </a:spcAft>
              <a:buSzPct val="100000"/>
              <a:buChar char="•"/>
            </a:pPr>
            <a:r>
              <a:rPr lang="en-US" sz="1000" dirty="0">
                <a:solidFill>
                  <a:srgbClr val="212B32"/>
                </a:solidFill>
                <a:latin typeface="Calibri" pitchFamily="34" charset="0"/>
                <a:ea typeface="Calibri" pitchFamily="34" charset="-122"/>
                <a:cs typeface="Calibri" pitchFamily="34" charset="-120"/>
              </a:rPr>
              <a:t>Withdrawing or limiting treatment</a:t>
            </a:r>
            <a:endParaRPr lang="en-US" sz="1000" dirty="0"/>
          </a:p>
        </p:txBody>
      </p:sp>
      <p:sp>
        <p:nvSpPr>
          <p:cNvPr id="55" name="Shape 47"/>
          <p:cNvSpPr/>
          <p:nvPr/>
        </p:nvSpPr>
        <p:spPr>
          <a:xfrm>
            <a:off x="457200" y="6071616"/>
            <a:ext cx="11247120" cy="438912"/>
          </a:xfrm>
          <a:prstGeom prst="rect">
            <a:avLst/>
          </a:prstGeom>
          <a:solidFill>
            <a:srgbClr val="F0F4F5"/>
          </a:solidFill>
          <a:ln w="12700">
            <a:solidFill>
              <a:srgbClr val="F0F4F5"/>
            </a:solidFill>
            <a:prstDash val="solid"/>
          </a:ln>
        </p:spPr>
      </p:sp>
      <p:sp>
        <p:nvSpPr>
          <p:cNvPr id="56" name="Shape 48"/>
          <p:cNvSpPr/>
          <p:nvPr/>
        </p:nvSpPr>
        <p:spPr>
          <a:xfrm>
            <a:off x="457200" y="6071616"/>
            <a:ext cx="73152" cy="438912"/>
          </a:xfrm>
          <a:prstGeom prst="rect">
            <a:avLst/>
          </a:prstGeom>
          <a:solidFill>
            <a:srgbClr val="0072CE"/>
          </a:solidFill>
          <a:ln w="12700">
            <a:solidFill>
              <a:srgbClr val="0072CE"/>
            </a:solidFill>
            <a:prstDash val="solid"/>
          </a:ln>
        </p:spPr>
      </p:sp>
      <p:sp>
        <p:nvSpPr>
          <p:cNvPr id="57" name="Text 49"/>
          <p:cNvSpPr txBox="1"/>
          <p:nvPr/>
        </p:nvSpPr>
        <p:spPr>
          <a:xfrm>
            <a:off x="658368" y="6071616"/>
            <a:ext cx="10881360" cy="438912"/>
          </a:xfrm>
          <a:prstGeom prst="rect">
            <a:avLst/>
          </a:prstGeom>
          <a:noFill/>
          <a:ln/>
        </p:spPr>
        <p:txBody>
          <a:bodyPr wrap="square" lIns="0" tIns="0" rIns="0" bIns="0" rtlCol="0" anchor="ctr"/>
          <a:lstStyle/>
          <a:p>
            <a:pPr indent="0" marL="0">
              <a:buNone/>
            </a:pPr>
            <a:r>
              <a:rPr lang="en-US" sz="1000" i="1" dirty="0">
                <a:solidFill>
                  <a:srgbClr val="212B32"/>
                </a:solidFill>
                <a:latin typeface="Calibri" pitchFamily="34" charset="0"/>
                <a:ea typeface="Calibri" pitchFamily="34" charset="-122"/>
                <a:cs typeface="Calibri" pitchFamily="34" charset="-120"/>
              </a:rPr>
              <a:t>Suggested evidence:  ACAT × specialty on-call or ward round  ·  CbD × complex multi-comorbid case  ·  mini-CEX × deterioration  ·  reflection × MDT or EOL discussion</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10584180" y="379476"/>
            <a:ext cx="82296" cy="82296"/>
          </a:xfrm>
          <a:prstGeom prst="ellipse">
            <a:avLst/>
          </a:prstGeom>
          <a:solidFill>
            <a:srgbClr val="D8DDE0"/>
          </a:solidFill>
          <a:ln w="12700">
            <a:solidFill>
              <a:srgbClr val="D8DDE0"/>
            </a:solidFill>
            <a:prstDash val="solid"/>
          </a:ln>
        </p:spPr>
      </p:sp>
      <p:sp>
        <p:nvSpPr>
          <p:cNvPr id="3" name="Shape 1"/>
          <p:cNvSpPr/>
          <p:nvPr/>
        </p:nvSpPr>
        <p:spPr>
          <a:xfrm>
            <a:off x="10794492" y="379476"/>
            <a:ext cx="82296" cy="82296"/>
          </a:xfrm>
          <a:prstGeom prst="ellipse">
            <a:avLst/>
          </a:prstGeom>
          <a:solidFill>
            <a:srgbClr val="D8DDE0"/>
          </a:solidFill>
          <a:ln w="12700">
            <a:solidFill>
              <a:srgbClr val="D8DDE0"/>
            </a:solidFill>
            <a:prstDash val="solid"/>
          </a:ln>
        </p:spPr>
      </p:sp>
      <p:sp>
        <p:nvSpPr>
          <p:cNvPr id="4" name="Shape 2"/>
          <p:cNvSpPr/>
          <p:nvPr/>
        </p:nvSpPr>
        <p:spPr>
          <a:xfrm>
            <a:off x="11004804" y="379476"/>
            <a:ext cx="82296" cy="82296"/>
          </a:xfrm>
          <a:prstGeom prst="ellipse">
            <a:avLst/>
          </a:prstGeom>
          <a:solidFill>
            <a:srgbClr val="D8DDE0"/>
          </a:solidFill>
          <a:ln w="12700">
            <a:solidFill>
              <a:srgbClr val="D8DDE0"/>
            </a:solidFill>
            <a:prstDash val="solid"/>
          </a:ln>
        </p:spPr>
      </p:sp>
      <p:sp>
        <p:nvSpPr>
          <p:cNvPr id="5" name="Shape 3"/>
          <p:cNvSpPr/>
          <p:nvPr/>
        </p:nvSpPr>
        <p:spPr>
          <a:xfrm>
            <a:off x="11215116" y="379476"/>
            <a:ext cx="82296" cy="82296"/>
          </a:xfrm>
          <a:prstGeom prst="ellipse">
            <a:avLst/>
          </a:prstGeom>
          <a:solidFill>
            <a:srgbClr val="D8DDE0"/>
          </a:solidFill>
          <a:ln w="12700">
            <a:solidFill>
              <a:srgbClr val="D8DDE0"/>
            </a:solidFill>
            <a:prstDash val="solid"/>
          </a:ln>
        </p:spPr>
      </p:sp>
      <p:sp>
        <p:nvSpPr>
          <p:cNvPr id="6" name="Shape 4"/>
          <p:cNvSpPr/>
          <p:nvPr/>
        </p:nvSpPr>
        <p:spPr>
          <a:xfrm>
            <a:off x="11407140" y="361188"/>
            <a:ext cx="118872" cy="118872"/>
          </a:xfrm>
          <a:prstGeom prst="ellipse">
            <a:avLst/>
          </a:prstGeom>
          <a:solidFill>
            <a:srgbClr val="FFB81C"/>
          </a:solidFill>
          <a:ln w="12700">
            <a:solidFill>
              <a:srgbClr val="FFB81C"/>
            </a:solidFill>
            <a:prstDash val="solid"/>
          </a:ln>
        </p:spPr>
      </p:sp>
      <p:sp>
        <p:nvSpPr>
          <p:cNvPr id="7" name="Shape 5"/>
          <p:cNvSpPr/>
          <p:nvPr/>
        </p:nvSpPr>
        <p:spPr>
          <a:xfrm>
            <a:off x="11635740" y="379476"/>
            <a:ext cx="82296" cy="82296"/>
          </a:xfrm>
          <a:prstGeom prst="ellipse">
            <a:avLst/>
          </a:prstGeom>
          <a:solidFill>
            <a:srgbClr val="D8DDE0"/>
          </a:solidFill>
          <a:ln w="12700">
            <a:solidFill>
              <a:srgbClr val="D8DDE0"/>
            </a:solidFill>
            <a:prstDash val="solid"/>
          </a:ln>
        </p:spPr>
      </p:sp>
      <p:sp>
        <p:nvSpPr>
          <p:cNvPr id="8" name="Text 6"/>
          <p:cNvSpPr txBox="1"/>
          <p:nvPr/>
        </p:nvSpPr>
        <p:spPr>
          <a:xfrm>
            <a:off x="457200" y="274320"/>
            <a:ext cx="9875520" cy="256032"/>
          </a:xfrm>
          <a:prstGeom prst="rect">
            <a:avLst/>
          </a:prstGeom>
          <a:noFill/>
          <a:ln/>
        </p:spPr>
        <p:txBody>
          <a:bodyPr wrap="square" lIns="0" tIns="0" rIns="0" bIns="0" rtlCol="0" anchor="ctr"/>
          <a:lstStyle/>
          <a:p>
            <a:pPr indent="0" marL="0">
              <a:buNone/>
            </a:pPr>
            <a:r>
              <a:rPr lang="en-US" sz="1100" b="1" spc="240" kern="0" dirty="0">
                <a:solidFill>
                  <a:srgbClr val="8A5E00"/>
                </a:solidFill>
                <a:latin typeface="Calibri" pitchFamily="34" charset="0"/>
                <a:ea typeface="Calibri" pitchFamily="34" charset="-122"/>
                <a:cs typeface="Calibri" pitchFamily="34" charset="-120"/>
              </a:rPr>
              <a:t>PART 05 · EDUCATION, LEADERSHIP AND MANAGEMENT</a:t>
            </a:r>
            <a:endParaRPr lang="en-US" sz="1100" dirty="0"/>
          </a:p>
        </p:txBody>
      </p:sp>
      <p:sp>
        <p:nvSpPr>
          <p:cNvPr id="9" name="Text 7"/>
          <p:cNvSpPr txBox="1"/>
          <p:nvPr/>
        </p:nvSpPr>
        <p:spPr>
          <a:xfrm>
            <a:off x="457200" y="512064"/>
            <a:ext cx="11247120" cy="658368"/>
          </a:xfrm>
          <a:prstGeom prst="rect">
            <a:avLst/>
          </a:prstGeom>
          <a:noFill/>
          <a:ln/>
        </p:spPr>
        <p:txBody>
          <a:bodyPr wrap="square" lIns="0" tIns="0" rIns="0" bIns="0" rtlCol="0" anchor="ctr"/>
          <a:lstStyle/>
          <a:p>
            <a:pPr indent="0" marL="0">
              <a:buNone/>
            </a:pPr>
            <a:r>
              <a:rPr lang="en-US" sz="3000" b="1" dirty="0">
                <a:solidFill>
                  <a:srgbClr val="003087"/>
                </a:solidFill>
                <a:latin typeface="Calibri" pitchFamily="34" charset="0"/>
                <a:ea typeface="Calibri" pitchFamily="34" charset="-122"/>
                <a:cs typeface="Calibri" pitchFamily="34" charset="-120"/>
              </a:rPr>
              <a:t>Two requirements each, not one</a:t>
            </a:r>
            <a:endParaRPr lang="en-US" sz="3000" dirty="0"/>
          </a:p>
        </p:txBody>
      </p:sp>
      <p:sp>
        <p:nvSpPr>
          <p:cNvPr id="10" name="Text 8"/>
          <p:cNvSpPr txBox="1"/>
          <p:nvPr/>
        </p:nvSpPr>
        <p:spPr>
          <a:xfrm>
            <a:off x="457200" y="1170432"/>
            <a:ext cx="11247120" cy="411480"/>
          </a:xfrm>
          <a:prstGeom prst="rect">
            <a:avLst/>
          </a:prstGeom>
          <a:noFill/>
          <a:ln/>
        </p:spPr>
        <p:txBody>
          <a:bodyPr wrap="square" lIns="0" tIns="0" rIns="0" bIns="0" rtlCol="0" anchor="t"/>
          <a:lstStyle/>
          <a:p>
            <a:pPr indent="0" marL="0">
              <a:buNone/>
            </a:pPr>
            <a:r>
              <a:rPr lang="en-US" sz="1200" i="1" dirty="0">
                <a:solidFill>
                  <a:srgbClr val="768692"/>
                </a:solidFill>
                <a:latin typeface="Calibri" pitchFamily="34" charset="0"/>
                <a:ea typeface="Calibri" pitchFamily="34" charset="-122"/>
                <a:cs typeface="Calibri" pitchFamily="34" charset="-120"/>
              </a:rPr>
              <a:t>Education is one teaching observation and one course. Management is one QIPAT and one management course. The course is not optional in either.</a:t>
            </a:r>
            <a:endParaRPr lang="en-US" sz="1200" dirty="0"/>
          </a:p>
        </p:txBody>
      </p:sp>
      <p:sp>
        <p:nvSpPr>
          <p:cNvPr id="11" name="Text 9"/>
          <p:cNvSpPr txBox="1"/>
          <p:nvPr/>
        </p:nvSpPr>
        <p:spPr>
          <a:xfrm>
            <a:off x="457200" y="6547104"/>
            <a:ext cx="7315200" cy="274320"/>
          </a:xfrm>
          <a:prstGeom prst="rect">
            <a:avLst/>
          </a:prstGeom>
          <a:noFill/>
          <a:ln/>
        </p:spPr>
        <p:txBody>
          <a:bodyPr wrap="square" lIns="0" tIns="0" rIns="0" bIns="0" rtlCol="0" anchor="ctr"/>
          <a:lstStyle/>
          <a:p>
            <a:pPr indent="0" marL="0">
              <a:buNone/>
            </a:pPr>
            <a:r>
              <a:rPr lang="en-US" sz="900" dirty="0">
                <a:solidFill>
                  <a:srgbClr val="768692"/>
                </a:solidFill>
                <a:latin typeface="Calibri" pitchFamily="34" charset="0"/>
                <a:ea typeface="Calibri" pitchFamily="34" charset="-122"/>
                <a:cs typeface="Calibri" pitchFamily="34" charset="-120"/>
              </a:rPr>
              <a:t>GIM ARCP · trainee guidance · </a:t>
            </a:r>
            <a:pPr indent="0" marL="0">
              <a:buNone/>
            </a:pPr>
            <a:r>
              <a:rPr lang="en-US" sz="900" b="1" dirty="0">
                <a:solidFill>
                  <a:srgbClr val="8A5E00"/>
                </a:solidFill>
                <a:latin typeface="Calibri" pitchFamily="34" charset="0"/>
                <a:ea typeface="Calibri" pitchFamily="34" charset="-122"/>
                <a:cs typeface="Calibri" pitchFamily="34" charset="-120"/>
              </a:rPr>
              <a:t>DRAFT</a:t>
            </a:r>
            <a:endParaRPr lang="en-US" sz="900" dirty="0"/>
          </a:p>
        </p:txBody>
      </p:sp>
      <p:sp>
        <p:nvSpPr>
          <p:cNvPr id="12" name="Text 10"/>
          <p:cNvSpPr txBox="1"/>
          <p:nvPr/>
        </p:nvSpPr>
        <p:spPr>
          <a:xfrm>
            <a:off x="11155680" y="6547104"/>
            <a:ext cx="548640" cy="274320"/>
          </a:xfrm>
          <a:prstGeom prst="rect">
            <a:avLst/>
          </a:prstGeom>
          <a:noFill/>
          <a:ln/>
        </p:spPr>
        <p:txBody>
          <a:bodyPr wrap="square" lIns="0" tIns="0" rIns="0" bIns="0" rtlCol="0" anchor="ctr"/>
          <a:lstStyle/>
          <a:p>
            <a:pPr algn="r" indent="0" marL="0">
              <a:buNone/>
            </a:pPr>
            <a:r>
              <a:rPr lang="en-US" sz="900" dirty="0">
                <a:solidFill>
                  <a:srgbClr val="768692"/>
                </a:solidFill>
                <a:latin typeface="Calibri" pitchFamily="34" charset="0"/>
                <a:ea typeface="Calibri" pitchFamily="34" charset="-122"/>
                <a:cs typeface="Calibri" pitchFamily="34" charset="-120"/>
              </a:rPr>
              <a:t>17</a:t>
            </a:r>
            <a:endParaRPr lang="en-US" sz="900" dirty="0"/>
          </a:p>
        </p:txBody>
      </p:sp>
      <p:sp>
        <p:nvSpPr>
          <p:cNvPr id="13" name="Shape 11"/>
          <p:cNvSpPr/>
          <p:nvPr/>
        </p:nvSpPr>
        <p:spPr>
          <a:xfrm>
            <a:off x="457200" y="1664208"/>
            <a:ext cx="5623560" cy="4334256"/>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14" name="Shape 12"/>
          <p:cNvSpPr/>
          <p:nvPr/>
        </p:nvSpPr>
        <p:spPr>
          <a:xfrm>
            <a:off x="457200" y="1664208"/>
            <a:ext cx="73152" cy="4334256"/>
          </a:xfrm>
          <a:prstGeom prst="rect">
            <a:avLst/>
          </a:prstGeom>
          <a:solidFill>
            <a:srgbClr val="003087"/>
          </a:solidFill>
          <a:ln w="12700">
            <a:solidFill>
              <a:srgbClr val="003087"/>
            </a:solidFill>
            <a:prstDash val="solid"/>
          </a:ln>
        </p:spPr>
      </p:sp>
      <p:sp>
        <p:nvSpPr>
          <p:cNvPr id="15" name="Shape 13"/>
          <p:cNvSpPr/>
          <p:nvPr/>
        </p:nvSpPr>
        <p:spPr>
          <a:xfrm>
            <a:off x="658368" y="1911096"/>
            <a:ext cx="594360" cy="594360"/>
          </a:xfrm>
          <a:prstGeom prst="ellipse">
            <a:avLst/>
          </a:prstGeom>
          <a:solidFill>
            <a:srgbClr val="003087"/>
          </a:solidFill>
          <a:ln w="12700">
            <a:solidFill>
              <a:srgbClr val="003087"/>
            </a:solidFill>
            <a:prstDash val="solid"/>
          </a:ln>
        </p:spPr>
      </p:sp>
      <p:pic>
        <p:nvPicPr>
          <p:cNvPr id="16" name="Image 0" descr="/tmp/claude-0/-home-claude/0392ef1a-ea77-535e-abf6-0e4ef3a33421/scratchpad/build/icons/w12.png">    </p:cNvPr>
          <p:cNvPicPr>
            <a:picLocks noChangeAspect="1"/>
          </p:cNvPicPr>
          <p:nvPr/>
        </p:nvPicPr>
        <p:blipFill>
          <a:blip r:embed="rId1"/>
          <a:stretch>
            <a:fillRect/>
          </a:stretch>
        </p:blipFill>
        <p:spPr>
          <a:xfrm>
            <a:off x="795528" y="2048256"/>
            <a:ext cx="320040" cy="320040"/>
          </a:xfrm>
          <a:prstGeom prst="rect">
            <a:avLst/>
          </a:prstGeom>
        </p:spPr>
      </p:pic>
      <p:sp>
        <p:nvSpPr>
          <p:cNvPr id="17" name="Text 14"/>
          <p:cNvSpPr txBox="1"/>
          <p:nvPr/>
        </p:nvSpPr>
        <p:spPr>
          <a:xfrm>
            <a:off x="1508760" y="1892808"/>
            <a:ext cx="4389120" cy="256032"/>
          </a:xfrm>
          <a:prstGeom prst="rect">
            <a:avLst/>
          </a:prstGeom>
          <a:noFill/>
          <a:ln/>
        </p:spPr>
        <p:txBody>
          <a:bodyPr wrap="square" lIns="0" tIns="0" rIns="0" bIns="0" rtlCol="0" anchor="ctr"/>
          <a:lstStyle/>
          <a:p>
            <a:pPr indent="0" marL="0">
              <a:buNone/>
            </a:pPr>
            <a:r>
              <a:rPr lang="en-US" sz="1100" b="1" spc="180" kern="0" dirty="0">
                <a:solidFill>
                  <a:srgbClr val="003087"/>
                </a:solidFill>
                <a:latin typeface="Calibri" pitchFamily="34" charset="0"/>
                <a:ea typeface="Calibri" pitchFamily="34" charset="-122"/>
                <a:cs typeface="Calibri" pitchFamily="34" charset="-120"/>
              </a:rPr>
              <a:t>EDUCATION</a:t>
            </a:r>
            <a:endParaRPr lang="en-US" sz="1100" dirty="0"/>
          </a:p>
        </p:txBody>
      </p:sp>
      <p:sp>
        <p:nvSpPr>
          <p:cNvPr id="18" name="Text 15"/>
          <p:cNvSpPr txBox="1"/>
          <p:nvPr/>
        </p:nvSpPr>
        <p:spPr>
          <a:xfrm>
            <a:off x="1508760" y="2167128"/>
            <a:ext cx="4389120" cy="411480"/>
          </a:xfrm>
          <a:prstGeom prst="rect">
            <a:avLst/>
          </a:prstGeom>
          <a:noFill/>
          <a:ln/>
        </p:spPr>
        <p:txBody>
          <a:bodyPr wrap="square" lIns="0" tIns="0" rIns="0" bIns="0" rtlCol="0" anchor="t"/>
          <a:lstStyle/>
          <a:p>
            <a:pPr indent="0" marL="0">
              <a:buNone/>
            </a:pPr>
            <a:r>
              <a:rPr lang="en-US" sz="1800" b="1" dirty="0">
                <a:solidFill>
                  <a:srgbClr val="003087"/>
                </a:solidFill>
                <a:latin typeface="Calibri" pitchFamily="34" charset="0"/>
                <a:ea typeface="Calibri" pitchFamily="34" charset="-122"/>
                <a:cs typeface="Calibri" pitchFamily="34" charset="-120"/>
              </a:rPr>
              <a:t>The observation, and the course beside it</a:t>
            </a:r>
            <a:endParaRPr lang="en-US" sz="1800" dirty="0"/>
          </a:p>
        </p:txBody>
      </p:sp>
      <p:sp>
        <p:nvSpPr>
          <p:cNvPr id="19" name="Text 16"/>
          <p:cNvSpPr txBox="1"/>
          <p:nvPr/>
        </p:nvSpPr>
        <p:spPr>
          <a:xfrm>
            <a:off x="1508760" y="2596896"/>
            <a:ext cx="4389120" cy="274320"/>
          </a:xfrm>
          <a:prstGeom prst="rect">
            <a:avLst/>
          </a:prstGeom>
          <a:noFill/>
          <a:ln/>
        </p:spPr>
        <p:txBody>
          <a:bodyPr wrap="square" lIns="0" tIns="0" rIns="0" bIns="0" rtlCol="0" anchor="ctr"/>
          <a:lstStyle/>
          <a:p>
            <a:pPr indent="0" marL="0">
              <a:buNone/>
            </a:pPr>
            <a:r>
              <a:rPr lang="en-US" sz="1100" i="1" dirty="0">
                <a:solidFill>
                  <a:srgbClr val="003087"/>
                </a:solidFill>
                <a:latin typeface="Calibri" pitchFamily="34" charset="0"/>
                <a:ea typeface="Calibri" pitchFamily="34" charset="-122"/>
                <a:cs typeface="Calibri" pitchFamily="34" charset="-120"/>
              </a:rPr>
              <a:t>One teaching observation + one teaching course</a:t>
            </a:r>
            <a:endParaRPr lang="en-US" sz="1100" dirty="0"/>
          </a:p>
        </p:txBody>
      </p:sp>
      <p:sp>
        <p:nvSpPr>
          <p:cNvPr id="20" name="Text 17"/>
          <p:cNvSpPr txBox="1"/>
          <p:nvPr/>
        </p:nvSpPr>
        <p:spPr>
          <a:xfrm>
            <a:off x="713232" y="3081528"/>
            <a:ext cx="5120640" cy="2139696"/>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Best done early in higher training — learn to teach, then practise</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A teaching skills or "training the trainers" style course meets it — the Royal Colleges and most trusts run one</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Instructing on a life support course is the highest-yield route: structured, assessed, and it evidences teaching again every year</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A local simulation faculty course, and then working as sim faculty, counts as a teaching course — you do not need to look outside the trust</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A PGCert in medical education is not a destination on its own — it counts when it sits alongside ongoing teaching experience</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Ask your ES to do the observation, not a peer</a:t>
            </a:r>
            <a:endParaRPr lang="en-US" sz="1100" dirty="0"/>
          </a:p>
        </p:txBody>
      </p:sp>
      <p:sp>
        <p:nvSpPr>
          <p:cNvPr id="21" name="Shape 18"/>
          <p:cNvSpPr/>
          <p:nvPr/>
        </p:nvSpPr>
        <p:spPr>
          <a:xfrm>
            <a:off x="594360" y="5221224"/>
            <a:ext cx="5349240" cy="502920"/>
          </a:xfrm>
          <a:prstGeom prst="rect">
            <a:avLst/>
          </a:prstGeom>
          <a:solidFill>
            <a:srgbClr val="F0F4F5"/>
          </a:solidFill>
          <a:ln w="12700">
            <a:solidFill>
              <a:srgbClr val="F0F4F5"/>
            </a:solidFill>
            <a:prstDash val="solid"/>
          </a:ln>
        </p:spPr>
      </p:sp>
      <p:sp>
        <p:nvSpPr>
          <p:cNvPr id="22" name="Text 19"/>
          <p:cNvSpPr txBox="1"/>
          <p:nvPr/>
        </p:nvSpPr>
        <p:spPr>
          <a:xfrm>
            <a:off x="749808" y="5221224"/>
            <a:ext cx="5056632" cy="502920"/>
          </a:xfrm>
          <a:prstGeom prst="rect">
            <a:avLst/>
          </a:prstGeom>
          <a:noFill/>
          <a:ln/>
        </p:spPr>
        <p:txBody>
          <a:bodyPr wrap="square" lIns="0" tIns="0" rIns="0" bIns="0" rtlCol="0" anchor="ctr"/>
          <a:lstStyle/>
          <a:p>
            <a:pPr indent="0" marL="0">
              <a:buNone/>
            </a:pPr>
            <a:r>
              <a:rPr lang="en-US" sz="1000" b="1" dirty="0">
                <a:solidFill>
                  <a:srgbClr val="003087"/>
                </a:solidFill>
                <a:latin typeface="Calibri" pitchFamily="34" charset="0"/>
                <a:ea typeface="Calibri" pitchFamily="34" charset="-122"/>
                <a:cs typeface="Calibri" pitchFamily="34" charset="-120"/>
              </a:rPr>
              <a:t>For the observation: </a:t>
            </a:r>
            <a:pPr indent="0" marL="0">
              <a:buNone/>
            </a:pPr>
            <a:r>
              <a:rPr lang="en-US" sz="1000" dirty="0">
                <a:solidFill>
                  <a:srgbClr val="212B32"/>
                </a:solidFill>
                <a:latin typeface="Calibri" pitchFamily="34" charset="0"/>
                <a:ea typeface="Calibri" pitchFamily="34" charset="-122"/>
                <a:cs typeface="Calibri" pitchFamily="34" charset="-120"/>
              </a:rPr>
              <a:t>use teaching you already do — a departmental session, a bedside tutorial, an induction talk. It does not need a course to happen first.</a:t>
            </a:r>
            <a:endParaRPr lang="en-US" sz="1000" dirty="0"/>
          </a:p>
        </p:txBody>
      </p:sp>
      <p:sp>
        <p:nvSpPr>
          <p:cNvPr id="23" name="Shape 20"/>
          <p:cNvSpPr/>
          <p:nvPr/>
        </p:nvSpPr>
        <p:spPr>
          <a:xfrm>
            <a:off x="6172200" y="1664208"/>
            <a:ext cx="5532120" cy="4334256"/>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24" name="Shape 21"/>
          <p:cNvSpPr/>
          <p:nvPr/>
        </p:nvSpPr>
        <p:spPr>
          <a:xfrm>
            <a:off x="6172200" y="1664208"/>
            <a:ext cx="73152" cy="4334256"/>
          </a:xfrm>
          <a:prstGeom prst="rect">
            <a:avLst/>
          </a:prstGeom>
          <a:solidFill>
            <a:srgbClr val="0072CE"/>
          </a:solidFill>
          <a:ln w="12700">
            <a:solidFill>
              <a:srgbClr val="0072CE"/>
            </a:solidFill>
            <a:prstDash val="solid"/>
          </a:ln>
        </p:spPr>
      </p:sp>
      <p:sp>
        <p:nvSpPr>
          <p:cNvPr id="25" name="Shape 22"/>
          <p:cNvSpPr/>
          <p:nvPr/>
        </p:nvSpPr>
        <p:spPr>
          <a:xfrm>
            <a:off x="6373368" y="1911096"/>
            <a:ext cx="594360" cy="594360"/>
          </a:xfrm>
          <a:prstGeom prst="ellipse">
            <a:avLst/>
          </a:prstGeom>
          <a:solidFill>
            <a:srgbClr val="0072CE"/>
          </a:solidFill>
          <a:ln w="12700">
            <a:solidFill>
              <a:srgbClr val="0072CE"/>
            </a:solidFill>
            <a:prstDash val="solid"/>
          </a:ln>
        </p:spPr>
      </p:sp>
      <p:pic>
        <p:nvPicPr>
          <p:cNvPr id="26" name="Image 1" descr="/tmp/claude-0/-home-claude/0392ef1a-ea77-535e-abf6-0e4ef3a33421/scratchpad/build/icons/w5.png">    </p:cNvPr>
          <p:cNvPicPr>
            <a:picLocks noChangeAspect="1"/>
          </p:cNvPicPr>
          <p:nvPr/>
        </p:nvPicPr>
        <p:blipFill>
          <a:blip r:embed="rId2"/>
          <a:stretch>
            <a:fillRect/>
          </a:stretch>
        </p:blipFill>
        <p:spPr>
          <a:xfrm>
            <a:off x="6510528" y="2048256"/>
            <a:ext cx="320040" cy="320040"/>
          </a:xfrm>
          <a:prstGeom prst="rect">
            <a:avLst/>
          </a:prstGeom>
        </p:spPr>
      </p:pic>
      <p:sp>
        <p:nvSpPr>
          <p:cNvPr id="27" name="Text 23"/>
          <p:cNvSpPr txBox="1"/>
          <p:nvPr/>
        </p:nvSpPr>
        <p:spPr>
          <a:xfrm>
            <a:off x="7223760" y="1892808"/>
            <a:ext cx="4297680" cy="256032"/>
          </a:xfrm>
          <a:prstGeom prst="rect">
            <a:avLst/>
          </a:prstGeom>
          <a:noFill/>
          <a:ln/>
        </p:spPr>
        <p:txBody>
          <a:bodyPr wrap="square" lIns="0" tIns="0" rIns="0" bIns="0" rtlCol="0" anchor="ctr"/>
          <a:lstStyle/>
          <a:p>
            <a:pPr indent="0" marL="0">
              <a:buNone/>
            </a:pPr>
            <a:r>
              <a:rPr lang="en-US" sz="1100" b="1" spc="180" kern="0" dirty="0">
                <a:solidFill>
                  <a:srgbClr val="0072CE"/>
                </a:solidFill>
                <a:latin typeface="Calibri" pitchFamily="34" charset="0"/>
                <a:ea typeface="Calibri" pitchFamily="34" charset="-122"/>
                <a:cs typeface="Calibri" pitchFamily="34" charset="-120"/>
              </a:rPr>
              <a:t>LEADERSHIP AND MANAGEMENT</a:t>
            </a:r>
            <a:endParaRPr lang="en-US" sz="1100" dirty="0"/>
          </a:p>
        </p:txBody>
      </p:sp>
      <p:sp>
        <p:nvSpPr>
          <p:cNvPr id="28" name="Text 24"/>
          <p:cNvSpPr txBox="1"/>
          <p:nvPr/>
        </p:nvSpPr>
        <p:spPr>
          <a:xfrm>
            <a:off x="7223760" y="2167128"/>
            <a:ext cx="4297680" cy="411480"/>
          </a:xfrm>
          <a:prstGeom prst="rect">
            <a:avLst/>
          </a:prstGeom>
          <a:noFill/>
          <a:ln/>
        </p:spPr>
        <p:txBody>
          <a:bodyPr wrap="square" lIns="0" tIns="0" rIns="0" bIns="0" rtlCol="0" anchor="t"/>
          <a:lstStyle/>
          <a:p>
            <a:pPr indent="0" marL="0">
              <a:buNone/>
            </a:pPr>
            <a:r>
              <a:rPr lang="en-US" sz="1800" b="1" dirty="0">
                <a:solidFill>
                  <a:srgbClr val="003087"/>
                </a:solidFill>
                <a:latin typeface="Calibri" pitchFamily="34" charset="0"/>
                <a:ea typeface="Calibri" pitchFamily="34" charset="-122"/>
                <a:cs typeface="Calibri" pitchFamily="34" charset="-120"/>
              </a:rPr>
              <a:t>Edward Jenner is enough</a:t>
            </a:r>
            <a:endParaRPr lang="en-US" sz="1800" dirty="0"/>
          </a:p>
        </p:txBody>
      </p:sp>
      <p:sp>
        <p:nvSpPr>
          <p:cNvPr id="29" name="Text 25"/>
          <p:cNvSpPr txBox="1"/>
          <p:nvPr/>
        </p:nvSpPr>
        <p:spPr>
          <a:xfrm>
            <a:off x="7223760" y="2596896"/>
            <a:ext cx="4297680" cy="274320"/>
          </a:xfrm>
          <a:prstGeom prst="rect">
            <a:avLst/>
          </a:prstGeom>
          <a:noFill/>
          <a:ln/>
        </p:spPr>
        <p:txBody>
          <a:bodyPr wrap="square" lIns="0" tIns="0" rIns="0" bIns="0" rtlCol="0" anchor="ctr"/>
          <a:lstStyle/>
          <a:p>
            <a:pPr indent="0" marL="0">
              <a:buNone/>
            </a:pPr>
            <a:r>
              <a:rPr lang="en-US" sz="1100" i="1" dirty="0">
                <a:solidFill>
                  <a:srgbClr val="0072CE"/>
                </a:solidFill>
                <a:latin typeface="Calibri" pitchFamily="34" charset="0"/>
                <a:ea typeface="Calibri" pitchFamily="34" charset="-122"/>
                <a:cs typeface="Calibri" pitchFamily="34" charset="-120"/>
              </a:rPr>
              <a:t>One QIPAT + one management course</a:t>
            </a:r>
            <a:endParaRPr lang="en-US" sz="1100" dirty="0"/>
          </a:p>
        </p:txBody>
      </p:sp>
      <p:sp>
        <p:nvSpPr>
          <p:cNvPr id="30" name="Text 26"/>
          <p:cNvSpPr txBox="1"/>
          <p:nvPr/>
        </p:nvSpPr>
        <p:spPr>
          <a:xfrm>
            <a:off x="6428232" y="3081528"/>
            <a:ext cx="5029200" cy="2139696"/>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Edward Jenner (NHS Leadership Academy) — free, online and self-paced. It meets the course requirement on its own</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A trust or deanery management or leadership course counts equally — you do not have to use the Leadership Academy</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A Chief Registrar post is accepted in lieu of the management course — 40–50% protected time, with five two-day RCP modules across the year</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There are no regional courses yet — the West Midlands is working with the University of Birmingham on a regional training programme</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Ideally do the leadership course toward the end of training, when consultant practice is closer</a:t>
            </a:r>
            <a:endParaRPr lang="en-US" sz="1100" dirty="0"/>
          </a:p>
        </p:txBody>
      </p:sp>
      <p:sp>
        <p:nvSpPr>
          <p:cNvPr id="31" name="Shape 27"/>
          <p:cNvSpPr/>
          <p:nvPr/>
        </p:nvSpPr>
        <p:spPr>
          <a:xfrm>
            <a:off x="6309360" y="5221224"/>
            <a:ext cx="5257800" cy="502920"/>
          </a:xfrm>
          <a:prstGeom prst="rect">
            <a:avLst/>
          </a:prstGeom>
          <a:solidFill>
            <a:srgbClr val="F0F4F5"/>
          </a:solidFill>
          <a:ln w="12700">
            <a:solidFill>
              <a:srgbClr val="F0F4F5"/>
            </a:solidFill>
            <a:prstDash val="solid"/>
          </a:ln>
        </p:spPr>
      </p:sp>
      <p:sp>
        <p:nvSpPr>
          <p:cNvPr id="32" name="Text 28"/>
          <p:cNvSpPr txBox="1"/>
          <p:nvPr/>
        </p:nvSpPr>
        <p:spPr>
          <a:xfrm>
            <a:off x="6464808" y="5221224"/>
            <a:ext cx="4965192" cy="502920"/>
          </a:xfrm>
          <a:prstGeom prst="rect">
            <a:avLst/>
          </a:prstGeom>
          <a:noFill/>
          <a:ln/>
        </p:spPr>
        <p:txBody>
          <a:bodyPr wrap="square" lIns="0" tIns="0" rIns="0" bIns="0" rtlCol="0" anchor="ctr"/>
          <a:lstStyle/>
          <a:p>
            <a:pPr indent="0" marL="0">
              <a:buNone/>
            </a:pPr>
            <a:r>
              <a:rPr lang="en-US" sz="1000" b="1" dirty="0">
                <a:solidFill>
                  <a:srgbClr val="0072CE"/>
                </a:solidFill>
                <a:latin typeface="Calibri" pitchFamily="34" charset="0"/>
                <a:ea typeface="Calibri" pitchFamily="34" charset="-122"/>
                <a:cs typeface="Calibri" pitchFamily="34" charset="-120"/>
              </a:rPr>
              <a:t>Funding: </a:t>
            </a:r>
            <a:pPr indent="0" marL="0">
              <a:buNone/>
            </a:pPr>
            <a:r>
              <a:rPr lang="en-US" sz="1000" dirty="0">
                <a:solidFill>
                  <a:srgbClr val="212B32"/>
                </a:solidFill>
                <a:latin typeface="Calibri" pitchFamily="34" charset="0"/>
                <a:ea typeface="Calibri" pitchFamily="34" charset="-122"/>
                <a:cs typeface="Calibri" pitchFamily="34" charset="-120"/>
              </a:rPr>
              <a:t>Edward Jenner is free and meets the requirement in full. Anything beyond it is for your own development, and will not be funded.</a:t>
            </a:r>
            <a:endParaRPr lang="en-US" sz="1000" dirty="0"/>
          </a:p>
        </p:txBody>
      </p:sp>
      <p:sp>
        <p:nvSpPr>
          <p:cNvPr id="33" name="Shape 29"/>
          <p:cNvSpPr/>
          <p:nvPr/>
        </p:nvSpPr>
        <p:spPr>
          <a:xfrm>
            <a:off x="457200" y="6071616"/>
            <a:ext cx="11247120" cy="438912"/>
          </a:xfrm>
          <a:prstGeom prst="rect">
            <a:avLst/>
          </a:prstGeom>
          <a:solidFill>
            <a:srgbClr val="F0F4F5"/>
          </a:solidFill>
          <a:ln w="12700">
            <a:solidFill>
              <a:srgbClr val="F0F4F5"/>
            </a:solidFill>
            <a:prstDash val="solid"/>
          </a:ln>
        </p:spPr>
      </p:sp>
      <p:sp>
        <p:nvSpPr>
          <p:cNvPr id="34" name="Shape 30"/>
          <p:cNvSpPr/>
          <p:nvPr/>
        </p:nvSpPr>
        <p:spPr>
          <a:xfrm>
            <a:off x="457200" y="6071616"/>
            <a:ext cx="73152" cy="438912"/>
          </a:xfrm>
          <a:prstGeom prst="rect">
            <a:avLst/>
          </a:prstGeom>
          <a:solidFill>
            <a:srgbClr val="FFB81C"/>
          </a:solidFill>
          <a:ln w="12700">
            <a:solidFill>
              <a:srgbClr val="FFB81C"/>
            </a:solidFill>
            <a:prstDash val="solid"/>
          </a:ln>
        </p:spPr>
      </p:sp>
      <p:sp>
        <p:nvSpPr>
          <p:cNvPr id="35" name="Text 31"/>
          <p:cNvSpPr txBox="1"/>
          <p:nvPr/>
        </p:nvSpPr>
        <p:spPr>
          <a:xfrm>
            <a:off x="658368" y="6071616"/>
            <a:ext cx="10881360" cy="438912"/>
          </a:xfrm>
          <a:prstGeom prst="rect">
            <a:avLst/>
          </a:prstGeom>
          <a:noFill/>
          <a:ln/>
        </p:spPr>
        <p:txBody>
          <a:bodyPr wrap="square" lIns="0" tIns="0" rIns="0" bIns="0" rtlCol="0" anchor="ctr"/>
          <a:lstStyle/>
          <a:p>
            <a:pPr indent="0" marL="0">
              <a:buNone/>
            </a:pPr>
            <a:r>
              <a:rPr lang="en-US" sz="1000" i="1" dirty="0">
                <a:solidFill>
                  <a:srgbClr val="212B32"/>
                </a:solidFill>
                <a:latin typeface="Calibri" pitchFamily="34" charset="0"/>
                <a:ea typeface="Calibri" pitchFamily="34" charset="-122"/>
                <a:cs typeface="Calibri" pitchFamily="34" charset="-120"/>
              </a:rPr>
              <a:t>Study leave is 75 hours across IMS2, CPD-accredited or deanery organised. Agree any course with your ES first, and confirm what is funded before you book.</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10584180" y="379476"/>
            <a:ext cx="82296" cy="82296"/>
          </a:xfrm>
          <a:prstGeom prst="ellipse">
            <a:avLst/>
          </a:prstGeom>
          <a:solidFill>
            <a:srgbClr val="D8DDE0"/>
          </a:solidFill>
          <a:ln w="12700">
            <a:solidFill>
              <a:srgbClr val="D8DDE0"/>
            </a:solidFill>
            <a:prstDash val="solid"/>
          </a:ln>
        </p:spPr>
      </p:sp>
      <p:sp>
        <p:nvSpPr>
          <p:cNvPr id="3" name="Shape 1"/>
          <p:cNvSpPr/>
          <p:nvPr/>
        </p:nvSpPr>
        <p:spPr>
          <a:xfrm>
            <a:off x="10794492" y="379476"/>
            <a:ext cx="82296" cy="82296"/>
          </a:xfrm>
          <a:prstGeom prst="ellipse">
            <a:avLst/>
          </a:prstGeom>
          <a:solidFill>
            <a:srgbClr val="D8DDE0"/>
          </a:solidFill>
          <a:ln w="12700">
            <a:solidFill>
              <a:srgbClr val="D8DDE0"/>
            </a:solidFill>
            <a:prstDash val="solid"/>
          </a:ln>
        </p:spPr>
      </p:sp>
      <p:sp>
        <p:nvSpPr>
          <p:cNvPr id="4" name="Shape 2"/>
          <p:cNvSpPr/>
          <p:nvPr/>
        </p:nvSpPr>
        <p:spPr>
          <a:xfrm>
            <a:off x="11004804" y="379476"/>
            <a:ext cx="82296" cy="82296"/>
          </a:xfrm>
          <a:prstGeom prst="ellipse">
            <a:avLst/>
          </a:prstGeom>
          <a:solidFill>
            <a:srgbClr val="D8DDE0"/>
          </a:solidFill>
          <a:ln w="12700">
            <a:solidFill>
              <a:srgbClr val="D8DDE0"/>
            </a:solidFill>
            <a:prstDash val="solid"/>
          </a:ln>
        </p:spPr>
      </p:sp>
      <p:sp>
        <p:nvSpPr>
          <p:cNvPr id="5" name="Shape 3"/>
          <p:cNvSpPr/>
          <p:nvPr/>
        </p:nvSpPr>
        <p:spPr>
          <a:xfrm>
            <a:off x="11215116" y="379476"/>
            <a:ext cx="82296" cy="82296"/>
          </a:xfrm>
          <a:prstGeom prst="ellipse">
            <a:avLst/>
          </a:prstGeom>
          <a:solidFill>
            <a:srgbClr val="D8DDE0"/>
          </a:solidFill>
          <a:ln w="12700">
            <a:solidFill>
              <a:srgbClr val="D8DDE0"/>
            </a:solidFill>
            <a:prstDash val="solid"/>
          </a:ln>
        </p:spPr>
      </p:sp>
      <p:sp>
        <p:nvSpPr>
          <p:cNvPr id="6" name="Shape 4"/>
          <p:cNvSpPr/>
          <p:nvPr/>
        </p:nvSpPr>
        <p:spPr>
          <a:xfrm>
            <a:off x="11407140" y="361188"/>
            <a:ext cx="118872" cy="118872"/>
          </a:xfrm>
          <a:prstGeom prst="ellipse">
            <a:avLst/>
          </a:prstGeom>
          <a:solidFill>
            <a:srgbClr val="FFB81C"/>
          </a:solidFill>
          <a:ln w="12700">
            <a:solidFill>
              <a:srgbClr val="FFB81C"/>
            </a:solidFill>
            <a:prstDash val="solid"/>
          </a:ln>
        </p:spPr>
      </p:sp>
      <p:sp>
        <p:nvSpPr>
          <p:cNvPr id="7" name="Shape 5"/>
          <p:cNvSpPr/>
          <p:nvPr/>
        </p:nvSpPr>
        <p:spPr>
          <a:xfrm>
            <a:off x="11635740" y="379476"/>
            <a:ext cx="82296" cy="82296"/>
          </a:xfrm>
          <a:prstGeom prst="ellipse">
            <a:avLst/>
          </a:prstGeom>
          <a:solidFill>
            <a:srgbClr val="D8DDE0"/>
          </a:solidFill>
          <a:ln w="12700">
            <a:solidFill>
              <a:srgbClr val="D8DDE0"/>
            </a:solidFill>
            <a:prstDash val="solid"/>
          </a:ln>
        </p:spPr>
      </p:sp>
      <p:sp>
        <p:nvSpPr>
          <p:cNvPr id="8" name="Text 6"/>
          <p:cNvSpPr txBox="1"/>
          <p:nvPr/>
        </p:nvSpPr>
        <p:spPr>
          <a:xfrm>
            <a:off x="457200" y="274320"/>
            <a:ext cx="9875520" cy="256032"/>
          </a:xfrm>
          <a:prstGeom prst="rect">
            <a:avLst/>
          </a:prstGeom>
          <a:noFill/>
          <a:ln/>
        </p:spPr>
        <p:txBody>
          <a:bodyPr wrap="square" lIns="0" tIns="0" rIns="0" bIns="0" rtlCol="0" anchor="ctr"/>
          <a:lstStyle/>
          <a:p>
            <a:pPr indent="0" marL="0">
              <a:buNone/>
            </a:pPr>
            <a:r>
              <a:rPr lang="en-US" sz="1100" b="1" spc="240" kern="0" dirty="0">
                <a:solidFill>
                  <a:srgbClr val="8A5E00"/>
                </a:solidFill>
                <a:latin typeface="Calibri" pitchFamily="34" charset="0"/>
                <a:ea typeface="Calibri" pitchFamily="34" charset="-122"/>
                <a:cs typeface="Calibri" pitchFamily="34" charset="-120"/>
              </a:rPr>
              <a:t>PART 05 · EDUCATIONAL SUPERVISION</a:t>
            </a:r>
            <a:endParaRPr lang="en-US" sz="1100" dirty="0"/>
          </a:p>
        </p:txBody>
      </p:sp>
      <p:sp>
        <p:nvSpPr>
          <p:cNvPr id="9" name="Text 7"/>
          <p:cNvSpPr txBox="1"/>
          <p:nvPr/>
        </p:nvSpPr>
        <p:spPr>
          <a:xfrm>
            <a:off x="457200" y="512064"/>
            <a:ext cx="11247120" cy="658368"/>
          </a:xfrm>
          <a:prstGeom prst="rect">
            <a:avLst/>
          </a:prstGeom>
          <a:noFill/>
          <a:ln/>
        </p:spPr>
        <p:txBody>
          <a:bodyPr wrap="square" lIns="0" tIns="0" rIns="0" bIns="0" rtlCol="0" anchor="ctr"/>
          <a:lstStyle/>
          <a:p>
            <a:pPr indent="0" marL="0">
              <a:buNone/>
            </a:pPr>
            <a:r>
              <a:rPr lang="en-US" sz="3000" b="1" dirty="0">
                <a:solidFill>
                  <a:srgbClr val="003087"/>
                </a:solidFill>
                <a:latin typeface="Calibri" pitchFamily="34" charset="0"/>
                <a:ea typeface="Calibri" pitchFamily="34" charset="-122"/>
                <a:cs typeface="Calibri" pitchFamily="34" charset="-120"/>
              </a:rPr>
              <a:t>The ES meeting is where the outcome is decided</a:t>
            </a:r>
            <a:endParaRPr lang="en-US" sz="3000" dirty="0"/>
          </a:p>
        </p:txBody>
      </p:sp>
      <p:sp>
        <p:nvSpPr>
          <p:cNvPr id="10" name="Text 8"/>
          <p:cNvSpPr txBox="1"/>
          <p:nvPr/>
        </p:nvSpPr>
        <p:spPr>
          <a:xfrm>
            <a:off x="457200" y="1170432"/>
            <a:ext cx="11247120" cy="411480"/>
          </a:xfrm>
          <a:prstGeom prst="rect">
            <a:avLst/>
          </a:prstGeom>
          <a:noFill/>
          <a:ln/>
        </p:spPr>
        <p:txBody>
          <a:bodyPr wrap="square" lIns="0" tIns="0" rIns="0" bIns="0" rtlCol="0" anchor="t"/>
          <a:lstStyle/>
          <a:p>
            <a:pPr indent="0" marL="0">
              <a:buNone/>
            </a:pPr>
            <a:r>
              <a:rPr lang="en-US" sz="1200" i="1" dirty="0">
                <a:solidFill>
                  <a:srgbClr val="768692"/>
                </a:solidFill>
                <a:latin typeface="Calibri" pitchFamily="34" charset="0"/>
                <a:ea typeface="Calibri" pitchFamily="34" charset="-122"/>
                <a:cs typeface="Calibri" pitchFamily="34" charset="-120"/>
              </a:rPr>
              <a:t>By the time the panel sits, the judgement has already been made. The ES report is the summary of assessment evidence the panel reads.</a:t>
            </a:r>
            <a:endParaRPr lang="en-US" sz="1200" dirty="0"/>
          </a:p>
        </p:txBody>
      </p:sp>
      <p:sp>
        <p:nvSpPr>
          <p:cNvPr id="11" name="Text 9"/>
          <p:cNvSpPr txBox="1"/>
          <p:nvPr/>
        </p:nvSpPr>
        <p:spPr>
          <a:xfrm>
            <a:off x="457200" y="6547104"/>
            <a:ext cx="7315200" cy="274320"/>
          </a:xfrm>
          <a:prstGeom prst="rect">
            <a:avLst/>
          </a:prstGeom>
          <a:noFill/>
          <a:ln/>
        </p:spPr>
        <p:txBody>
          <a:bodyPr wrap="square" lIns="0" tIns="0" rIns="0" bIns="0" rtlCol="0" anchor="ctr"/>
          <a:lstStyle/>
          <a:p>
            <a:pPr indent="0" marL="0">
              <a:buNone/>
            </a:pPr>
            <a:r>
              <a:rPr lang="en-US" sz="900" dirty="0">
                <a:solidFill>
                  <a:srgbClr val="768692"/>
                </a:solidFill>
                <a:latin typeface="Calibri" pitchFamily="34" charset="0"/>
                <a:ea typeface="Calibri" pitchFamily="34" charset="-122"/>
                <a:cs typeface="Calibri" pitchFamily="34" charset="-120"/>
              </a:rPr>
              <a:t>GIM ARCP · trainee guidance · </a:t>
            </a:r>
            <a:pPr indent="0" marL="0">
              <a:buNone/>
            </a:pPr>
            <a:r>
              <a:rPr lang="en-US" sz="900" b="1" dirty="0">
                <a:solidFill>
                  <a:srgbClr val="8A5E00"/>
                </a:solidFill>
                <a:latin typeface="Calibri" pitchFamily="34" charset="0"/>
                <a:ea typeface="Calibri" pitchFamily="34" charset="-122"/>
                <a:cs typeface="Calibri" pitchFamily="34" charset="-120"/>
              </a:rPr>
              <a:t>DRAFT</a:t>
            </a:r>
            <a:endParaRPr lang="en-US" sz="900" dirty="0"/>
          </a:p>
        </p:txBody>
      </p:sp>
      <p:sp>
        <p:nvSpPr>
          <p:cNvPr id="12" name="Text 10"/>
          <p:cNvSpPr txBox="1"/>
          <p:nvPr/>
        </p:nvSpPr>
        <p:spPr>
          <a:xfrm>
            <a:off x="11155680" y="6547104"/>
            <a:ext cx="548640" cy="274320"/>
          </a:xfrm>
          <a:prstGeom prst="rect">
            <a:avLst/>
          </a:prstGeom>
          <a:noFill/>
          <a:ln/>
        </p:spPr>
        <p:txBody>
          <a:bodyPr wrap="square" lIns="0" tIns="0" rIns="0" bIns="0" rtlCol="0" anchor="ctr"/>
          <a:lstStyle/>
          <a:p>
            <a:pPr algn="r" indent="0" marL="0">
              <a:buNone/>
            </a:pPr>
            <a:r>
              <a:rPr lang="en-US" sz="900" dirty="0">
                <a:solidFill>
                  <a:srgbClr val="768692"/>
                </a:solidFill>
                <a:latin typeface="Calibri" pitchFamily="34" charset="0"/>
                <a:ea typeface="Calibri" pitchFamily="34" charset="-122"/>
                <a:cs typeface="Calibri" pitchFamily="34" charset="-120"/>
              </a:rPr>
              <a:t>18</a:t>
            </a:r>
            <a:endParaRPr lang="en-US" sz="900" dirty="0"/>
          </a:p>
        </p:txBody>
      </p:sp>
      <p:sp>
        <p:nvSpPr>
          <p:cNvPr id="13" name="Shape 11"/>
          <p:cNvSpPr/>
          <p:nvPr/>
        </p:nvSpPr>
        <p:spPr>
          <a:xfrm>
            <a:off x="457200" y="1664208"/>
            <a:ext cx="5623560" cy="4334256"/>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14" name="Shape 12"/>
          <p:cNvSpPr/>
          <p:nvPr/>
        </p:nvSpPr>
        <p:spPr>
          <a:xfrm>
            <a:off x="457200" y="1664208"/>
            <a:ext cx="73152" cy="4334256"/>
          </a:xfrm>
          <a:prstGeom prst="rect">
            <a:avLst/>
          </a:prstGeom>
          <a:solidFill>
            <a:srgbClr val="003087"/>
          </a:solidFill>
          <a:ln w="12700">
            <a:solidFill>
              <a:srgbClr val="003087"/>
            </a:solidFill>
            <a:prstDash val="solid"/>
          </a:ln>
        </p:spPr>
      </p:sp>
      <p:sp>
        <p:nvSpPr>
          <p:cNvPr id="15" name="Shape 13"/>
          <p:cNvSpPr/>
          <p:nvPr/>
        </p:nvSpPr>
        <p:spPr>
          <a:xfrm>
            <a:off x="658368" y="1911096"/>
            <a:ext cx="594360" cy="594360"/>
          </a:xfrm>
          <a:prstGeom prst="ellipse">
            <a:avLst/>
          </a:prstGeom>
          <a:solidFill>
            <a:srgbClr val="003087"/>
          </a:solidFill>
          <a:ln w="12700">
            <a:solidFill>
              <a:srgbClr val="003087"/>
            </a:solidFill>
            <a:prstDash val="solid"/>
          </a:ln>
        </p:spPr>
      </p:sp>
      <p:pic>
        <p:nvPicPr>
          <p:cNvPr id="16" name="Image 0" descr="/tmp/claude-0/-home-claude/0392ef1a-ea77-535e-abf6-0e4ef3a33421/scratchpad/build/icons/w15.png">    </p:cNvPr>
          <p:cNvPicPr>
            <a:picLocks noChangeAspect="1"/>
          </p:cNvPicPr>
          <p:nvPr/>
        </p:nvPicPr>
        <p:blipFill>
          <a:blip r:embed="rId1"/>
          <a:stretch>
            <a:fillRect/>
          </a:stretch>
        </p:blipFill>
        <p:spPr>
          <a:xfrm>
            <a:off x="795528" y="2048256"/>
            <a:ext cx="320040" cy="320040"/>
          </a:xfrm>
          <a:prstGeom prst="rect">
            <a:avLst/>
          </a:prstGeom>
        </p:spPr>
      </p:pic>
      <p:sp>
        <p:nvSpPr>
          <p:cNvPr id="17" name="Text 14"/>
          <p:cNvSpPr txBox="1"/>
          <p:nvPr/>
        </p:nvSpPr>
        <p:spPr>
          <a:xfrm>
            <a:off x="1508760" y="1892808"/>
            <a:ext cx="4389120" cy="256032"/>
          </a:xfrm>
          <a:prstGeom prst="rect">
            <a:avLst/>
          </a:prstGeom>
          <a:noFill/>
          <a:ln/>
        </p:spPr>
        <p:txBody>
          <a:bodyPr wrap="square" lIns="0" tIns="0" rIns="0" bIns="0" rtlCol="0" anchor="ctr"/>
          <a:lstStyle/>
          <a:p>
            <a:pPr indent="0" marL="0">
              <a:buNone/>
            </a:pPr>
            <a:r>
              <a:rPr lang="en-US" sz="1100" b="1" spc="180" kern="0" dirty="0">
                <a:solidFill>
                  <a:srgbClr val="003087"/>
                </a:solidFill>
                <a:latin typeface="Calibri" pitchFamily="34" charset="0"/>
                <a:ea typeface="Calibri" pitchFamily="34" charset="-122"/>
                <a:cs typeface="Calibri" pitchFamily="34" charset="-120"/>
              </a:rPr>
              <a:t>THE MEETING</a:t>
            </a:r>
            <a:endParaRPr lang="en-US" sz="1100" dirty="0"/>
          </a:p>
        </p:txBody>
      </p:sp>
      <p:sp>
        <p:nvSpPr>
          <p:cNvPr id="18" name="Text 15"/>
          <p:cNvSpPr txBox="1"/>
          <p:nvPr/>
        </p:nvSpPr>
        <p:spPr>
          <a:xfrm>
            <a:off x="1508760" y="2167128"/>
            <a:ext cx="4389120" cy="411480"/>
          </a:xfrm>
          <a:prstGeom prst="rect">
            <a:avLst/>
          </a:prstGeom>
          <a:noFill/>
          <a:ln/>
        </p:spPr>
        <p:txBody>
          <a:bodyPr wrap="square" lIns="0" tIns="0" rIns="0" bIns="0" rtlCol="0" anchor="t"/>
          <a:lstStyle/>
          <a:p>
            <a:pPr indent="0" marL="0">
              <a:buNone/>
            </a:pPr>
            <a:r>
              <a:rPr lang="en-US" sz="1800" b="1" dirty="0">
                <a:solidFill>
                  <a:srgbClr val="003087"/>
                </a:solidFill>
                <a:latin typeface="Calibri" pitchFamily="34" charset="0"/>
                <a:ea typeface="Calibri" pitchFamily="34" charset="-122"/>
                <a:cs typeface="Calibri" pitchFamily="34" charset="-120"/>
              </a:rPr>
              <a:t>One protected hour, monthly</a:t>
            </a:r>
            <a:endParaRPr lang="en-US" sz="1800" dirty="0"/>
          </a:p>
        </p:txBody>
      </p:sp>
      <p:sp>
        <p:nvSpPr>
          <p:cNvPr id="19" name="Text 16"/>
          <p:cNvSpPr txBox="1"/>
          <p:nvPr/>
        </p:nvSpPr>
        <p:spPr>
          <a:xfrm>
            <a:off x="1508760" y="2596896"/>
            <a:ext cx="4389120" cy="274320"/>
          </a:xfrm>
          <a:prstGeom prst="rect">
            <a:avLst/>
          </a:prstGeom>
          <a:noFill/>
          <a:ln/>
        </p:spPr>
        <p:txBody>
          <a:bodyPr wrap="square" lIns="0" tIns="0" rIns="0" bIns="0" rtlCol="0" anchor="ctr"/>
          <a:lstStyle/>
          <a:p>
            <a:pPr indent="0" marL="0">
              <a:buNone/>
            </a:pPr>
            <a:r>
              <a:rPr lang="en-US" sz="1100" i="1" dirty="0">
                <a:solidFill>
                  <a:srgbClr val="003087"/>
                </a:solidFill>
                <a:latin typeface="Calibri" pitchFamily="34" charset="0"/>
                <a:ea typeface="Calibri" pitchFamily="34" charset="-122"/>
                <a:cs typeface="Calibri" pitchFamily="34" charset="-120"/>
              </a:rPr>
              <a:t>Gold Guide 4.20 – 4.33</a:t>
            </a:r>
            <a:endParaRPr lang="en-US" sz="1100" dirty="0"/>
          </a:p>
        </p:txBody>
      </p:sp>
      <p:sp>
        <p:nvSpPr>
          <p:cNvPr id="20" name="Text 17"/>
          <p:cNvSpPr txBox="1"/>
          <p:nvPr/>
        </p:nvSpPr>
        <p:spPr>
          <a:xfrm>
            <a:off x="713232" y="3081528"/>
            <a:ext cx="5120640" cy="2139696"/>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One meeting covers both specialties — GIM is not a separate hour</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Beginning, middle and end of each phase of training is the Gold Guide minimum; monthly is the local expectation</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Records are documented in the portfolio and shared between you both</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Identify needs early, agree SMART objectives, review progress, unlock opportunities</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Educational review is the principal mechanism for identifying concerns at the earliest opportunity (4.32)</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If concerns are serious, persist or increase, action must be taken — and must not be left to the ARCP (4.33)</a:t>
            </a:r>
            <a:endParaRPr lang="en-US" sz="1100" dirty="0"/>
          </a:p>
        </p:txBody>
      </p:sp>
      <p:sp>
        <p:nvSpPr>
          <p:cNvPr id="21" name="Shape 18"/>
          <p:cNvSpPr/>
          <p:nvPr/>
        </p:nvSpPr>
        <p:spPr>
          <a:xfrm>
            <a:off x="594360" y="5221224"/>
            <a:ext cx="5349240" cy="502920"/>
          </a:xfrm>
          <a:prstGeom prst="rect">
            <a:avLst/>
          </a:prstGeom>
          <a:solidFill>
            <a:srgbClr val="F0F4F5"/>
          </a:solidFill>
          <a:ln w="12700">
            <a:solidFill>
              <a:srgbClr val="F0F4F5"/>
            </a:solidFill>
            <a:prstDash val="solid"/>
          </a:ln>
        </p:spPr>
      </p:sp>
      <p:sp>
        <p:nvSpPr>
          <p:cNvPr id="22" name="Text 19"/>
          <p:cNvSpPr txBox="1"/>
          <p:nvPr/>
        </p:nvSpPr>
        <p:spPr>
          <a:xfrm>
            <a:off x="749808" y="5221224"/>
            <a:ext cx="5056632" cy="502920"/>
          </a:xfrm>
          <a:prstGeom prst="rect">
            <a:avLst/>
          </a:prstGeom>
          <a:noFill/>
          <a:ln/>
        </p:spPr>
        <p:txBody>
          <a:bodyPr wrap="square" lIns="0" tIns="0" rIns="0" bIns="0" rtlCol="0" anchor="ctr"/>
          <a:lstStyle/>
          <a:p>
            <a:pPr indent="0" marL="0">
              <a:buNone/>
            </a:pPr>
            <a:r>
              <a:rPr lang="en-US" sz="1000" b="1" dirty="0">
                <a:solidFill>
                  <a:srgbClr val="003087"/>
                </a:solidFill>
                <a:latin typeface="Calibri" pitchFamily="34" charset="0"/>
                <a:ea typeface="Calibri" pitchFamily="34" charset="-122"/>
                <a:cs typeface="Calibri" pitchFamily="34" charset="-120"/>
              </a:rPr>
              <a:t>JRCPTB guidance: </a:t>
            </a:r>
            <a:pPr indent="0" marL="0">
              <a:buNone/>
            </a:pPr>
            <a:r>
              <a:rPr lang="en-US" sz="1000" dirty="0">
                <a:solidFill>
                  <a:srgbClr val="212B32"/>
                </a:solidFill>
                <a:latin typeface="Calibri" pitchFamily="34" charset="0"/>
                <a:ea typeface="Calibri" pitchFamily="34" charset="-122"/>
                <a:cs typeface="Calibri" pitchFamily="34" charset="-120"/>
              </a:rPr>
              <a:t>at least two days a month of self-development time — check it is in your work schedule.</a:t>
            </a:r>
            <a:endParaRPr lang="en-US" sz="1000" dirty="0"/>
          </a:p>
        </p:txBody>
      </p:sp>
      <p:sp>
        <p:nvSpPr>
          <p:cNvPr id="23" name="Shape 20"/>
          <p:cNvSpPr/>
          <p:nvPr/>
        </p:nvSpPr>
        <p:spPr>
          <a:xfrm>
            <a:off x="6172200" y="1664208"/>
            <a:ext cx="5532120" cy="4334256"/>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24" name="Shape 21"/>
          <p:cNvSpPr/>
          <p:nvPr/>
        </p:nvSpPr>
        <p:spPr>
          <a:xfrm>
            <a:off x="6172200" y="1664208"/>
            <a:ext cx="73152" cy="4334256"/>
          </a:xfrm>
          <a:prstGeom prst="rect">
            <a:avLst/>
          </a:prstGeom>
          <a:solidFill>
            <a:srgbClr val="0072CE"/>
          </a:solidFill>
          <a:ln w="12700">
            <a:solidFill>
              <a:srgbClr val="0072CE"/>
            </a:solidFill>
            <a:prstDash val="solid"/>
          </a:ln>
        </p:spPr>
      </p:sp>
      <p:sp>
        <p:nvSpPr>
          <p:cNvPr id="25" name="Shape 22"/>
          <p:cNvSpPr/>
          <p:nvPr/>
        </p:nvSpPr>
        <p:spPr>
          <a:xfrm>
            <a:off x="6373368" y="1911096"/>
            <a:ext cx="594360" cy="594360"/>
          </a:xfrm>
          <a:prstGeom prst="ellipse">
            <a:avLst/>
          </a:prstGeom>
          <a:solidFill>
            <a:srgbClr val="0072CE"/>
          </a:solidFill>
          <a:ln w="12700">
            <a:solidFill>
              <a:srgbClr val="0072CE"/>
            </a:solidFill>
            <a:prstDash val="solid"/>
          </a:ln>
        </p:spPr>
      </p:sp>
      <p:pic>
        <p:nvPicPr>
          <p:cNvPr id="26" name="Image 1" descr="/tmp/claude-0/-home-claude/0392ef1a-ea77-535e-abf6-0e4ef3a33421/scratchpad/build/icons/w12.png">    </p:cNvPr>
          <p:cNvPicPr>
            <a:picLocks noChangeAspect="1"/>
          </p:cNvPicPr>
          <p:nvPr/>
        </p:nvPicPr>
        <p:blipFill>
          <a:blip r:embed="rId2"/>
          <a:stretch>
            <a:fillRect/>
          </a:stretch>
        </p:blipFill>
        <p:spPr>
          <a:xfrm>
            <a:off x="6510528" y="2048256"/>
            <a:ext cx="320040" cy="320040"/>
          </a:xfrm>
          <a:prstGeom prst="rect">
            <a:avLst/>
          </a:prstGeom>
        </p:spPr>
      </p:pic>
      <p:sp>
        <p:nvSpPr>
          <p:cNvPr id="27" name="Text 23"/>
          <p:cNvSpPr txBox="1"/>
          <p:nvPr/>
        </p:nvSpPr>
        <p:spPr>
          <a:xfrm>
            <a:off x="7223760" y="1892808"/>
            <a:ext cx="4297680" cy="256032"/>
          </a:xfrm>
          <a:prstGeom prst="rect">
            <a:avLst/>
          </a:prstGeom>
          <a:noFill/>
          <a:ln/>
        </p:spPr>
        <p:txBody>
          <a:bodyPr wrap="square" lIns="0" tIns="0" rIns="0" bIns="0" rtlCol="0" anchor="ctr"/>
          <a:lstStyle/>
          <a:p>
            <a:pPr indent="0" marL="0">
              <a:buNone/>
            </a:pPr>
            <a:r>
              <a:rPr lang="en-US" sz="1100" b="1" spc="180" kern="0" dirty="0">
                <a:solidFill>
                  <a:srgbClr val="0072CE"/>
                </a:solidFill>
                <a:latin typeface="Calibri" pitchFamily="34" charset="0"/>
                <a:ea typeface="Calibri" pitchFamily="34" charset="-122"/>
                <a:cs typeface="Calibri" pitchFamily="34" charset="-120"/>
              </a:rPr>
              <a:t>THE REPORT</a:t>
            </a:r>
            <a:endParaRPr lang="en-US" sz="1100" dirty="0"/>
          </a:p>
        </p:txBody>
      </p:sp>
      <p:sp>
        <p:nvSpPr>
          <p:cNvPr id="28" name="Text 24"/>
          <p:cNvSpPr txBox="1"/>
          <p:nvPr/>
        </p:nvSpPr>
        <p:spPr>
          <a:xfrm>
            <a:off x="7223760" y="2167128"/>
            <a:ext cx="4297680" cy="411480"/>
          </a:xfrm>
          <a:prstGeom prst="rect">
            <a:avLst/>
          </a:prstGeom>
          <a:noFill/>
          <a:ln/>
        </p:spPr>
        <p:txBody>
          <a:bodyPr wrap="square" lIns="0" tIns="0" rIns="0" bIns="0" rtlCol="0" anchor="t"/>
          <a:lstStyle/>
          <a:p>
            <a:pPr indent="0" marL="0">
              <a:buNone/>
            </a:pPr>
            <a:r>
              <a:rPr lang="en-US" sz="1800" b="1" dirty="0">
                <a:solidFill>
                  <a:srgbClr val="003087"/>
                </a:solidFill>
                <a:latin typeface="Calibri" pitchFamily="34" charset="0"/>
                <a:ea typeface="Calibri" pitchFamily="34" charset="-122"/>
                <a:cs typeface="Calibri" pitchFamily="34" charset="-120"/>
              </a:rPr>
              <a:t>What it must contain</a:t>
            </a:r>
            <a:endParaRPr lang="en-US" sz="1800" dirty="0"/>
          </a:p>
        </p:txBody>
      </p:sp>
      <p:sp>
        <p:nvSpPr>
          <p:cNvPr id="29" name="Text 25"/>
          <p:cNvSpPr txBox="1"/>
          <p:nvPr/>
        </p:nvSpPr>
        <p:spPr>
          <a:xfrm>
            <a:off x="7223760" y="2596896"/>
            <a:ext cx="4297680" cy="274320"/>
          </a:xfrm>
          <a:prstGeom prst="rect">
            <a:avLst/>
          </a:prstGeom>
          <a:noFill/>
          <a:ln/>
        </p:spPr>
        <p:txBody>
          <a:bodyPr wrap="square" lIns="0" tIns="0" rIns="0" bIns="0" rtlCol="0" anchor="ctr"/>
          <a:lstStyle/>
          <a:p>
            <a:pPr indent="0" marL="0">
              <a:buNone/>
            </a:pPr>
            <a:r>
              <a:rPr lang="en-US" sz="1100" i="1" dirty="0">
                <a:solidFill>
                  <a:srgbClr val="0072CE"/>
                </a:solidFill>
                <a:latin typeface="Calibri" pitchFamily="34" charset="0"/>
                <a:ea typeface="Calibri" pitchFamily="34" charset="-122"/>
                <a:cs typeface="Calibri" pitchFamily="34" charset="-120"/>
              </a:rPr>
              <a:t>Gold Guide 4.51 – 4.56</a:t>
            </a:r>
            <a:endParaRPr lang="en-US" sz="1100" dirty="0"/>
          </a:p>
        </p:txBody>
      </p:sp>
      <p:sp>
        <p:nvSpPr>
          <p:cNvPr id="30" name="Text 26"/>
          <p:cNvSpPr txBox="1"/>
          <p:nvPr/>
        </p:nvSpPr>
        <p:spPr>
          <a:xfrm>
            <a:off x="6428232" y="3081528"/>
            <a:ext cx="5029200" cy="2139696"/>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Reflect the educational agreement and the objectives agreed between you</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Be supported by evidence from the workplace-based assessments planned in it</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Take account of any modification, or remedial action taken, during the year</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Give a summary comment on overall progress, with the recommended outcome where possible</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Be discussed with you before submission — evidence-based, timely, open and honest</a:t>
            </a:r>
            <a:endParaRPr lang="en-US" sz="1100" dirty="0"/>
          </a:p>
          <a:p>
            <a:pPr marL="177800" indent="-177800">
              <a:lnSpc>
                <a:spcPct val="105000"/>
              </a:lnSpc>
              <a:spcAft>
                <a:spcPts val="600"/>
              </a:spcAft>
              <a:buSzPct val="100000"/>
              <a:buChar char="•"/>
            </a:pPr>
            <a:r>
              <a:rPr lang="en-US" sz="1100" dirty="0">
                <a:solidFill>
                  <a:srgbClr val="212B32"/>
                </a:solidFill>
                <a:latin typeface="Calibri" pitchFamily="34" charset="0"/>
                <a:ea typeface="Calibri" pitchFamily="34" charset="-122"/>
                <a:cs typeface="Calibri" pitchFamily="34" charset="-120"/>
              </a:rPr>
              <a:t>Concerns must be documented in your portfolio and referenced in the report</a:t>
            </a:r>
            <a:endParaRPr lang="en-US" sz="1100" dirty="0"/>
          </a:p>
        </p:txBody>
      </p:sp>
      <p:sp>
        <p:nvSpPr>
          <p:cNvPr id="31" name="Shape 27"/>
          <p:cNvSpPr/>
          <p:nvPr/>
        </p:nvSpPr>
        <p:spPr>
          <a:xfrm>
            <a:off x="6309360" y="5221224"/>
            <a:ext cx="5257800" cy="502920"/>
          </a:xfrm>
          <a:prstGeom prst="rect">
            <a:avLst/>
          </a:prstGeom>
          <a:solidFill>
            <a:srgbClr val="F0F4F5"/>
          </a:solidFill>
          <a:ln w="12700">
            <a:solidFill>
              <a:srgbClr val="F0F4F5"/>
            </a:solidFill>
            <a:prstDash val="solid"/>
          </a:ln>
        </p:spPr>
      </p:sp>
      <p:sp>
        <p:nvSpPr>
          <p:cNvPr id="32" name="Text 28"/>
          <p:cNvSpPr txBox="1"/>
          <p:nvPr/>
        </p:nvSpPr>
        <p:spPr>
          <a:xfrm>
            <a:off x="6464808" y="5221224"/>
            <a:ext cx="4965192" cy="502920"/>
          </a:xfrm>
          <a:prstGeom prst="rect">
            <a:avLst/>
          </a:prstGeom>
          <a:noFill/>
          <a:ln/>
        </p:spPr>
        <p:txBody>
          <a:bodyPr wrap="square" lIns="0" tIns="0" rIns="0" bIns="0" rtlCol="0" anchor="ctr"/>
          <a:lstStyle/>
          <a:p>
            <a:pPr indent="0" marL="0">
              <a:buNone/>
            </a:pPr>
            <a:r>
              <a:rPr lang="en-US" sz="1000" b="1" dirty="0">
                <a:solidFill>
                  <a:srgbClr val="0072CE"/>
                </a:solidFill>
                <a:latin typeface="Calibri" pitchFamily="34" charset="0"/>
                <a:ea typeface="Calibri" pitchFamily="34" charset="-122"/>
                <a:cs typeface="Calibri" pitchFamily="34" charset="-120"/>
              </a:rPr>
              <a:t>A report </a:t>
            </a:r>
            <a:pPr indent="0" marL="0">
              <a:buNone/>
            </a:pPr>
            <a:r>
              <a:rPr lang="en-US" sz="1000" dirty="0">
                <a:solidFill>
                  <a:srgbClr val="212B32"/>
                </a:solidFill>
                <a:latin typeface="Calibri" pitchFamily="34" charset="0"/>
                <a:ea typeface="Calibri" pitchFamily="34" charset="-122"/>
                <a:cs typeface="Calibri" pitchFamily="34" charset="-120"/>
              </a:rPr>
              <a:t>that names capabilities and points at evidence beats one that says "good year, no concerns".</a:t>
            </a:r>
            <a:endParaRPr lang="en-US" sz="1000" dirty="0"/>
          </a:p>
        </p:txBody>
      </p:sp>
      <p:sp>
        <p:nvSpPr>
          <p:cNvPr id="33" name="Shape 29"/>
          <p:cNvSpPr/>
          <p:nvPr/>
        </p:nvSpPr>
        <p:spPr>
          <a:xfrm>
            <a:off x="457200" y="6071616"/>
            <a:ext cx="11247120" cy="438912"/>
          </a:xfrm>
          <a:prstGeom prst="rect">
            <a:avLst/>
          </a:prstGeom>
          <a:solidFill>
            <a:srgbClr val="F0F4F5"/>
          </a:solidFill>
          <a:ln w="12700">
            <a:solidFill>
              <a:srgbClr val="F0F4F5"/>
            </a:solidFill>
            <a:prstDash val="solid"/>
          </a:ln>
        </p:spPr>
      </p:sp>
      <p:sp>
        <p:nvSpPr>
          <p:cNvPr id="34" name="Shape 30"/>
          <p:cNvSpPr/>
          <p:nvPr/>
        </p:nvSpPr>
        <p:spPr>
          <a:xfrm>
            <a:off x="457200" y="6071616"/>
            <a:ext cx="73152" cy="438912"/>
          </a:xfrm>
          <a:prstGeom prst="rect">
            <a:avLst/>
          </a:prstGeom>
          <a:solidFill>
            <a:srgbClr val="0072CE"/>
          </a:solidFill>
          <a:ln w="12700">
            <a:solidFill>
              <a:srgbClr val="0072CE"/>
            </a:solidFill>
            <a:prstDash val="solid"/>
          </a:ln>
        </p:spPr>
      </p:sp>
      <p:sp>
        <p:nvSpPr>
          <p:cNvPr id="35" name="Text 31"/>
          <p:cNvSpPr txBox="1"/>
          <p:nvPr/>
        </p:nvSpPr>
        <p:spPr>
          <a:xfrm>
            <a:off x="658368" y="6071616"/>
            <a:ext cx="10881360" cy="438912"/>
          </a:xfrm>
          <a:prstGeom prst="rect">
            <a:avLst/>
          </a:prstGeom>
          <a:noFill/>
          <a:ln/>
        </p:spPr>
        <p:txBody>
          <a:bodyPr wrap="square" lIns="0" tIns="0" rIns="0" bIns="0" rtlCol="0" anchor="ctr"/>
          <a:lstStyle/>
          <a:p>
            <a:pPr indent="0" marL="0">
              <a:buNone/>
            </a:pPr>
            <a:r>
              <a:rPr lang="en-US" sz="1000" i="1" dirty="0">
                <a:solidFill>
                  <a:srgbClr val="212B32"/>
                </a:solidFill>
                <a:latin typeface="Calibri" pitchFamily="34" charset="0"/>
                <a:ea typeface="Calibri" pitchFamily="34" charset="-122"/>
                <a:cs typeface="Calibri" pitchFamily="34" charset="-120"/>
              </a:rPr>
              <a:t>One meeting, but separate reports: one GIM ES report per training year, covering the period since your last ARCP. If you change site, the new ES picks up the existing partially completed report.</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10584180" y="379476"/>
            <a:ext cx="82296" cy="82296"/>
          </a:xfrm>
          <a:prstGeom prst="ellipse">
            <a:avLst/>
          </a:prstGeom>
          <a:solidFill>
            <a:srgbClr val="D8DDE0"/>
          </a:solidFill>
          <a:ln w="12700">
            <a:solidFill>
              <a:srgbClr val="D8DDE0"/>
            </a:solidFill>
            <a:prstDash val="solid"/>
          </a:ln>
        </p:spPr>
      </p:sp>
      <p:sp>
        <p:nvSpPr>
          <p:cNvPr id="3" name="Shape 1"/>
          <p:cNvSpPr/>
          <p:nvPr/>
        </p:nvSpPr>
        <p:spPr>
          <a:xfrm>
            <a:off x="10794492" y="379476"/>
            <a:ext cx="82296" cy="82296"/>
          </a:xfrm>
          <a:prstGeom prst="ellipse">
            <a:avLst/>
          </a:prstGeom>
          <a:solidFill>
            <a:srgbClr val="D8DDE0"/>
          </a:solidFill>
          <a:ln w="12700">
            <a:solidFill>
              <a:srgbClr val="D8DDE0"/>
            </a:solidFill>
            <a:prstDash val="solid"/>
          </a:ln>
        </p:spPr>
      </p:sp>
      <p:sp>
        <p:nvSpPr>
          <p:cNvPr id="4" name="Shape 2"/>
          <p:cNvSpPr/>
          <p:nvPr/>
        </p:nvSpPr>
        <p:spPr>
          <a:xfrm>
            <a:off x="11004804" y="379476"/>
            <a:ext cx="82296" cy="82296"/>
          </a:xfrm>
          <a:prstGeom prst="ellipse">
            <a:avLst/>
          </a:prstGeom>
          <a:solidFill>
            <a:srgbClr val="D8DDE0"/>
          </a:solidFill>
          <a:ln w="12700">
            <a:solidFill>
              <a:srgbClr val="D8DDE0"/>
            </a:solidFill>
            <a:prstDash val="solid"/>
          </a:ln>
        </p:spPr>
      </p:sp>
      <p:sp>
        <p:nvSpPr>
          <p:cNvPr id="5" name="Shape 3"/>
          <p:cNvSpPr/>
          <p:nvPr/>
        </p:nvSpPr>
        <p:spPr>
          <a:xfrm>
            <a:off x="11215116" y="379476"/>
            <a:ext cx="82296" cy="82296"/>
          </a:xfrm>
          <a:prstGeom prst="ellipse">
            <a:avLst/>
          </a:prstGeom>
          <a:solidFill>
            <a:srgbClr val="D8DDE0"/>
          </a:solidFill>
          <a:ln w="12700">
            <a:solidFill>
              <a:srgbClr val="D8DDE0"/>
            </a:solidFill>
            <a:prstDash val="solid"/>
          </a:ln>
        </p:spPr>
      </p:sp>
      <p:sp>
        <p:nvSpPr>
          <p:cNvPr id="6" name="Shape 4"/>
          <p:cNvSpPr/>
          <p:nvPr/>
        </p:nvSpPr>
        <p:spPr>
          <a:xfrm>
            <a:off x="11407140" y="361188"/>
            <a:ext cx="118872" cy="118872"/>
          </a:xfrm>
          <a:prstGeom prst="ellipse">
            <a:avLst/>
          </a:prstGeom>
          <a:solidFill>
            <a:srgbClr val="FFB81C"/>
          </a:solidFill>
          <a:ln w="12700">
            <a:solidFill>
              <a:srgbClr val="FFB81C"/>
            </a:solidFill>
            <a:prstDash val="solid"/>
          </a:ln>
        </p:spPr>
      </p:sp>
      <p:sp>
        <p:nvSpPr>
          <p:cNvPr id="7" name="Shape 5"/>
          <p:cNvSpPr/>
          <p:nvPr/>
        </p:nvSpPr>
        <p:spPr>
          <a:xfrm>
            <a:off x="11635740" y="379476"/>
            <a:ext cx="82296" cy="82296"/>
          </a:xfrm>
          <a:prstGeom prst="ellipse">
            <a:avLst/>
          </a:prstGeom>
          <a:solidFill>
            <a:srgbClr val="D8DDE0"/>
          </a:solidFill>
          <a:ln w="12700">
            <a:solidFill>
              <a:srgbClr val="D8DDE0"/>
            </a:solidFill>
            <a:prstDash val="solid"/>
          </a:ln>
        </p:spPr>
      </p:sp>
      <p:sp>
        <p:nvSpPr>
          <p:cNvPr id="8" name="Text 6"/>
          <p:cNvSpPr txBox="1"/>
          <p:nvPr/>
        </p:nvSpPr>
        <p:spPr>
          <a:xfrm>
            <a:off x="457200" y="274320"/>
            <a:ext cx="9875520" cy="256032"/>
          </a:xfrm>
          <a:prstGeom prst="rect">
            <a:avLst/>
          </a:prstGeom>
          <a:noFill/>
          <a:ln/>
        </p:spPr>
        <p:txBody>
          <a:bodyPr wrap="square" lIns="0" tIns="0" rIns="0" bIns="0" rtlCol="0" anchor="ctr"/>
          <a:lstStyle/>
          <a:p>
            <a:pPr indent="0" marL="0">
              <a:buNone/>
            </a:pPr>
            <a:r>
              <a:rPr lang="en-US" sz="1100" b="1" spc="240" kern="0" dirty="0">
                <a:solidFill>
                  <a:srgbClr val="8A5E00"/>
                </a:solidFill>
                <a:latin typeface="Calibri" pitchFamily="34" charset="0"/>
                <a:ea typeface="Calibri" pitchFamily="34" charset="-122"/>
                <a:cs typeface="Calibri" pitchFamily="34" charset="-120"/>
              </a:rPr>
              <a:t>PART 05 · BEFORE THE PANEL</a:t>
            </a:r>
            <a:endParaRPr lang="en-US" sz="1100" dirty="0"/>
          </a:p>
        </p:txBody>
      </p:sp>
      <p:sp>
        <p:nvSpPr>
          <p:cNvPr id="9" name="Text 7"/>
          <p:cNvSpPr txBox="1"/>
          <p:nvPr/>
        </p:nvSpPr>
        <p:spPr>
          <a:xfrm>
            <a:off x="457200" y="512064"/>
            <a:ext cx="11247120" cy="658368"/>
          </a:xfrm>
          <a:prstGeom prst="rect">
            <a:avLst/>
          </a:prstGeom>
          <a:noFill/>
          <a:ln/>
        </p:spPr>
        <p:txBody>
          <a:bodyPr wrap="square" lIns="0" tIns="0" rIns="0" bIns="0" rtlCol="0" anchor="ctr"/>
          <a:lstStyle/>
          <a:p>
            <a:pPr indent="0" marL="0">
              <a:buNone/>
            </a:pPr>
            <a:r>
              <a:rPr lang="en-US" sz="3000" b="1" dirty="0">
                <a:solidFill>
                  <a:srgbClr val="003087"/>
                </a:solidFill>
                <a:latin typeface="Calibri" pitchFamily="34" charset="0"/>
                <a:ea typeface="Calibri" pitchFamily="34" charset="-122"/>
                <a:cs typeface="Calibri" pitchFamily="34" charset="-120"/>
              </a:rPr>
              <a:t>Your pre-ARCP checklist</a:t>
            </a:r>
            <a:endParaRPr lang="en-US" sz="3000" dirty="0"/>
          </a:p>
        </p:txBody>
      </p:sp>
      <p:sp>
        <p:nvSpPr>
          <p:cNvPr id="10" name="Text 8"/>
          <p:cNvSpPr txBox="1"/>
          <p:nvPr/>
        </p:nvSpPr>
        <p:spPr>
          <a:xfrm>
            <a:off x="457200" y="1170432"/>
            <a:ext cx="11247120" cy="411480"/>
          </a:xfrm>
          <a:prstGeom prst="rect">
            <a:avLst/>
          </a:prstGeom>
          <a:noFill/>
          <a:ln/>
        </p:spPr>
        <p:txBody>
          <a:bodyPr wrap="square" lIns="0" tIns="0" rIns="0" bIns="0" rtlCol="0" anchor="t"/>
          <a:lstStyle/>
          <a:p>
            <a:pPr indent="0" marL="0">
              <a:buNone/>
            </a:pPr>
            <a:r>
              <a:rPr lang="en-US" sz="1200" i="1" dirty="0">
                <a:solidFill>
                  <a:srgbClr val="768692"/>
                </a:solidFill>
                <a:latin typeface="Calibri" pitchFamily="34" charset="0"/>
                <a:ea typeface="Calibri" pitchFamily="34" charset="-122"/>
                <a:cs typeface="Calibri" pitchFamily="34" charset="-120"/>
              </a:rPr>
              <a:t>Work through this at the final ES meeting, not the night before the deadline.</a:t>
            </a:r>
            <a:endParaRPr lang="en-US" sz="1200" dirty="0"/>
          </a:p>
        </p:txBody>
      </p:sp>
      <p:sp>
        <p:nvSpPr>
          <p:cNvPr id="11" name="Text 9"/>
          <p:cNvSpPr txBox="1"/>
          <p:nvPr/>
        </p:nvSpPr>
        <p:spPr>
          <a:xfrm>
            <a:off x="457200" y="6547104"/>
            <a:ext cx="7315200" cy="274320"/>
          </a:xfrm>
          <a:prstGeom prst="rect">
            <a:avLst/>
          </a:prstGeom>
          <a:noFill/>
          <a:ln/>
        </p:spPr>
        <p:txBody>
          <a:bodyPr wrap="square" lIns="0" tIns="0" rIns="0" bIns="0" rtlCol="0" anchor="ctr"/>
          <a:lstStyle/>
          <a:p>
            <a:pPr indent="0" marL="0">
              <a:buNone/>
            </a:pPr>
            <a:r>
              <a:rPr lang="en-US" sz="900" dirty="0">
                <a:solidFill>
                  <a:srgbClr val="768692"/>
                </a:solidFill>
                <a:latin typeface="Calibri" pitchFamily="34" charset="0"/>
                <a:ea typeface="Calibri" pitchFamily="34" charset="-122"/>
                <a:cs typeface="Calibri" pitchFamily="34" charset="-120"/>
              </a:rPr>
              <a:t>GIM ARCP · trainee guidance · </a:t>
            </a:r>
            <a:pPr indent="0" marL="0">
              <a:buNone/>
            </a:pPr>
            <a:r>
              <a:rPr lang="en-US" sz="900" b="1" dirty="0">
                <a:solidFill>
                  <a:srgbClr val="8A5E00"/>
                </a:solidFill>
                <a:latin typeface="Calibri" pitchFamily="34" charset="0"/>
                <a:ea typeface="Calibri" pitchFamily="34" charset="-122"/>
                <a:cs typeface="Calibri" pitchFamily="34" charset="-120"/>
              </a:rPr>
              <a:t>DRAFT</a:t>
            </a:r>
            <a:endParaRPr lang="en-US" sz="900" dirty="0"/>
          </a:p>
        </p:txBody>
      </p:sp>
      <p:sp>
        <p:nvSpPr>
          <p:cNvPr id="12" name="Text 10"/>
          <p:cNvSpPr txBox="1"/>
          <p:nvPr/>
        </p:nvSpPr>
        <p:spPr>
          <a:xfrm>
            <a:off x="11155680" y="6547104"/>
            <a:ext cx="548640" cy="274320"/>
          </a:xfrm>
          <a:prstGeom prst="rect">
            <a:avLst/>
          </a:prstGeom>
          <a:noFill/>
          <a:ln/>
        </p:spPr>
        <p:txBody>
          <a:bodyPr wrap="square" lIns="0" tIns="0" rIns="0" bIns="0" rtlCol="0" anchor="ctr"/>
          <a:lstStyle/>
          <a:p>
            <a:pPr algn="r" indent="0" marL="0">
              <a:buNone/>
            </a:pPr>
            <a:r>
              <a:rPr lang="en-US" sz="900" dirty="0">
                <a:solidFill>
                  <a:srgbClr val="768692"/>
                </a:solidFill>
                <a:latin typeface="Calibri" pitchFamily="34" charset="0"/>
                <a:ea typeface="Calibri" pitchFamily="34" charset="-122"/>
                <a:cs typeface="Calibri" pitchFamily="34" charset="-120"/>
              </a:rPr>
              <a:t>19</a:t>
            </a:r>
            <a:endParaRPr lang="en-US" sz="900" dirty="0"/>
          </a:p>
        </p:txBody>
      </p:sp>
      <p:sp>
        <p:nvSpPr>
          <p:cNvPr id="13" name="Shape 11"/>
          <p:cNvSpPr/>
          <p:nvPr/>
        </p:nvSpPr>
        <p:spPr>
          <a:xfrm>
            <a:off x="457200" y="1664208"/>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14" name="Shape 12"/>
          <p:cNvSpPr/>
          <p:nvPr/>
        </p:nvSpPr>
        <p:spPr>
          <a:xfrm>
            <a:off x="457200" y="1664208"/>
            <a:ext cx="73152" cy="2103120"/>
          </a:xfrm>
          <a:prstGeom prst="rect">
            <a:avLst/>
          </a:prstGeom>
          <a:solidFill>
            <a:srgbClr val="003087"/>
          </a:solidFill>
          <a:ln w="12700">
            <a:solidFill>
              <a:srgbClr val="003087"/>
            </a:solidFill>
            <a:prstDash val="solid"/>
          </a:ln>
        </p:spPr>
      </p:sp>
      <p:sp>
        <p:nvSpPr>
          <p:cNvPr id="15" name="Shape 13"/>
          <p:cNvSpPr/>
          <p:nvPr/>
        </p:nvSpPr>
        <p:spPr>
          <a:xfrm>
            <a:off x="621792" y="1874520"/>
            <a:ext cx="502920" cy="502920"/>
          </a:xfrm>
          <a:prstGeom prst="ellipse">
            <a:avLst/>
          </a:prstGeom>
          <a:solidFill>
            <a:srgbClr val="003087"/>
          </a:solidFill>
          <a:ln w="12700">
            <a:solidFill>
              <a:srgbClr val="003087"/>
            </a:solidFill>
            <a:prstDash val="solid"/>
          </a:ln>
        </p:spPr>
      </p:sp>
      <p:pic>
        <p:nvPicPr>
          <p:cNvPr id="16" name="Image 0" descr="/tmp/claude-0/-home-claude/0392ef1a-ea77-535e-abf6-0e4ef3a33421/scratchpad/build/icons/w12.png">    </p:cNvPr>
          <p:cNvPicPr>
            <a:picLocks noChangeAspect="1"/>
          </p:cNvPicPr>
          <p:nvPr/>
        </p:nvPicPr>
        <p:blipFill>
          <a:blip r:embed="rId1"/>
          <a:stretch>
            <a:fillRect/>
          </a:stretch>
        </p:blipFill>
        <p:spPr>
          <a:xfrm>
            <a:off x="740664" y="1993392"/>
            <a:ext cx="265176" cy="265176"/>
          </a:xfrm>
          <a:prstGeom prst="rect">
            <a:avLst/>
          </a:prstGeom>
        </p:spPr>
      </p:pic>
      <p:sp>
        <p:nvSpPr>
          <p:cNvPr id="17" name="Text 14"/>
          <p:cNvSpPr txBox="1"/>
          <p:nvPr/>
        </p:nvSpPr>
        <p:spPr>
          <a:xfrm>
            <a:off x="1280160" y="1865376"/>
            <a:ext cx="2697480" cy="219456"/>
          </a:xfrm>
          <a:prstGeom prst="rect">
            <a:avLst/>
          </a:prstGeom>
          <a:noFill/>
          <a:ln/>
        </p:spPr>
        <p:txBody>
          <a:bodyPr wrap="square" lIns="0" tIns="0" rIns="0" bIns="0" rtlCol="0" anchor="ctr"/>
          <a:lstStyle/>
          <a:p>
            <a:pPr indent="0" marL="0">
              <a:buNone/>
            </a:pPr>
            <a:r>
              <a:rPr lang="en-US" sz="1000" b="1" spc="160" kern="0" dirty="0">
                <a:solidFill>
                  <a:srgbClr val="003087"/>
                </a:solidFill>
                <a:latin typeface="Calibri" pitchFamily="34" charset="0"/>
                <a:ea typeface="Calibri" pitchFamily="34" charset="-122"/>
                <a:cs typeface="Calibri" pitchFamily="34" charset="-120"/>
              </a:rPr>
              <a:t>CHECK 01</a:t>
            </a:r>
            <a:endParaRPr lang="en-US" sz="1000" dirty="0"/>
          </a:p>
        </p:txBody>
      </p:sp>
      <p:sp>
        <p:nvSpPr>
          <p:cNvPr id="18" name="Text 15"/>
          <p:cNvSpPr txBox="1"/>
          <p:nvPr/>
        </p:nvSpPr>
        <p:spPr>
          <a:xfrm>
            <a:off x="1280160" y="2084832"/>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Curriculum coverage</a:t>
            </a:r>
            <a:endParaRPr lang="en-US" sz="1200" dirty="0"/>
          </a:p>
        </p:txBody>
      </p:sp>
      <p:sp>
        <p:nvSpPr>
          <p:cNvPr id="19" name="Text 16"/>
          <p:cNvSpPr txBox="1"/>
          <p:nvPr/>
        </p:nvSpPr>
        <p:spPr>
          <a:xfrm>
            <a:off x="640080" y="2596896"/>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Every IM curriculum item carries evidence and a comment from both you and your ES. Where an item is thin, say so and say what you plan to do about it.</a:t>
            </a:r>
            <a:endParaRPr lang="en-US" sz="1000" dirty="0"/>
          </a:p>
        </p:txBody>
      </p:sp>
      <p:sp>
        <p:nvSpPr>
          <p:cNvPr id="20" name="Shape 17"/>
          <p:cNvSpPr/>
          <p:nvPr/>
        </p:nvSpPr>
        <p:spPr>
          <a:xfrm>
            <a:off x="4251960" y="1664208"/>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21" name="Shape 18"/>
          <p:cNvSpPr/>
          <p:nvPr/>
        </p:nvSpPr>
        <p:spPr>
          <a:xfrm>
            <a:off x="4251960" y="1664208"/>
            <a:ext cx="73152" cy="2103120"/>
          </a:xfrm>
          <a:prstGeom prst="rect">
            <a:avLst/>
          </a:prstGeom>
          <a:solidFill>
            <a:srgbClr val="0072CE"/>
          </a:solidFill>
          <a:ln w="12700">
            <a:solidFill>
              <a:srgbClr val="0072CE"/>
            </a:solidFill>
            <a:prstDash val="solid"/>
          </a:ln>
        </p:spPr>
      </p:sp>
      <p:sp>
        <p:nvSpPr>
          <p:cNvPr id="22" name="Shape 19"/>
          <p:cNvSpPr/>
          <p:nvPr/>
        </p:nvSpPr>
        <p:spPr>
          <a:xfrm>
            <a:off x="4416552" y="1874520"/>
            <a:ext cx="502920" cy="502920"/>
          </a:xfrm>
          <a:prstGeom prst="ellipse">
            <a:avLst/>
          </a:prstGeom>
          <a:solidFill>
            <a:srgbClr val="0072CE"/>
          </a:solidFill>
          <a:ln w="12700">
            <a:solidFill>
              <a:srgbClr val="0072CE"/>
            </a:solidFill>
            <a:prstDash val="solid"/>
          </a:ln>
        </p:spPr>
      </p:sp>
      <p:pic>
        <p:nvPicPr>
          <p:cNvPr id="23" name="Image 1" descr="/tmp/claude-0/-home-claude/0392ef1a-ea77-535e-abf6-0e4ef3a33421/scratchpad/build/icons/w5.png">    </p:cNvPr>
          <p:cNvPicPr>
            <a:picLocks noChangeAspect="1"/>
          </p:cNvPicPr>
          <p:nvPr/>
        </p:nvPicPr>
        <p:blipFill>
          <a:blip r:embed="rId2"/>
          <a:stretch>
            <a:fillRect/>
          </a:stretch>
        </p:blipFill>
        <p:spPr>
          <a:xfrm>
            <a:off x="4535424" y="1993392"/>
            <a:ext cx="265176" cy="265176"/>
          </a:xfrm>
          <a:prstGeom prst="rect">
            <a:avLst/>
          </a:prstGeom>
        </p:spPr>
      </p:pic>
      <p:sp>
        <p:nvSpPr>
          <p:cNvPr id="24" name="Text 20"/>
          <p:cNvSpPr txBox="1"/>
          <p:nvPr/>
        </p:nvSpPr>
        <p:spPr>
          <a:xfrm>
            <a:off x="5074920" y="1865376"/>
            <a:ext cx="2697480" cy="219456"/>
          </a:xfrm>
          <a:prstGeom prst="rect">
            <a:avLst/>
          </a:prstGeom>
          <a:noFill/>
          <a:ln/>
        </p:spPr>
        <p:txBody>
          <a:bodyPr wrap="square" lIns="0" tIns="0" rIns="0" bIns="0" rtlCol="0" anchor="ctr"/>
          <a:lstStyle/>
          <a:p>
            <a:pPr indent="0" marL="0">
              <a:buNone/>
            </a:pPr>
            <a:r>
              <a:rPr lang="en-US" sz="1000" b="1" spc="160" kern="0" dirty="0">
                <a:solidFill>
                  <a:srgbClr val="0072CE"/>
                </a:solidFill>
                <a:latin typeface="Calibri" pitchFamily="34" charset="0"/>
                <a:ea typeface="Calibri" pitchFamily="34" charset="-122"/>
                <a:cs typeface="Calibri" pitchFamily="34" charset="-120"/>
              </a:rPr>
              <a:t>CHECK 02</a:t>
            </a:r>
            <a:endParaRPr lang="en-US" sz="1000" dirty="0"/>
          </a:p>
        </p:txBody>
      </p:sp>
      <p:sp>
        <p:nvSpPr>
          <p:cNvPr id="25" name="Text 21"/>
          <p:cNvSpPr txBox="1"/>
          <p:nvPr/>
        </p:nvSpPr>
        <p:spPr>
          <a:xfrm>
            <a:off x="5074920" y="2084832"/>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Workplace-based assessments</a:t>
            </a:r>
            <a:endParaRPr lang="en-US" sz="1200" dirty="0"/>
          </a:p>
        </p:txBody>
      </p:sp>
      <p:sp>
        <p:nvSpPr>
          <p:cNvPr id="26" name="Text 22"/>
          <p:cNvSpPr txBox="1"/>
          <p:nvPr/>
        </p:nvSpPr>
        <p:spPr>
          <a:xfrm>
            <a:off x="4434840" y="2596896"/>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For the year: 2 MCRs, 1 MSF, 4 ACATs and 3 CbDs or mini-CEXs. Three MCRs if this is your final year of IMS2.</a:t>
            </a:r>
            <a:endParaRPr lang="en-US" sz="1000" dirty="0"/>
          </a:p>
        </p:txBody>
      </p:sp>
      <p:sp>
        <p:nvSpPr>
          <p:cNvPr id="27" name="Shape 23"/>
          <p:cNvSpPr/>
          <p:nvPr/>
        </p:nvSpPr>
        <p:spPr>
          <a:xfrm>
            <a:off x="8046720" y="1664208"/>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28" name="Shape 24"/>
          <p:cNvSpPr/>
          <p:nvPr/>
        </p:nvSpPr>
        <p:spPr>
          <a:xfrm>
            <a:off x="8046720" y="1664208"/>
            <a:ext cx="73152" cy="2103120"/>
          </a:xfrm>
          <a:prstGeom prst="rect">
            <a:avLst/>
          </a:prstGeom>
          <a:solidFill>
            <a:srgbClr val="41B6E6"/>
          </a:solidFill>
          <a:ln w="12700">
            <a:solidFill>
              <a:srgbClr val="41B6E6"/>
            </a:solidFill>
            <a:prstDash val="solid"/>
          </a:ln>
        </p:spPr>
      </p:sp>
      <p:sp>
        <p:nvSpPr>
          <p:cNvPr id="29" name="Shape 25"/>
          <p:cNvSpPr/>
          <p:nvPr/>
        </p:nvSpPr>
        <p:spPr>
          <a:xfrm>
            <a:off x="8211312" y="1874520"/>
            <a:ext cx="502920" cy="502920"/>
          </a:xfrm>
          <a:prstGeom prst="ellipse">
            <a:avLst/>
          </a:prstGeom>
          <a:solidFill>
            <a:srgbClr val="41B6E6"/>
          </a:solidFill>
          <a:ln w="12700">
            <a:solidFill>
              <a:srgbClr val="41B6E6"/>
            </a:solidFill>
            <a:prstDash val="solid"/>
          </a:ln>
        </p:spPr>
      </p:sp>
      <p:pic>
        <p:nvPicPr>
          <p:cNvPr id="30" name="Image 2" descr="/tmp/claude-0/-home-claude/0392ef1a-ea77-535e-abf6-0e4ef3a33421/scratchpad/build/icons/n11.png">    </p:cNvPr>
          <p:cNvPicPr>
            <a:picLocks noChangeAspect="1"/>
          </p:cNvPicPr>
          <p:nvPr/>
        </p:nvPicPr>
        <p:blipFill>
          <a:blip r:embed="rId3"/>
          <a:stretch>
            <a:fillRect/>
          </a:stretch>
        </p:blipFill>
        <p:spPr>
          <a:xfrm>
            <a:off x="8330184" y="1993392"/>
            <a:ext cx="265176" cy="265176"/>
          </a:xfrm>
          <a:prstGeom prst="rect">
            <a:avLst/>
          </a:prstGeom>
        </p:spPr>
      </p:pic>
      <p:sp>
        <p:nvSpPr>
          <p:cNvPr id="31" name="Text 26"/>
          <p:cNvSpPr txBox="1"/>
          <p:nvPr/>
        </p:nvSpPr>
        <p:spPr>
          <a:xfrm>
            <a:off x="8869680" y="1865376"/>
            <a:ext cx="2697480" cy="219456"/>
          </a:xfrm>
          <a:prstGeom prst="rect">
            <a:avLst/>
          </a:prstGeom>
          <a:noFill/>
          <a:ln/>
        </p:spPr>
        <p:txBody>
          <a:bodyPr wrap="square" lIns="0" tIns="0" rIns="0" bIns="0" rtlCol="0" anchor="ctr"/>
          <a:lstStyle/>
          <a:p>
            <a:pPr indent="0" marL="0">
              <a:buNone/>
            </a:pPr>
            <a:r>
              <a:rPr lang="en-US" sz="1000" b="1" spc="160" kern="0" dirty="0">
                <a:solidFill>
                  <a:srgbClr val="1B7FA6"/>
                </a:solidFill>
                <a:latin typeface="Calibri" pitchFamily="34" charset="0"/>
                <a:ea typeface="Calibri" pitchFamily="34" charset="-122"/>
                <a:cs typeface="Calibri" pitchFamily="34" charset="-120"/>
              </a:rPr>
              <a:t>CHECK 03</a:t>
            </a:r>
            <a:endParaRPr lang="en-US" sz="1000" dirty="0"/>
          </a:p>
        </p:txBody>
      </p:sp>
      <p:sp>
        <p:nvSpPr>
          <p:cNvPr id="32" name="Text 27"/>
          <p:cNvSpPr txBox="1"/>
          <p:nvPr/>
        </p:nvSpPr>
        <p:spPr>
          <a:xfrm>
            <a:off x="8869680" y="2084832"/>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Certificates</a:t>
            </a:r>
            <a:endParaRPr lang="en-US" sz="1200" dirty="0"/>
          </a:p>
        </p:txBody>
      </p:sp>
      <p:sp>
        <p:nvSpPr>
          <p:cNvPr id="33" name="Text 28"/>
          <p:cNvSpPr txBox="1"/>
          <p:nvPr/>
        </p:nvSpPr>
        <p:spPr>
          <a:xfrm>
            <a:off x="8229600" y="2596896"/>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ALS in date and in the certificates section, ideally signed off. ALS instructors: upload the letter plus evidence of courses taught in the prior year.</a:t>
            </a:r>
            <a:endParaRPr lang="en-US" sz="1000" dirty="0"/>
          </a:p>
        </p:txBody>
      </p:sp>
      <p:sp>
        <p:nvSpPr>
          <p:cNvPr id="34" name="Shape 29"/>
          <p:cNvSpPr/>
          <p:nvPr/>
        </p:nvSpPr>
        <p:spPr>
          <a:xfrm>
            <a:off x="457200" y="3895344"/>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35" name="Shape 30"/>
          <p:cNvSpPr/>
          <p:nvPr/>
        </p:nvSpPr>
        <p:spPr>
          <a:xfrm>
            <a:off x="457200" y="3895344"/>
            <a:ext cx="73152" cy="2103120"/>
          </a:xfrm>
          <a:prstGeom prst="rect">
            <a:avLst/>
          </a:prstGeom>
          <a:solidFill>
            <a:srgbClr val="009639"/>
          </a:solidFill>
          <a:ln w="12700">
            <a:solidFill>
              <a:srgbClr val="009639"/>
            </a:solidFill>
            <a:prstDash val="solid"/>
          </a:ln>
        </p:spPr>
      </p:sp>
      <p:sp>
        <p:nvSpPr>
          <p:cNvPr id="36" name="Shape 31"/>
          <p:cNvSpPr/>
          <p:nvPr/>
        </p:nvSpPr>
        <p:spPr>
          <a:xfrm>
            <a:off x="621792" y="4105656"/>
            <a:ext cx="502920" cy="502920"/>
          </a:xfrm>
          <a:prstGeom prst="ellipse">
            <a:avLst/>
          </a:prstGeom>
          <a:solidFill>
            <a:srgbClr val="009639"/>
          </a:solidFill>
          <a:ln w="12700">
            <a:solidFill>
              <a:srgbClr val="009639"/>
            </a:solidFill>
            <a:prstDash val="solid"/>
          </a:ln>
        </p:spPr>
      </p:sp>
      <p:pic>
        <p:nvPicPr>
          <p:cNvPr id="37" name="Image 3" descr="/tmp/claude-0/-home-claude/0392ef1a-ea77-535e-abf6-0e4ef3a33421/scratchpad/build/icons/w15.png">    </p:cNvPr>
          <p:cNvPicPr>
            <a:picLocks noChangeAspect="1"/>
          </p:cNvPicPr>
          <p:nvPr/>
        </p:nvPicPr>
        <p:blipFill>
          <a:blip r:embed="rId4"/>
          <a:stretch>
            <a:fillRect/>
          </a:stretch>
        </p:blipFill>
        <p:spPr>
          <a:xfrm>
            <a:off x="740664" y="4224528"/>
            <a:ext cx="265176" cy="265176"/>
          </a:xfrm>
          <a:prstGeom prst="rect">
            <a:avLst/>
          </a:prstGeom>
        </p:spPr>
      </p:pic>
      <p:sp>
        <p:nvSpPr>
          <p:cNvPr id="38" name="Text 32"/>
          <p:cNvSpPr txBox="1"/>
          <p:nvPr/>
        </p:nvSpPr>
        <p:spPr>
          <a:xfrm>
            <a:off x="1280160" y="4096512"/>
            <a:ext cx="2697480" cy="219456"/>
          </a:xfrm>
          <a:prstGeom prst="rect">
            <a:avLst/>
          </a:prstGeom>
          <a:noFill/>
          <a:ln/>
        </p:spPr>
        <p:txBody>
          <a:bodyPr wrap="square" lIns="0" tIns="0" rIns="0" bIns="0" rtlCol="0" anchor="ctr"/>
          <a:lstStyle/>
          <a:p>
            <a:pPr indent="0" marL="0">
              <a:buNone/>
            </a:pPr>
            <a:r>
              <a:rPr lang="en-US" sz="1000" b="1" spc="160" kern="0" dirty="0">
                <a:solidFill>
                  <a:srgbClr val="009639"/>
                </a:solidFill>
                <a:latin typeface="Calibri" pitchFamily="34" charset="0"/>
                <a:ea typeface="Calibri" pitchFamily="34" charset="-122"/>
                <a:cs typeface="Calibri" pitchFamily="34" charset="-120"/>
              </a:rPr>
              <a:t>CHECK 04</a:t>
            </a:r>
            <a:endParaRPr lang="en-US" sz="1000" dirty="0"/>
          </a:p>
        </p:txBody>
      </p:sp>
      <p:sp>
        <p:nvSpPr>
          <p:cNvPr id="39" name="Text 33"/>
          <p:cNvSpPr txBox="1"/>
          <p:nvPr/>
        </p:nvSpPr>
        <p:spPr>
          <a:xfrm>
            <a:off x="1280160" y="4315968"/>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Training days and simulation</a:t>
            </a:r>
            <a:endParaRPr lang="en-US" sz="1200" dirty="0"/>
          </a:p>
        </p:txBody>
      </p:sp>
      <p:sp>
        <p:nvSpPr>
          <p:cNvPr id="40" name="Text 34"/>
          <p:cNvSpPr txBox="1"/>
          <p:nvPr/>
        </p:nvSpPr>
        <p:spPr>
          <a:xfrm>
            <a:off x="640080" y="4828032"/>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IM training days and simulation certificates uploaded for the relevant year. If this is your PYA or final ARCP, collate the information for all IMS2 years.</a:t>
            </a:r>
            <a:endParaRPr lang="en-US" sz="1000" dirty="0"/>
          </a:p>
        </p:txBody>
      </p:sp>
      <p:sp>
        <p:nvSpPr>
          <p:cNvPr id="41" name="Shape 35"/>
          <p:cNvSpPr/>
          <p:nvPr/>
        </p:nvSpPr>
        <p:spPr>
          <a:xfrm>
            <a:off x="4251960" y="3895344"/>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42" name="Shape 36"/>
          <p:cNvSpPr/>
          <p:nvPr/>
        </p:nvSpPr>
        <p:spPr>
          <a:xfrm>
            <a:off x="4251960" y="3895344"/>
            <a:ext cx="73152" cy="2103120"/>
          </a:xfrm>
          <a:prstGeom prst="rect">
            <a:avLst/>
          </a:prstGeom>
          <a:solidFill>
            <a:srgbClr val="FFB81C"/>
          </a:solidFill>
          <a:ln w="12700">
            <a:solidFill>
              <a:srgbClr val="FFB81C"/>
            </a:solidFill>
            <a:prstDash val="solid"/>
          </a:ln>
        </p:spPr>
      </p:sp>
      <p:sp>
        <p:nvSpPr>
          <p:cNvPr id="43" name="Shape 37"/>
          <p:cNvSpPr/>
          <p:nvPr/>
        </p:nvSpPr>
        <p:spPr>
          <a:xfrm>
            <a:off x="4416552" y="4105656"/>
            <a:ext cx="502920" cy="502920"/>
          </a:xfrm>
          <a:prstGeom prst="ellipse">
            <a:avLst/>
          </a:prstGeom>
          <a:solidFill>
            <a:srgbClr val="FFB81C"/>
          </a:solidFill>
          <a:ln w="12700">
            <a:solidFill>
              <a:srgbClr val="FFB81C"/>
            </a:solidFill>
            <a:prstDash val="solid"/>
          </a:ln>
        </p:spPr>
      </p:sp>
      <p:pic>
        <p:nvPicPr>
          <p:cNvPr id="44" name="Image 4" descr="/tmp/claude-0/-home-claude/0392ef1a-ea77-535e-abf6-0e4ef3a33421/scratchpad/build/icons/n6.png">    </p:cNvPr>
          <p:cNvPicPr>
            <a:picLocks noChangeAspect="1"/>
          </p:cNvPicPr>
          <p:nvPr/>
        </p:nvPicPr>
        <p:blipFill>
          <a:blip r:embed="rId5"/>
          <a:stretch>
            <a:fillRect/>
          </a:stretch>
        </p:blipFill>
        <p:spPr>
          <a:xfrm>
            <a:off x="4535424" y="4224528"/>
            <a:ext cx="265176" cy="265176"/>
          </a:xfrm>
          <a:prstGeom prst="rect">
            <a:avLst/>
          </a:prstGeom>
        </p:spPr>
      </p:pic>
      <p:sp>
        <p:nvSpPr>
          <p:cNvPr id="45" name="Text 38"/>
          <p:cNvSpPr txBox="1"/>
          <p:nvPr/>
        </p:nvSpPr>
        <p:spPr>
          <a:xfrm>
            <a:off x="5074920" y="4096512"/>
            <a:ext cx="2697480" cy="219456"/>
          </a:xfrm>
          <a:prstGeom prst="rect">
            <a:avLst/>
          </a:prstGeom>
          <a:noFill/>
          <a:ln/>
        </p:spPr>
        <p:txBody>
          <a:bodyPr wrap="square" lIns="0" tIns="0" rIns="0" bIns="0" rtlCol="0" anchor="ctr"/>
          <a:lstStyle/>
          <a:p>
            <a:pPr indent="0" marL="0">
              <a:buNone/>
            </a:pPr>
            <a:r>
              <a:rPr lang="en-US" sz="1000" b="1" spc="160" kern="0" dirty="0">
                <a:solidFill>
                  <a:srgbClr val="8A5E00"/>
                </a:solidFill>
                <a:latin typeface="Calibri" pitchFamily="34" charset="0"/>
                <a:ea typeface="Calibri" pitchFamily="34" charset="-122"/>
                <a:cs typeface="Calibri" pitchFamily="34" charset="-120"/>
              </a:rPr>
              <a:t>CHECK 05</a:t>
            </a:r>
            <a:endParaRPr lang="en-US" sz="1000" dirty="0"/>
          </a:p>
        </p:txBody>
      </p:sp>
      <p:sp>
        <p:nvSpPr>
          <p:cNvPr id="46" name="Text 39"/>
          <p:cNvSpPr txBox="1"/>
          <p:nvPr/>
        </p:nvSpPr>
        <p:spPr>
          <a:xfrm>
            <a:off x="5074920" y="4315968"/>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The numbers</a:t>
            </a:r>
            <a:endParaRPr lang="en-US" sz="1200" dirty="0"/>
          </a:p>
        </p:txBody>
      </p:sp>
      <p:sp>
        <p:nvSpPr>
          <p:cNvPr id="47" name="Text 40"/>
          <p:cNvSpPr txBox="1"/>
          <p:nvPr/>
        </p:nvSpPr>
        <p:spPr>
          <a:xfrm>
            <a:off x="4434840" y="4828032"/>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Take numbers, clinic count, months of continuing ward care, simulation hours and study-leave hours all recorded — not estimated from memory. SDEC sessions belong in your take numbers, not your clinic count.</a:t>
            </a:r>
            <a:endParaRPr lang="en-US" sz="1000" dirty="0"/>
          </a:p>
        </p:txBody>
      </p:sp>
      <p:sp>
        <p:nvSpPr>
          <p:cNvPr id="48" name="Shape 41"/>
          <p:cNvSpPr/>
          <p:nvPr/>
        </p:nvSpPr>
        <p:spPr>
          <a:xfrm>
            <a:off x="8046720" y="3895344"/>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49" name="Shape 42"/>
          <p:cNvSpPr/>
          <p:nvPr/>
        </p:nvSpPr>
        <p:spPr>
          <a:xfrm>
            <a:off x="8046720" y="3895344"/>
            <a:ext cx="73152" cy="2103120"/>
          </a:xfrm>
          <a:prstGeom prst="rect">
            <a:avLst/>
          </a:prstGeom>
          <a:solidFill>
            <a:srgbClr val="330072"/>
          </a:solidFill>
          <a:ln w="12700">
            <a:solidFill>
              <a:srgbClr val="330072"/>
            </a:solidFill>
            <a:prstDash val="solid"/>
          </a:ln>
        </p:spPr>
      </p:sp>
      <p:sp>
        <p:nvSpPr>
          <p:cNvPr id="50" name="Shape 43"/>
          <p:cNvSpPr/>
          <p:nvPr/>
        </p:nvSpPr>
        <p:spPr>
          <a:xfrm>
            <a:off x="8211312" y="4105656"/>
            <a:ext cx="502920" cy="502920"/>
          </a:xfrm>
          <a:prstGeom prst="ellipse">
            <a:avLst/>
          </a:prstGeom>
          <a:solidFill>
            <a:srgbClr val="330072"/>
          </a:solidFill>
          <a:ln w="12700">
            <a:solidFill>
              <a:srgbClr val="330072"/>
            </a:solidFill>
            <a:prstDash val="solid"/>
          </a:ln>
        </p:spPr>
      </p:sp>
      <p:pic>
        <p:nvPicPr>
          <p:cNvPr id="51" name="Image 5" descr="/tmp/claude-0/-home-claude/0392ef1a-ea77-535e-abf6-0e4ef3a33421/scratchpad/build/icons/w4.png">    </p:cNvPr>
          <p:cNvPicPr>
            <a:picLocks noChangeAspect="1"/>
          </p:cNvPicPr>
          <p:nvPr/>
        </p:nvPicPr>
        <p:blipFill>
          <a:blip r:embed="rId6"/>
          <a:stretch>
            <a:fillRect/>
          </a:stretch>
        </p:blipFill>
        <p:spPr>
          <a:xfrm>
            <a:off x="8330184" y="4224528"/>
            <a:ext cx="265176" cy="265176"/>
          </a:xfrm>
          <a:prstGeom prst="rect">
            <a:avLst/>
          </a:prstGeom>
        </p:spPr>
      </p:pic>
      <p:sp>
        <p:nvSpPr>
          <p:cNvPr id="52" name="Text 44"/>
          <p:cNvSpPr txBox="1"/>
          <p:nvPr/>
        </p:nvSpPr>
        <p:spPr>
          <a:xfrm>
            <a:off x="8869680" y="4096512"/>
            <a:ext cx="2697480" cy="219456"/>
          </a:xfrm>
          <a:prstGeom prst="rect">
            <a:avLst/>
          </a:prstGeom>
          <a:noFill/>
          <a:ln/>
        </p:spPr>
        <p:txBody>
          <a:bodyPr wrap="square" lIns="0" tIns="0" rIns="0" bIns="0" rtlCol="0" anchor="ctr"/>
          <a:lstStyle/>
          <a:p>
            <a:pPr indent="0" marL="0">
              <a:buNone/>
            </a:pPr>
            <a:r>
              <a:rPr lang="en-US" sz="1000" b="1" spc="160" kern="0" dirty="0">
                <a:solidFill>
                  <a:srgbClr val="330072"/>
                </a:solidFill>
                <a:latin typeface="Calibri" pitchFamily="34" charset="0"/>
                <a:ea typeface="Calibri" pitchFamily="34" charset="-122"/>
                <a:cs typeface="Calibri" pitchFamily="34" charset="-120"/>
              </a:rPr>
              <a:t>CHECK 06</a:t>
            </a:r>
            <a:endParaRPr lang="en-US" sz="1000" dirty="0"/>
          </a:p>
        </p:txBody>
      </p:sp>
      <p:sp>
        <p:nvSpPr>
          <p:cNvPr id="53" name="Text 45"/>
          <p:cNvSpPr txBox="1"/>
          <p:nvPr/>
        </p:nvSpPr>
        <p:spPr>
          <a:xfrm>
            <a:off x="8869680" y="4315968"/>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Summary of training</a:t>
            </a:r>
            <a:endParaRPr lang="en-US" sz="1200" dirty="0"/>
          </a:p>
        </p:txBody>
      </p:sp>
      <p:sp>
        <p:nvSpPr>
          <p:cNvPr id="54" name="Text 46"/>
          <p:cNvSpPr txBox="1"/>
          <p:nvPr/>
        </p:nvSpPr>
        <p:spPr>
          <a:xfrm>
            <a:off x="8229600" y="4828032"/>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Complete the calculator: thefederation.uk/document/gim-pyr-summary-training-calculator — and submit Form R reflecting your full scope of practice.</a:t>
            </a:r>
            <a:endParaRPr lang="en-US" sz="1000" dirty="0"/>
          </a:p>
        </p:txBody>
      </p:sp>
      <p:sp>
        <p:nvSpPr>
          <p:cNvPr id="55" name="Shape 47"/>
          <p:cNvSpPr/>
          <p:nvPr/>
        </p:nvSpPr>
        <p:spPr>
          <a:xfrm>
            <a:off x="457200" y="6071616"/>
            <a:ext cx="11247120" cy="438912"/>
          </a:xfrm>
          <a:prstGeom prst="rect">
            <a:avLst/>
          </a:prstGeom>
          <a:solidFill>
            <a:srgbClr val="F0F4F5"/>
          </a:solidFill>
          <a:ln w="12700">
            <a:solidFill>
              <a:srgbClr val="F0F4F5"/>
            </a:solidFill>
            <a:prstDash val="solid"/>
          </a:ln>
        </p:spPr>
      </p:sp>
      <p:sp>
        <p:nvSpPr>
          <p:cNvPr id="56" name="Shape 48"/>
          <p:cNvSpPr/>
          <p:nvPr/>
        </p:nvSpPr>
        <p:spPr>
          <a:xfrm>
            <a:off x="457200" y="6071616"/>
            <a:ext cx="73152" cy="438912"/>
          </a:xfrm>
          <a:prstGeom prst="rect">
            <a:avLst/>
          </a:prstGeom>
          <a:solidFill>
            <a:srgbClr val="FFB81C"/>
          </a:solidFill>
          <a:ln w="12700">
            <a:solidFill>
              <a:srgbClr val="FFB81C"/>
            </a:solidFill>
            <a:prstDash val="solid"/>
          </a:ln>
        </p:spPr>
      </p:sp>
      <p:sp>
        <p:nvSpPr>
          <p:cNvPr id="57" name="Text 49"/>
          <p:cNvSpPr txBox="1"/>
          <p:nvPr/>
        </p:nvSpPr>
        <p:spPr>
          <a:xfrm>
            <a:off x="658368" y="6071616"/>
            <a:ext cx="10881360" cy="438912"/>
          </a:xfrm>
          <a:prstGeom prst="rect">
            <a:avLst/>
          </a:prstGeom>
          <a:noFill/>
          <a:ln/>
        </p:spPr>
        <p:txBody>
          <a:bodyPr wrap="square" lIns="0" tIns="0" rIns="0" bIns="0" rtlCol="0" anchor="ctr"/>
          <a:lstStyle/>
          <a:p>
            <a:pPr indent="0" marL="0">
              <a:buNone/>
            </a:pPr>
            <a:r>
              <a:rPr lang="en-US" sz="1050" i="1" dirty="0">
                <a:solidFill>
                  <a:srgbClr val="212B32"/>
                </a:solidFill>
                <a:latin typeface="Calibri" pitchFamily="34" charset="0"/>
                <a:ea typeface="Calibri" pitchFamily="34" charset="-122"/>
                <a:cs typeface="Calibri" pitchFamily="34" charset="-120"/>
              </a:rPr>
              <a:t>Without Form R, an Outcome 1 is not available to the panel — however good the rest of the portfolio is.</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10584180" y="379476"/>
            <a:ext cx="82296" cy="82296"/>
          </a:xfrm>
          <a:prstGeom prst="ellipse">
            <a:avLst/>
          </a:prstGeom>
          <a:solidFill>
            <a:srgbClr val="D8DDE0"/>
          </a:solidFill>
          <a:ln w="12700">
            <a:solidFill>
              <a:srgbClr val="D8DDE0"/>
            </a:solidFill>
            <a:prstDash val="solid"/>
          </a:ln>
        </p:spPr>
      </p:sp>
      <p:sp>
        <p:nvSpPr>
          <p:cNvPr id="3" name="Shape 1"/>
          <p:cNvSpPr/>
          <p:nvPr/>
        </p:nvSpPr>
        <p:spPr>
          <a:xfrm>
            <a:off x="10794492" y="379476"/>
            <a:ext cx="82296" cy="82296"/>
          </a:xfrm>
          <a:prstGeom prst="ellipse">
            <a:avLst/>
          </a:prstGeom>
          <a:solidFill>
            <a:srgbClr val="D8DDE0"/>
          </a:solidFill>
          <a:ln w="12700">
            <a:solidFill>
              <a:srgbClr val="D8DDE0"/>
            </a:solidFill>
            <a:prstDash val="solid"/>
          </a:ln>
        </p:spPr>
      </p:sp>
      <p:sp>
        <p:nvSpPr>
          <p:cNvPr id="4" name="Shape 2"/>
          <p:cNvSpPr/>
          <p:nvPr/>
        </p:nvSpPr>
        <p:spPr>
          <a:xfrm>
            <a:off x="11004804" y="379476"/>
            <a:ext cx="82296" cy="82296"/>
          </a:xfrm>
          <a:prstGeom prst="ellipse">
            <a:avLst/>
          </a:prstGeom>
          <a:solidFill>
            <a:srgbClr val="D8DDE0"/>
          </a:solidFill>
          <a:ln w="12700">
            <a:solidFill>
              <a:srgbClr val="D8DDE0"/>
            </a:solidFill>
            <a:prstDash val="solid"/>
          </a:ln>
        </p:spPr>
      </p:sp>
      <p:sp>
        <p:nvSpPr>
          <p:cNvPr id="5" name="Shape 3"/>
          <p:cNvSpPr/>
          <p:nvPr/>
        </p:nvSpPr>
        <p:spPr>
          <a:xfrm>
            <a:off x="11215116" y="379476"/>
            <a:ext cx="82296" cy="82296"/>
          </a:xfrm>
          <a:prstGeom prst="ellipse">
            <a:avLst/>
          </a:prstGeom>
          <a:solidFill>
            <a:srgbClr val="D8DDE0"/>
          </a:solidFill>
          <a:ln w="12700">
            <a:solidFill>
              <a:srgbClr val="D8DDE0"/>
            </a:solidFill>
            <a:prstDash val="solid"/>
          </a:ln>
        </p:spPr>
      </p:sp>
      <p:sp>
        <p:nvSpPr>
          <p:cNvPr id="6" name="Shape 4"/>
          <p:cNvSpPr/>
          <p:nvPr/>
        </p:nvSpPr>
        <p:spPr>
          <a:xfrm>
            <a:off x="11425428" y="379476"/>
            <a:ext cx="82296" cy="82296"/>
          </a:xfrm>
          <a:prstGeom prst="ellipse">
            <a:avLst/>
          </a:prstGeom>
          <a:solidFill>
            <a:srgbClr val="D8DDE0"/>
          </a:solidFill>
          <a:ln w="12700">
            <a:solidFill>
              <a:srgbClr val="D8DDE0"/>
            </a:solidFill>
            <a:prstDash val="solid"/>
          </a:ln>
        </p:spPr>
      </p:sp>
      <p:sp>
        <p:nvSpPr>
          <p:cNvPr id="7" name="Shape 5"/>
          <p:cNvSpPr/>
          <p:nvPr/>
        </p:nvSpPr>
        <p:spPr>
          <a:xfrm>
            <a:off x="11617452" y="361188"/>
            <a:ext cx="118872" cy="118872"/>
          </a:xfrm>
          <a:prstGeom prst="ellipse">
            <a:avLst/>
          </a:prstGeom>
          <a:solidFill>
            <a:srgbClr val="330072"/>
          </a:solidFill>
          <a:ln w="12700">
            <a:solidFill>
              <a:srgbClr val="330072"/>
            </a:solidFill>
            <a:prstDash val="solid"/>
          </a:ln>
        </p:spPr>
      </p:sp>
      <p:sp>
        <p:nvSpPr>
          <p:cNvPr id="8" name="Text 6"/>
          <p:cNvSpPr txBox="1"/>
          <p:nvPr/>
        </p:nvSpPr>
        <p:spPr>
          <a:xfrm>
            <a:off x="457200" y="274320"/>
            <a:ext cx="9875520" cy="256032"/>
          </a:xfrm>
          <a:prstGeom prst="rect">
            <a:avLst/>
          </a:prstGeom>
          <a:noFill/>
          <a:ln/>
        </p:spPr>
        <p:txBody>
          <a:bodyPr wrap="square" lIns="0" tIns="0" rIns="0" bIns="0" rtlCol="0" anchor="ctr"/>
          <a:lstStyle/>
          <a:p>
            <a:pPr indent="0" marL="0">
              <a:buNone/>
            </a:pPr>
            <a:r>
              <a:rPr lang="en-US" sz="1100" b="1" spc="240" kern="0" dirty="0">
                <a:solidFill>
                  <a:srgbClr val="330072"/>
                </a:solidFill>
                <a:latin typeface="Calibri" pitchFamily="34" charset="0"/>
                <a:ea typeface="Calibri" pitchFamily="34" charset="-122"/>
                <a:cs typeface="Calibri" pitchFamily="34" charset="-120"/>
              </a:rPr>
              <a:t>PART 06 · LOCAL ANSWERS, AND WHERE TO LOOK IT UP</a:t>
            </a:r>
            <a:endParaRPr lang="en-US" sz="1100" dirty="0"/>
          </a:p>
        </p:txBody>
      </p:sp>
      <p:sp>
        <p:nvSpPr>
          <p:cNvPr id="9" name="Text 7"/>
          <p:cNvSpPr txBox="1"/>
          <p:nvPr/>
        </p:nvSpPr>
        <p:spPr>
          <a:xfrm>
            <a:off x="457200" y="512064"/>
            <a:ext cx="11247120" cy="658368"/>
          </a:xfrm>
          <a:prstGeom prst="rect">
            <a:avLst/>
          </a:prstGeom>
          <a:noFill/>
          <a:ln/>
        </p:spPr>
        <p:txBody>
          <a:bodyPr wrap="square" lIns="0" tIns="0" rIns="0" bIns="0" rtlCol="0" anchor="ctr"/>
          <a:lstStyle/>
          <a:p>
            <a:pPr indent="0" marL="0">
              <a:buNone/>
            </a:pPr>
            <a:r>
              <a:rPr lang="en-US" sz="3000" b="1" dirty="0">
                <a:solidFill>
                  <a:srgbClr val="003087"/>
                </a:solidFill>
                <a:latin typeface="Calibri" pitchFamily="34" charset="0"/>
                <a:ea typeface="Calibri" pitchFamily="34" charset="-122"/>
                <a:cs typeface="Calibri" pitchFamily="34" charset="-120"/>
              </a:rPr>
              <a:t>What we can tell you, and where the rest lives</a:t>
            </a:r>
            <a:endParaRPr lang="en-US" sz="3000" dirty="0"/>
          </a:p>
        </p:txBody>
      </p:sp>
      <p:sp>
        <p:nvSpPr>
          <p:cNvPr id="10" name="Text 8"/>
          <p:cNvSpPr txBox="1"/>
          <p:nvPr/>
        </p:nvSpPr>
        <p:spPr>
          <a:xfrm>
            <a:off x="457200" y="1170432"/>
            <a:ext cx="11247120" cy="411480"/>
          </a:xfrm>
          <a:prstGeom prst="rect">
            <a:avLst/>
          </a:prstGeom>
          <a:noFill/>
          <a:ln/>
        </p:spPr>
        <p:txBody>
          <a:bodyPr wrap="square" lIns="0" tIns="0" rIns="0" bIns="0" rtlCol="0" anchor="t"/>
          <a:lstStyle/>
          <a:p>
            <a:pPr indent="0" marL="0">
              <a:buNone/>
            </a:pPr>
            <a:r>
              <a:rPr lang="en-US" sz="1200" i="1" dirty="0">
                <a:solidFill>
                  <a:srgbClr val="768692"/>
                </a:solidFill>
                <a:latin typeface="Calibri" pitchFamily="34" charset="0"/>
                <a:ea typeface="Calibri" pitchFamily="34" charset="-122"/>
                <a:cs typeface="Calibri" pitchFamily="34" charset="-120"/>
              </a:rPr>
              <a:t>The top row is what the national documents leave to us. The bottom row answers everything else.</a:t>
            </a:r>
            <a:endParaRPr lang="en-US" sz="1200" dirty="0"/>
          </a:p>
        </p:txBody>
      </p:sp>
      <p:sp>
        <p:nvSpPr>
          <p:cNvPr id="11" name="Text 9"/>
          <p:cNvSpPr txBox="1"/>
          <p:nvPr/>
        </p:nvSpPr>
        <p:spPr>
          <a:xfrm>
            <a:off x="457200" y="6547104"/>
            <a:ext cx="7315200" cy="274320"/>
          </a:xfrm>
          <a:prstGeom prst="rect">
            <a:avLst/>
          </a:prstGeom>
          <a:noFill/>
          <a:ln/>
        </p:spPr>
        <p:txBody>
          <a:bodyPr wrap="square" lIns="0" tIns="0" rIns="0" bIns="0" rtlCol="0" anchor="ctr"/>
          <a:lstStyle/>
          <a:p>
            <a:pPr indent="0" marL="0">
              <a:buNone/>
            </a:pPr>
            <a:r>
              <a:rPr lang="en-US" sz="900" dirty="0">
                <a:solidFill>
                  <a:srgbClr val="768692"/>
                </a:solidFill>
                <a:latin typeface="Calibri" pitchFamily="34" charset="0"/>
                <a:ea typeface="Calibri" pitchFamily="34" charset="-122"/>
                <a:cs typeface="Calibri" pitchFamily="34" charset="-120"/>
              </a:rPr>
              <a:t>GIM ARCP · trainee guidance · </a:t>
            </a:r>
            <a:pPr indent="0" marL="0">
              <a:buNone/>
            </a:pPr>
            <a:r>
              <a:rPr lang="en-US" sz="900" b="1" dirty="0">
                <a:solidFill>
                  <a:srgbClr val="8A5E00"/>
                </a:solidFill>
                <a:latin typeface="Calibri" pitchFamily="34" charset="0"/>
                <a:ea typeface="Calibri" pitchFamily="34" charset="-122"/>
                <a:cs typeface="Calibri" pitchFamily="34" charset="-120"/>
              </a:rPr>
              <a:t>DRAFT</a:t>
            </a:r>
            <a:endParaRPr lang="en-US" sz="900" dirty="0"/>
          </a:p>
        </p:txBody>
      </p:sp>
      <p:sp>
        <p:nvSpPr>
          <p:cNvPr id="12" name="Text 10"/>
          <p:cNvSpPr txBox="1"/>
          <p:nvPr/>
        </p:nvSpPr>
        <p:spPr>
          <a:xfrm>
            <a:off x="11155680" y="6547104"/>
            <a:ext cx="548640" cy="274320"/>
          </a:xfrm>
          <a:prstGeom prst="rect">
            <a:avLst/>
          </a:prstGeom>
          <a:noFill/>
          <a:ln/>
        </p:spPr>
        <p:txBody>
          <a:bodyPr wrap="square" lIns="0" tIns="0" rIns="0" bIns="0" rtlCol="0" anchor="ctr"/>
          <a:lstStyle/>
          <a:p>
            <a:pPr algn="r" indent="0" marL="0">
              <a:buNone/>
            </a:pPr>
            <a:r>
              <a:rPr lang="en-US" sz="900" dirty="0">
                <a:solidFill>
                  <a:srgbClr val="768692"/>
                </a:solidFill>
                <a:latin typeface="Calibri" pitchFamily="34" charset="0"/>
                <a:ea typeface="Calibri" pitchFamily="34" charset="-122"/>
                <a:cs typeface="Calibri" pitchFamily="34" charset="-120"/>
              </a:rPr>
              <a:t>20</a:t>
            </a:r>
            <a:endParaRPr lang="en-US" sz="900" dirty="0"/>
          </a:p>
        </p:txBody>
      </p:sp>
      <p:sp>
        <p:nvSpPr>
          <p:cNvPr id="13" name="Shape 11"/>
          <p:cNvSpPr/>
          <p:nvPr/>
        </p:nvSpPr>
        <p:spPr>
          <a:xfrm>
            <a:off x="457200" y="1664208"/>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14" name="Shape 12"/>
          <p:cNvSpPr/>
          <p:nvPr/>
        </p:nvSpPr>
        <p:spPr>
          <a:xfrm>
            <a:off x="457200" y="1664208"/>
            <a:ext cx="73152" cy="2103120"/>
          </a:xfrm>
          <a:prstGeom prst="rect">
            <a:avLst/>
          </a:prstGeom>
          <a:solidFill>
            <a:srgbClr val="003087"/>
          </a:solidFill>
          <a:ln w="12700">
            <a:solidFill>
              <a:srgbClr val="003087"/>
            </a:solidFill>
            <a:prstDash val="solid"/>
          </a:ln>
        </p:spPr>
      </p:sp>
      <p:sp>
        <p:nvSpPr>
          <p:cNvPr id="15" name="Shape 13"/>
          <p:cNvSpPr/>
          <p:nvPr/>
        </p:nvSpPr>
        <p:spPr>
          <a:xfrm>
            <a:off x="621792" y="1874520"/>
            <a:ext cx="502920" cy="502920"/>
          </a:xfrm>
          <a:prstGeom prst="ellipse">
            <a:avLst/>
          </a:prstGeom>
          <a:solidFill>
            <a:srgbClr val="003087"/>
          </a:solidFill>
          <a:ln w="12700">
            <a:solidFill>
              <a:srgbClr val="003087"/>
            </a:solidFill>
            <a:prstDash val="solid"/>
          </a:ln>
        </p:spPr>
      </p:sp>
      <p:pic>
        <p:nvPicPr>
          <p:cNvPr id="16" name="Image 0" descr="/tmp/claude-0/-home-claude/0392ef1a-ea77-535e-abf6-0e4ef3a33421/scratchpad/build/icons/w15.png">    </p:cNvPr>
          <p:cNvPicPr>
            <a:picLocks noChangeAspect="1"/>
          </p:cNvPicPr>
          <p:nvPr/>
        </p:nvPicPr>
        <p:blipFill>
          <a:blip r:embed="rId1"/>
          <a:stretch>
            <a:fillRect/>
          </a:stretch>
        </p:blipFill>
        <p:spPr>
          <a:xfrm>
            <a:off x="740664" y="1993392"/>
            <a:ext cx="265176" cy="265176"/>
          </a:xfrm>
          <a:prstGeom prst="rect">
            <a:avLst/>
          </a:prstGeom>
        </p:spPr>
      </p:pic>
      <p:sp>
        <p:nvSpPr>
          <p:cNvPr id="17" name="Text 14"/>
          <p:cNvSpPr txBox="1"/>
          <p:nvPr/>
        </p:nvSpPr>
        <p:spPr>
          <a:xfrm>
            <a:off x="1280160" y="1865376"/>
            <a:ext cx="2697480" cy="219456"/>
          </a:xfrm>
          <a:prstGeom prst="rect">
            <a:avLst/>
          </a:prstGeom>
          <a:noFill/>
          <a:ln/>
        </p:spPr>
        <p:txBody>
          <a:bodyPr wrap="square" lIns="0" tIns="0" rIns="0" bIns="0" rtlCol="0" anchor="ctr"/>
          <a:lstStyle/>
          <a:p>
            <a:pPr indent="0" marL="0">
              <a:buNone/>
            </a:pPr>
            <a:r>
              <a:rPr lang="en-US" sz="1000" b="1" spc="160" kern="0" dirty="0">
                <a:solidFill>
                  <a:srgbClr val="003087"/>
                </a:solidFill>
                <a:latin typeface="Calibri" pitchFamily="34" charset="0"/>
                <a:ea typeface="Calibri" pitchFamily="34" charset="-122"/>
                <a:cs typeface="Calibri" pitchFamily="34" charset="-120"/>
              </a:rPr>
              <a:t>LOCAL 01</a:t>
            </a:r>
            <a:endParaRPr lang="en-US" sz="1000" dirty="0"/>
          </a:p>
        </p:txBody>
      </p:sp>
      <p:sp>
        <p:nvSpPr>
          <p:cNvPr id="18" name="Text 15"/>
          <p:cNvSpPr txBox="1"/>
          <p:nvPr/>
        </p:nvSpPr>
        <p:spPr>
          <a:xfrm>
            <a:off x="1280160" y="2084832"/>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When your ARCP falls</a:t>
            </a:r>
            <a:endParaRPr lang="en-US" sz="1200" dirty="0"/>
          </a:p>
        </p:txBody>
      </p:sp>
      <p:sp>
        <p:nvSpPr>
          <p:cNvPr id="19" name="Text 16"/>
          <p:cNvSpPr txBox="1"/>
          <p:nvPr/>
        </p:nvSpPr>
        <p:spPr>
          <a:xfrm>
            <a:off x="640080" y="2596896"/>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Notice is settled — we aim to give six weeks for the deadline and for the panel itself. The window in which ST4 GIM panels sit is set locally each year, so confirm the date at induction.</a:t>
            </a:r>
            <a:endParaRPr lang="en-US" sz="1000" dirty="0"/>
          </a:p>
        </p:txBody>
      </p:sp>
      <p:sp>
        <p:nvSpPr>
          <p:cNvPr id="20" name="Shape 17"/>
          <p:cNvSpPr/>
          <p:nvPr/>
        </p:nvSpPr>
        <p:spPr>
          <a:xfrm>
            <a:off x="4251960" y="1664208"/>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21" name="Shape 18"/>
          <p:cNvSpPr/>
          <p:nvPr/>
        </p:nvSpPr>
        <p:spPr>
          <a:xfrm>
            <a:off x="4251960" y="1664208"/>
            <a:ext cx="73152" cy="2103120"/>
          </a:xfrm>
          <a:prstGeom prst="rect">
            <a:avLst/>
          </a:prstGeom>
          <a:solidFill>
            <a:srgbClr val="0072CE"/>
          </a:solidFill>
          <a:ln w="12700">
            <a:solidFill>
              <a:srgbClr val="0072CE"/>
            </a:solidFill>
            <a:prstDash val="solid"/>
          </a:ln>
        </p:spPr>
      </p:sp>
      <p:sp>
        <p:nvSpPr>
          <p:cNvPr id="22" name="Shape 19"/>
          <p:cNvSpPr/>
          <p:nvPr/>
        </p:nvSpPr>
        <p:spPr>
          <a:xfrm>
            <a:off x="4416552" y="1874520"/>
            <a:ext cx="502920" cy="502920"/>
          </a:xfrm>
          <a:prstGeom prst="ellipse">
            <a:avLst/>
          </a:prstGeom>
          <a:solidFill>
            <a:srgbClr val="0072CE"/>
          </a:solidFill>
          <a:ln w="12700">
            <a:solidFill>
              <a:srgbClr val="0072CE"/>
            </a:solidFill>
            <a:prstDash val="solid"/>
          </a:ln>
        </p:spPr>
      </p:sp>
      <p:pic>
        <p:nvPicPr>
          <p:cNvPr id="23" name="Image 1" descr="/tmp/claude-0/-home-claude/0392ef1a-ea77-535e-abf6-0e4ef3a33421/scratchpad/build/icons/w14.png">    </p:cNvPr>
          <p:cNvPicPr>
            <a:picLocks noChangeAspect="1"/>
          </p:cNvPicPr>
          <p:nvPr/>
        </p:nvPicPr>
        <p:blipFill>
          <a:blip r:embed="rId2"/>
          <a:stretch>
            <a:fillRect/>
          </a:stretch>
        </p:blipFill>
        <p:spPr>
          <a:xfrm>
            <a:off x="4535424" y="1993392"/>
            <a:ext cx="265176" cy="265176"/>
          </a:xfrm>
          <a:prstGeom prst="rect">
            <a:avLst/>
          </a:prstGeom>
        </p:spPr>
      </p:pic>
      <p:sp>
        <p:nvSpPr>
          <p:cNvPr id="24" name="Text 20"/>
          <p:cNvSpPr txBox="1"/>
          <p:nvPr/>
        </p:nvSpPr>
        <p:spPr>
          <a:xfrm>
            <a:off x="5074920" y="1865376"/>
            <a:ext cx="2697480" cy="219456"/>
          </a:xfrm>
          <a:prstGeom prst="rect">
            <a:avLst/>
          </a:prstGeom>
          <a:noFill/>
          <a:ln/>
        </p:spPr>
        <p:txBody>
          <a:bodyPr wrap="square" lIns="0" tIns="0" rIns="0" bIns="0" rtlCol="0" anchor="ctr"/>
          <a:lstStyle/>
          <a:p>
            <a:pPr indent="0" marL="0">
              <a:buNone/>
            </a:pPr>
            <a:r>
              <a:rPr lang="en-US" sz="1000" b="1" spc="160" kern="0" dirty="0">
                <a:solidFill>
                  <a:srgbClr val="0072CE"/>
                </a:solidFill>
                <a:latin typeface="Calibri" pitchFamily="34" charset="0"/>
                <a:ea typeface="Calibri" pitchFamily="34" charset="-122"/>
                <a:cs typeface="Calibri" pitchFamily="34" charset="-120"/>
              </a:rPr>
              <a:t>LOCAL 02</a:t>
            </a:r>
            <a:endParaRPr lang="en-US" sz="1000" dirty="0"/>
          </a:p>
        </p:txBody>
      </p:sp>
      <p:sp>
        <p:nvSpPr>
          <p:cNvPr id="25" name="Text 21"/>
          <p:cNvSpPr txBox="1"/>
          <p:nvPr/>
        </p:nvSpPr>
        <p:spPr>
          <a:xfrm>
            <a:off x="5074920" y="2084832"/>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If a panel is cancelled</a:t>
            </a:r>
            <a:endParaRPr lang="en-US" sz="1200" dirty="0"/>
          </a:p>
        </p:txBody>
      </p:sp>
      <p:sp>
        <p:nvSpPr>
          <p:cNvPr id="26" name="Text 22"/>
          <p:cNvSpPr txBox="1"/>
          <p:nvPr/>
        </p:nvSpPr>
        <p:spPr>
          <a:xfrm>
            <a:off x="4434840" y="2596896"/>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We cancel only when a third panel member cannot be found. College tutors are allocated for the year, but not everyone can take it up. You are told as soon as we know — no fixed notice period, but expect around two weeks.</a:t>
            </a:r>
            <a:endParaRPr lang="en-US" sz="1000" dirty="0"/>
          </a:p>
        </p:txBody>
      </p:sp>
      <p:sp>
        <p:nvSpPr>
          <p:cNvPr id="27" name="Shape 23"/>
          <p:cNvSpPr/>
          <p:nvPr/>
        </p:nvSpPr>
        <p:spPr>
          <a:xfrm>
            <a:off x="8046720" y="1664208"/>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28" name="Shape 24"/>
          <p:cNvSpPr/>
          <p:nvPr/>
        </p:nvSpPr>
        <p:spPr>
          <a:xfrm>
            <a:off x="8046720" y="1664208"/>
            <a:ext cx="73152" cy="2103120"/>
          </a:xfrm>
          <a:prstGeom prst="rect">
            <a:avLst/>
          </a:prstGeom>
          <a:solidFill>
            <a:srgbClr val="FFB81C"/>
          </a:solidFill>
          <a:ln w="12700">
            <a:solidFill>
              <a:srgbClr val="FFB81C"/>
            </a:solidFill>
            <a:prstDash val="solid"/>
          </a:ln>
        </p:spPr>
      </p:sp>
      <p:sp>
        <p:nvSpPr>
          <p:cNvPr id="29" name="Shape 25"/>
          <p:cNvSpPr/>
          <p:nvPr/>
        </p:nvSpPr>
        <p:spPr>
          <a:xfrm>
            <a:off x="8211312" y="1874520"/>
            <a:ext cx="502920" cy="502920"/>
          </a:xfrm>
          <a:prstGeom prst="ellipse">
            <a:avLst/>
          </a:prstGeom>
          <a:solidFill>
            <a:srgbClr val="FFB81C"/>
          </a:solidFill>
          <a:ln w="12700">
            <a:solidFill>
              <a:srgbClr val="FFB81C"/>
            </a:solidFill>
            <a:prstDash val="solid"/>
          </a:ln>
        </p:spPr>
      </p:sp>
      <p:pic>
        <p:nvPicPr>
          <p:cNvPr id="30" name="Image 2" descr="/tmp/claude-0/-home-claude/0392ef1a-ea77-535e-abf6-0e4ef3a33421/scratchpad/build/icons/n4.png">    </p:cNvPr>
          <p:cNvPicPr>
            <a:picLocks noChangeAspect="1"/>
          </p:cNvPicPr>
          <p:nvPr/>
        </p:nvPicPr>
        <p:blipFill>
          <a:blip r:embed="rId3"/>
          <a:stretch>
            <a:fillRect/>
          </a:stretch>
        </p:blipFill>
        <p:spPr>
          <a:xfrm>
            <a:off x="8330184" y="1993392"/>
            <a:ext cx="265176" cy="265176"/>
          </a:xfrm>
          <a:prstGeom prst="rect">
            <a:avLst/>
          </a:prstGeom>
        </p:spPr>
      </p:pic>
      <p:sp>
        <p:nvSpPr>
          <p:cNvPr id="31" name="Text 26"/>
          <p:cNvSpPr txBox="1"/>
          <p:nvPr/>
        </p:nvSpPr>
        <p:spPr>
          <a:xfrm>
            <a:off x="8869680" y="1865376"/>
            <a:ext cx="2697480" cy="219456"/>
          </a:xfrm>
          <a:prstGeom prst="rect">
            <a:avLst/>
          </a:prstGeom>
          <a:noFill/>
          <a:ln/>
        </p:spPr>
        <p:txBody>
          <a:bodyPr wrap="square" lIns="0" tIns="0" rIns="0" bIns="0" rtlCol="0" anchor="ctr"/>
          <a:lstStyle/>
          <a:p>
            <a:pPr indent="0" marL="0">
              <a:buNone/>
            </a:pPr>
            <a:r>
              <a:rPr lang="en-US" sz="1000" b="1" spc="160" kern="0" dirty="0">
                <a:solidFill>
                  <a:srgbClr val="8A5E00"/>
                </a:solidFill>
                <a:latin typeface="Calibri" pitchFamily="34" charset="0"/>
                <a:ea typeface="Calibri" pitchFamily="34" charset="-122"/>
                <a:cs typeface="Calibri" pitchFamily="34" charset="-120"/>
              </a:rPr>
              <a:t>STILL OPEN</a:t>
            </a:r>
            <a:endParaRPr lang="en-US" sz="1000" dirty="0"/>
          </a:p>
        </p:txBody>
      </p:sp>
      <p:sp>
        <p:nvSpPr>
          <p:cNvPr id="32" name="Text 27"/>
          <p:cNvSpPr txBox="1"/>
          <p:nvPr/>
        </p:nvSpPr>
        <p:spPr>
          <a:xfrm>
            <a:off x="8869680" y="2084832"/>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Protected time in your work schedule</a:t>
            </a:r>
            <a:endParaRPr lang="en-US" sz="1200" dirty="0"/>
          </a:p>
        </p:txBody>
      </p:sp>
      <p:sp>
        <p:nvSpPr>
          <p:cNvPr id="33" name="Text 28"/>
          <p:cNvSpPr txBox="1"/>
          <p:nvPr/>
        </p:nvSpPr>
        <p:spPr>
          <a:xfrm>
            <a:off x="8229600" y="2596896"/>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Whether the monthly ES hour and the two days a month of self-development time are actually in your work schedule — and who to raise it with if they are not.</a:t>
            </a:r>
            <a:endParaRPr lang="en-US" sz="1000" dirty="0"/>
          </a:p>
        </p:txBody>
      </p:sp>
      <p:sp>
        <p:nvSpPr>
          <p:cNvPr id="34" name="Shape 29"/>
          <p:cNvSpPr/>
          <p:nvPr/>
        </p:nvSpPr>
        <p:spPr>
          <a:xfrm>
            <a:off x="457200" y="3895344"/>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35" name="Shape 30"/>
          <p:cNvSpPr/>
          <p:nvPr/>
        </p:nvSpPr>
        <p:spPr>
          <a:xfrm>
            <a:off x="457200" y="3895344"/>
            <a:ext cx="73152" cy="2103120"/>
          </a:xfrm>
          <a:prstGeom prst="rect">
            <a:avLst/>
          </a:prstGeom>
          <a:solidFill>
            <a:srgbClr val="009639"/>
          </a:solidFill>
          <a:ln w="12700">
            <a:solidFill>
              <a:srgbClr val="009639"/>
            </a:solidFill>
            <a:prstDash val="solid"/>
          </a:ln>
        </p:spPr>
      </p:sp>
      <p:sp>
        <p:nvSpPr>
          <p:cNvPr id="36" name="Shape 31"/>
          <p:cNvSpPr/>
          <p:nvPr/>
        </p:nvSpPr>
        <p:spPr>
          <a:xfrm>
            <a:off x="621792" y="4105656"/>
            <a:ext cx="502920" cy="502920"/>
          </a:xfrm>
          <a:prstGeom prst="ellipse">
            <a:avLst/>
          </a:prstGeom>
          <a:solidFill>
            <a:srgbClr val="009639"/>
          </a:solidFill>
          <a:ln w="12700">
            <a:solidFill>
              <a:srgbClr val="009639"/>
            </a:solidFill>
            <a:prstDash val="solid"/>
          </a:ln>
        </p:spPr>
      </p:sp>
      <p:pic>
        <p:nvPicPr>
          <p:cNvPr id="37" name="Image 3" descr="/tmp/claude-0/-home-claude/0392ef1a-ea77-535e-abf6-0e4ef3a33421/scratchpad/build/icons/w12.png">    </p:cNvPr>
          <p:cNvPicPr>
            <a:picLocks noChangeAspect="1"/>
          </p:cNvPicPr>
          <p:nvPr/>
        </p:nvPicPr>
        <p:blipFill>
          <a:blip r:embed="rId4"/>
          <a:stretch>
            <a:fillRect/>
          </a:stretch>
        </p:blipFill>
        <p:spPr>
          <a:xfrm>
            <a:off x="740664" y="4224528"/>
            <a:ext cx="265176" cy="265176"/>
          </a:xfrm>
          <a:prstGeom prst="rect">
            <a:avLst/>
          </a:prstGeom>
        </p:spPr>
      </p:pic>
      <p:sp>
        <p:nvSpPr>
          <p:cNvPr id="38" name="Text 32"/>
          <p:cNvSpPr txBox="1"/>
          <p:nvPr/>
        </p:nvSpPr>
        <p:spPr>
          <a:xfrm>
            <a:off x="1280160" y="4096512"/>
            <a:ext cx="2697480" cy="219456"/>
          </a:xfrm>
          <a:prstGeom prst="rect">
            <a:avLst/>
          </a:prstGeom>
          <a:noFill/>
          <a:ln/>
        </p:spPr>
        <p:txBody>
          <a:bodyPr wrap="square" lIns="0" tIns="0" rIns="0" bIns="0" rtlCol="0" anchor="ctr"/>
          <a:lstStyle/>
          <a:p>
            <a:pPr indent="0" marL="0">
              <a:buNone/>
            </a:pPr>
            <a:r>
              <a:rPr lang="en-US" sz="1000" b="1" spc="160" kern="0" dirty="0">
                <a:solidFill>
                  <a:srgbClr val="009639"/>
                </a:solidFill>
                <a:latin typeface="Calibri" pitchFamily="34" charset="0"/>
                <a:ea typeface="Calibri" pitchFamily="34" charset="-122"/>
                <a:cs typeface="Calibri" pitchFamily="34" charset="-120"/>
              </a:rPr>
              <a:t>SOURCE 01</a:t>
            </a:r>
            <a:endParaRPr lang="en-US" sz="1000" dirty="0"/>
          </a:p>
        </p:txBody>
      </p:sp>
      <p:sp>
        <p:nvSpPr>
          <p:cNvPr id="39" name="Text 33"/>
          <p:cNvSpPr txBox="1"/>
          <p:nvPr/>
        </p:nvSpPr>
        <p:spPr>
          <a:xfrm>
            <a:off x="1280160" y="4315968"/>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The Gold Guide, 11th edition</a:t>
            </a:r>
            <a:endParaRPr lang="en-US" sz="1200" dirty="0"/>
          </a:p>
        </p:txBody>
      </p:sp>
      <p:sp>
        <p:nvSpPr>
          <p:cNvPr id="40" name="Text 34"/>
          <p:cNvSpPr txBox="1"/>
          <p:nvPr/>
        </p:nvSpPr>
        <p:spPr>
          <a:xfrm>
            <a:off x="640080" y="4828032"/>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August 2026. ARCP purpose 4.36 · evidence and deadlines 4.57 · panel 4.65–4.86 · outcomes 4.87–4.92 · Form R 4.121–4.128 · review and appeal 4.156–4.176.</a:t>
            </a:r>
            <a:endParaRPr lang="en-US" sz="1000" dirty="0"/>
          </a:p>
        </p:txBody>
      </p:sp>
      <p:sp>
        <p:nvSpPr>
          <p:cNvPr id="41" name="Shape 35"/>
          <p:cNvSpPr/>
          <p:nvPr/>
        </p:nvSpPr>
        <p:spPr>
          <a:xfrm>
            <a:off x="4251960" y="3895344"/>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42" name="Shape 36"/>
          <p:cNvSpPr/>
          <p:nvPr/>
        </p:nvSpPr>
        <p:spPr>
          <a:xfrm>
            <a:off x="4251960" y="3895344"/>
            <a:ext cx="73152" cy="2103120"/>
          </a:xfrm>
          <a:prstGeom prst="rect">
            <a:avLst/>
          </a:prstGeom>
          <a:solidFill>
            <a:srgbClr val="330072"/>
          </a:solidFill>
          <a:ln w="12700">
            <a:solidFill>
              <a:srgbClr val="330072"/>
            </a:solidFill>
            <a:prstDash val="solid"/>
          </a:ln>
        </p:spPr>
      </p:sp>
      <p:sp>
        <p:nvSpPr>
          <p:cNvPr id="43" name="Shape 37"/>
          <p:cNvSpPr/>
          <p:nvPr/>
        </p:nvSpPr>
        <p:spPr>
          <a:xfrm>
            <a:off x="4416552" y="4105656"/>
            <a:ext cx="502920" cy="502920"/>
          </a:xfrm>
          <a:prstGeom prst="ellipse">
            <a:avLst/>
          </a:prstGeom>
          <a:solidFill>
            <a:srgbClr val="330072"/>
          </a:solidFill>
          <a:ln w="12700">
            <a:solidFill>
              <a:srgbClr val="330072"/>
            </a:solidFill>
            <a:prstDash val="solid"/>
          </a:ln>
        </p:spPr>
      </p:sp>
      <p:pic>
        <p:nvPicPr>
          <p:cNvPr id="44" name="Image 4" descr="/tmp/claude-0/-home-claude/0392ef1a-ea77-535e-abf6-0e4ef3a33421/scratchpad/build/icons/w11.png">    </p:cNvPr>
          <p:cNvPicPr>
            <a:picLocks noChangeAspect="1"/>
          </p:cNvPicPr>
          <p:nvPr/>
        </p:nvPicPr>
        <p:blipFill>
          <a:blip r:embed="rId5"/>
          <a:stretch>
            <a:fillRect/>
          </a:stretch>
        </p:blipFill>
        <p:spPr>
          <a:xfrm>
            <a:off x="4535424" y="4224528"/>
            <a:ext cx="265176" cy="265176"/>
          </a:xfrm>
          <a:prstGeom prst="rect">
            <a:avLst/>
          </a:prstGeom>
        </p:spPr>
      </p:pic>
      <p:sp>
        <p:nvSpPr>
          <p:cNvPr id="45" name="Text 38"/>
          <p:cNvSpPr txBox="1"/>
          <p:nvPr/>
        </p:nvSpPr>
        <p:spPr>
          <a:xfrm>
            <a:off x="5074920" y="4096512"/>
            <a:ext cx="2697480" cy="219456"/>
          </a:xfrm>
          <a:prstGeom prst="rect">
            <a:avLst/>
          </a:prstGeom>
          <a:noFill/>
          <a:ln/>
        </p:spPr>
        <p:txBody>
          <a:bodyPr wrap="square" lIns="0" tIns="0" rIns="0" bIns="0" rtlCol="0" anchor="ctr"/>
          <a:lstStyle/>
          <a:p>
            <a:pPr indent="0" marL="0">
              <a:buNone/>
            </a:pPr>
            <a:r>
              <a:rPr lang="en-US" sz="1000" b="1" spc="160" kern="0" dirty="0">
                <a:solidFill>
                  <a:srgbClr val="330072"/>
                </a:solidFill>
                <a:latin typeface="Calibri" pitchFamily="34" charset="0"/>
                <a:ea typeface="Calibri" pitchFamily="34" charset="-122"/>
                <a:cs typeface="Calibri" pitchFamily="34" charset="-120"/>
              </a:rPr>
              <a:t>SOURCE 02</a:t>
            </a:r>
            <a:endParaRPr lang="en-US" sz="1000" dirty="0"/>
          </a:p>
        </p:txBody>
      </p:sp>
      <p:sp>
        <p:nvSpPr>
          <p:cNvPr id="46" name="Text 39"/>
          <p:cNvSpPr txBox="1"/>
          <p:nvPr/>
        </p:nvSpPr>
        <p:spPr>
          <a:xfrm>
            <a:off x="5074920" y="4315968"/>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The IMS2 ARCP decision aid</a:t>
            </a:r>
            <a:endParaRPr lang="en-US" sz="1200" dirty="0"/>
          </a:p>
        </p:txBody>
      </p:sp>
      <p:sp>
        <p:nvSpPr>
          <p:cNvPr id="47" name="Text 40"/>
          <p:cNvSpPr txBox="1"/>
          <p:nvPr/>
        </p:nvSpPr>
        <p:spPr>
          <a:xfrm>
            <a:off x="4434840" y="4828032"/>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JRCPTB, August 2022. Evidence required per training year, indicative minima by CCT, the entrustment grid, and the practical procedures table.</a:t>
            </a:r>
            <a:endParaRPr lang="en-US" sz="1000" dirty="0"/>
          </a:p>
        </p:txBody>
      </p:sp>
      <p:sp>
        <p:nvSpPr>
          <p:cNvPr id="48" name="Shape 41"/>
          <p:cNvSpPr/>
          <p:nvPr/>
        </p:nvSpPr>
        <p:spPr>
          <a:xfrm>
            <a:off x="8046720" y="3895344"/>
            <a:ext cx="3657600" cy="2103120"/>
          </a:xfrm>
          <a:prstGeom prst="rect">
            <a:avLst/>
          </a:prstGeom>
          <a:solidFill>
            <a:srgbClr val="FFFFFF"/>
          </a:solidFill>
          <a:ln w="9525">
            <a:solidFill>
              <a:srgbClr val="D8DDE0"/>
            </a:solidFill>
            <a:prstDash val="solid"/>
          </a:ln>
          <a:effectLst>
            <a:outerShdw sx="100000" sy="100000" kx="0" ky="0" algn="bl" rotWithShape="0" blurRad="88900" dist="19050" dir="5400000">
              <a:srgbClr val="8C99A4">
                <a:alpha val="20000"/>
              </a:srgbClr>
            </a:outerShdw>
          </a:effectLst>
        </p:spPr>
      </p:sp>
      <p:sp>
        <p:nvSpPr>
          <p:cNvPr id="49" name="Shape 42"/>
          <p:cNvSpPr/>
          <p:nvPr/>
        </p:nvSpPr>
        <p:spPr>
          <a:xfrm>
            <a:off x="8046720" y="3895344"/>
            <a:ext cx="73152" cy="2103120"/>
          </a:xfrm>
          <a:prstGeom prst="rect">
            <a:avLst/>
          </a:prstGeom>
          <a:solidFill>
            <a:srgbClr val="AE2573"/>
          </a:solidFill>
          <a:ln w="12700">
            <a:solidFill>
              <a:srgbClr val="AE2573"/>
            </a:solidFill>
            <a:prstDash val="solid"/>
          </a:ln>
        </p:spPr>
      </p:sp>
      <p:sp>
        <p:nvSpPr>
          <p:cNvPr id="50" name="Shape 43"/>
          <p:cNvSpPr/>
          <p:nvPr/>
        </p:nvSpPr>
        <p:spPr>
          <a:xfrm>
            <a:off x="8211312" y="4105656"/>
            <a:ext cx="502920" cy="502920"/>
          </a:xfrm>
          <a:prstGeom prst="ellipse">
            <a:avLst/>
          </a:prstGeom>
          <a:solidFill>
            <a:srgbClr val="AE2573"/>
          </a:solidFill>
          <a:ln w="12700">
            <a:solidFill>
              <a:srgbClr val="AE2573"/>
            </a:solidFill>
            <a:prstDash val="solid"/>
          </a:ln>
        </p:spPr>
      </p:sp>
      <p:pic>
        <p:nvPicPr>
          <p:cNvPr id="51" name="Image 5" descr="/tmp/claude-0/-home-claude/0392ef1a-ea77-535e-abf6-0e4ef3a33421/scratchpad/build/icons/w1.png">    </p:cNvPr>
          <p:cNvPicPr>
            <a:picLocks noChangeAspect="1"/>
          </p:cNvPicPr>
          <p:nvPr/>
        </p:nvPicPr>
        <p:blipFill>
          <a:blip r:embed="rId6"/>
          <a:stretch>
            <a:fillRect/>
          </a:stretch>
        </p:blipFill>
        <p:spPr>
          <a:xfrm>
            <a:off x="8330184" y="4224528"/>
            <a:ext cx="265176" cy="265176"/>
          </a:xfrm>
          <a:prstGeom prst="rect">
            <a:avLst/>
          </a:prstGeom>
        </p:spPr>
      </p:pic>
      <p:sp>
        <p:nvSpPr>
          <p:cNvPr id="52" name="Text 44"/>
          <p:cNvSpPr txBox="1"/>
          <p:nvPr/>
        </p:nvSpPr>
        <p:spPr>
          <a:xfrm>
            <a:off x="8869680" y="4096512"/>
            <a:ext cx="2697480" cy="219456"/>
          </a:xfrm>
          <a:prstGeom prst="rect">
            <a:avLst/>
          </a:prstGeom>
          <a:noFill/>
          <a:ln/>
        </p:spPr>
        <p:txBody>
          <a:bodyPr wrap="square" lIns="0" tIns="0" rIns="0" bIns="0" rtlCol="0" anchor="ctr"/>
          <a:lstStyle/>
          <a:p>
            <a:pPr indent="0" marL="0">
              <a:buNone/>
            </a:pPr>
            <a:r>
              <a:rPr lang="en-US" sz="1000" b="1" spc="160" kern="0" dirty="0">
                <a:solidFill>
                  <a:srgbClr val="AE2573"/>
                </a:solidFill>
                <a:latin typeface="Calibri" pitchFamily="34" charset="0"/>
                <a:ea typeface="Calibri" pitchFamily="34" charset="-122"/>
                <a:cs typeface="Calibri" pitchFamily="34" charset="-120"/>
              </a:rPr>
              <a:t>SOURCE 03</a:t>
            </a:r>
            <a:endParaRPr lang="en-US" sz="1000" dirty="0"/>
          </a:p>
        </p:txBody>
      </p:sp>
      <p:sp>
        <p:nvSpPr>
          <p:cNvPr id="53" name="Text 45"/>
          <p:cNvSpPr txBox="1"/>
          <p:nvPr/>
        </p:nvSpPr>
        <p:spPr>
          <a:xfrm>
            <a:off x="8869680" y="4315968"/>
            <a:ext cx="2697480" cy="365760"/>
          </a:xfrm>
          <a:prstGeom prst="rect">
            <a:avLst/>
          </a:prstGeom>
          <a:noFill/>
          <a:ln/>
        </p:spPr>
        <p:txBody>
          <a:bodyPr wrap="square" lIns="0" tIns="0" rIns="0" bIns="0" rtlCol="0" anchor="t"/>
          <a:lstStyle/>
          <a:p>
            <a:pPr indent="0" marL="0">
              <a:buNone/>
            </a:pPr>
            <a:r>
              <a:rPr lang="en-US" sz="1200" b="1" dirty="0">
                <a:solidFill>
                  <a:srgbClr val="003087"/>
                </a:solidFill>
                <a:latin typeface="Calibri" pitchFamily="34" charset="0"/>
                <a:ea typeface="Calibri" pitchFamily="34" charset="-122"/>
                <a:cs typeface="Calibri" pitchFamily="34" charset="-120"/>
              </a:rPr>
              <a:t>Local and practical</a:t>
            </a:r>
            <a:endParaRPr lang="en-US" sz="1200" dirty="0"/>
          </a:p>
        </p:txBody>
      </p:sp>
      <p:sp>
        <p:nvSpPr>
          <p:cNvPr id="54" name="Text 46"/>
          <p:cNvSpPr txBox="1"/>
          <p:nvPr/>
        </p:nvSpPr>
        <p:spPr>
          <a:xfrm>
            <a:off x="8229600" y="4828032"/>
            <a:ext cx="3273552" cy="1042416"/>
          </a:xfrm>
          <a:prstGeom prst="rect">
            <a:avLst/>
          </a:prstGeom>
          <a:noFill/>
          <a:ln/>
        </p:spPr>
        <p:txBody>
          <a:bodyPr wrap="square" lIns="0" tIns="0" rIns="0" bIns="0" rtlCol="0" anchor="t"/>
          <a:lstStyle/>
          <a:p>
            <a:pPr indent="0" marL="0">
              <a:lnSpc>
                <a:spcPct val="105000"/>
              </a:lnSpc>
              <a:buNone/>
            </a:pPr>
            <a:r>
              <a:rPr lang="en-US" sz="1000" dirty="0">
                <a:solidFill>
                  <a:srgbClr val="212B32"/>
                </a:solidFill>
                <a:latin typeface="Calibri" pitchFamily="34" charset="0"/>
                <a:ea typeface="Calibri" pitchFamily="34" charset="-122"/>
                <a:cs typeface="Calibri" pitchFamily="34" charset="-120"/>
              </a:rPr>
              <a:t>Summary of training calculator and self-development time guidance at thefederation.uk. GIM ARCP questions go through nhs-help.freshdesk.com/support/home — select ARCP, and it is allocated to our team.</a:t>
            </a:r>
            <a:endParaRPr lang="en-US" sz="1000" dirty="0"/>
          </a:p>
        </p:txBody>
      </p:sp>
      <p:sp>
        <p:nvSpPr>
          <p:cNvPr id="55" name="Shape 47"/>
          <p:cNvSpPr/>
          <p:nvPr/>
        </p:nvSpPr>
        <p:spPr>
          <a:xfrm>
            <a:off x="457200" y="6071616"/>
            <a:ext cx="11247120" cy="438912"/>
          </a:xfrm>
          <a:prstGeom prst="rect">
            <a:avLst/>
          </a:prstGeom>
          <a:solidFill>
            <a:srgbClr val="F0F4F5"/>
          </a:solidFill>
          <a:ln w="12700">
            <a:solidFill>
              <a:srgbClr val="F0F4F5"/>
            </a:solidFill>
            <a:prstDash val="solid"/>
          </a:ln>
        </p:spPr>
      </p:sp>
      <p:sp>
        <p:nvSpPr>
          <p:cNvPr id="56" name="Shape 48"/>
          <p:cNvSpPr/>
          <p:nvPr/>
        </p:nvSpPr>
        <p:spPr>
          <a:xfrm>
            <a:off x="457200" y="6071616"/>
            <a:ext cx="73152" cy="438912"/>
          </a:xfrm>
          <a:prstGeom prst="rect">
            <a:avLst/>
          </a:prstGeom>
          <a:solidFill>
            <a:srgbClr val="FFB81C"/>
          </a:solidFill>
          <a:ln w="12700">
            <a:solidFill>
              <a:srgbClr val="FFB81C"/>
            </a:solidFill>
            <a:prstDash val="solid"/>
          </a:ln>
        </p:spPr>
      </p:sp>
      <p:sp>
        <p:nvSpPr>
          <p:cNvPr id="57" name="Text 49"/>
          <p:cNvSpPr txBox="1"/>
          <p:nvPr/>
        </p:nvSpPr>
        <p:spPr>
          <a:xfrm>
            <a:off x="658368" y="6071616"/>
            <a:ext cx="10881360" cy="438912"/>
          </a:xfrm>
          <a:prstGeom prst="rect">
            <a:avLst/>
          </a:prstGeom>
          <a:noFill/>
          <a:ln/>
        </p:spPr>
        <p:txBody>
          <a:bodyPr wrap="square" lIns="0" tIns="0" rIns="0" bIns="0" rtlCol="0" anchor="ctr"/>
          <a:lstStyle/>
          <a:p>
            <a:pPr indent="0" marL="0">
              <a:buNone/>
            </a:pPr>
            <a:r>
              <a:rPr lang="en-US" sz="1050" i="1" dirty="0">
                <a:solidFill>
                  <a:srgbClr val="212B32"/>
                </a:solidFill>
                <a:latin typeface="Calibri" pitchFamily="34" charset="0"/>
                <a:ea typeface="Calibri" pitchFamily="34" charset="-122"/>
                <a:cs typeface="Calibri" pitchFamily="34" charset="-120"/>
              </a:rPr>
              <a:t>This is a lot of information and you do not need to remember it all. Know which of the three places to look — and ask for local answers in writing.</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3087"/>
        </a:solidFill>
      </p:bgPr>
    </p:bg>
    <p:spTree>
      <p:nvGrpSpPr>
        <p:cNvPr id="1" name=""/>
        <p:cNvGrpSpPr/>
        <p:nvPr/>
      </p:nvGrpSpPr>
      <p:grpSpPr>
        <a:xfrm>
          <a:off x="0" y="0"/>
          <a:ext cx="0" cy="0"/>
          <a:chOff x="0" y="0"/>
          <a:chExt cx="0" cy="0"/>
        </a:xfrm>
      </p:grpSpPr>
      <p:sp>
        <p:nvSpPr>
          <p:cNvPr id="2" name="Shape 0"/>
          <p:cNvSpPr/>
          <p:nvPr/>
        </p:nvSpPr>
        <p:spPr>
          <a:xfrm>
            <a:off x="0" y="0"/>
            <a:ext cx="502920" cy="6858000"/>
          </a:xfrm>
          <a:prstGeom prst="rect">
            <a:avLst/>
          </a:prstGeom>
          <a:solidFill>
            <a:srgbClr val="0072CE"/>
          </a:solidFill>
          <a:ln w="12700">
            <a:solidFill>
              <a:srgbClr val="0072CE"/>
            </a:solidFill>
            <a:prstDash val="solid"/>
          </a:ln>
        </p:spPr>
      </p:sp>
      <p:sp>
        <p:nvSpPr>
          <p:cNvPr id="3" name="Shape 1"/>
          <p:cNvSpPr/>
          <p:nvPr/>
        </p:nvSpPr>
        <p:spPr>
          <a:xfrm>
            <a:off x="0" y="0"/>
            <a:ext cx="164592" cy="6858000"/>
          </a:xfrm>
          <a:prstGeom prst="rect">
            <a:avLst/>
          </a:prstGeom>
          <a:solidFill>
            <a:srgbClr val="41B6E6"/>
          </a:solidFill>
          <a:ln w="12700">
            <a:solidFill>
              <a:srgbClr val="41B6E6"/>
            </a:solidFill>
            <a:prstDash val="solid"/>
          </a:ln>
        </p:spPr>
      </p:sp>
      <p:sp>
        <p:nvSpPr>
          <p:cNvPr id="4" name="Shape 2"/>
          <p:cNvSpPr/>
          <p:nvPr/>
        </p:nvSpPr>
        <p:spPr>
          <a:xfrm>
            <a:off x="7818120" y="685800"/>
            <a:ext cx="5120640" cy="5120640"/>
          </a:xfrm>
          <a:prstGeom prst="ellipse">
            <a:avLst/>
          </a:prstGeom>
          <a:solidFill>
            <a:srgbClr val="003087">
              <a:alpha val="0"/>
            </a:srgbClr>
          </a:solidFill>
          <a:ln w="15875">
            <a:solidFill>
              <a:srgbClr val="14479A"/>
            </a:solidFill>
            <a:prstDash val="solid"/>
          </a:ln>
        </p:spPr>
      </p:sp>
      <p:sp>
        <p:nvSpPr>
          <p:cNvPr id="5" name="Shape 3"/>
          <p:cNvSpPr/>
          <p:nvPr/>
        </p:nvSpPr>
        <p:spPr>
          <a:xfrm>
            <a:off x="8412480" y="1280160"/>
            <a:ext cx="3931920" cy="3931920"/>
          </a:xfrm>
          <a:prstGeom prst="ellipse">
            <a:avLst/>
          </a:prstGeom>
          <a:solidFill>
            <a:srgbClr val="003087">
              <a:alpha val="0"/>
            </a:srgbClr>
          </a:solidFill>
          <a:ln w="15875">
            <a:solidFill>
              <a:srgbClr val="1E56A0"/>
            </a:solidFill>
            <a:prstDash val="solid"/>
          </a:ln>
        </p:spPr>
      </p:sp>
      <p:sp>
        <p:nvSpPr>
          <p:cNvPr id="6" name="Shape 4"/>
          <p:cNvSpPr/>
          <p:nvPr/>
        </p:nvSpPr>
        <p:spPr>
          <a:xfrm>
            <a:off x="9006840" y="1874520"/>
            <a:ext cx="2743200" cy="2743200"/>
          </a:xfrm>
          <a:prstGeom prst="ellipse">
            <a:avLst/>
          </a:prstGeom>
          <a:solidFill>
            <a:srgbClr val="003087">
              <a:alpha val="0"/>
            </a:srgbClr>
          </a:solidFill>
          <a:ln w="15875">
            <a:solidFill>
              <a:srgbClr val="14479A"/>
            </a:solidFill>
            <a:prstDash val="solid"/>
          </a:ln>
        </p:spPr>
      </p:sp>
      <p:sp>
        <p:nvSpPr>
          <p:cNvPr id="7" name="Shape 5"/>
          <p:cNvSpPr/>
          <p:nvPr/>
        </p:nvSpPr>
        <p:spPr>
          <a:xfrm>
            <a:off x="9601200" y="2468880"/>
            <a:ext cx="1554480" cy="1554480"/>
          </a:xfrm>
          <a:prstGeom prst="ellipse">
            <a:avLst/>
          </a:prstGeom>
          <a:solidFill>
            <a:srgbClr val="003087">
              <a:alpha val="0"/>
            </a:srgbClr>
          </a:solidFill>
          <a:ln w="15875">
            <a:solidFill>
              <a:srgbClr val="1E56A0"/>
            </a:solidFill>
            <a:prstDash val="solid"/>
          </a:ln>
        </p:spPr>
      </p:sp>
      <p:sp>
        <p:nvSpPr>
          <p:cNvPr id="8" name="Shape 6"/>
          <p:cNvSpPr/>
          <p:nvPr/>
        </p:nvSpPr>
        <p:spPr>
          <a:xfrm>
            <a:off x="10104120" y="2971800"/>
            <a:ext cx="548640" cy="548640"/>
          </a:xfrm>
          <a:prstGeom prst="ellipse">
            <a:avLst/>
          </a:prstGeom>
          <a:solidFill>
            <a:srgbClr val="0072CE"/>
          </a:solidFill>
          <a:ln w="12700">
            <a:solidFill>
              <a:srgbClr val="0072CE"/>
            </a:solidFill>
            <a:prstDash val="solid"/>
          </a:ln>
        </p:spPr>
      </p:sp>
      <p:sp>
        <p:nvSpPr>
          <p:cNvPr id="9" name="Shape 7"/>
          <p:cNvSpPr/>
          <p:nvPr/>
        </p:nvSpPr>
        <p:spPr>
          <a:xfrm>
            <a:off x="1371600" y="502920"/>
            <a:ext cx="1051560" cy="310896"/>
          </a:xfrm>
          <a:prstGeom prst="rect">
            <a:avLst/>
          </a:prstGeom>
          <a:solidFill>
            <a:srgbClr val="FFB81C"/>
          </a:solidFill>
          <a:ln w="12700">
            <a:solidFill>
              <a:srgbClr val="FFB81C"/>
            </a:solidFill>
            <a:prstDash val="solid"/>
          </a:ln>
        </p:spPr>
      </p:sp>
      <p:sp>
        <p:nvSpPr>
          <p:cNvPr id="10" name="Text 8"/>
          <p:cNvSpPr txBox="1"/>
          <p:nvPr/>
        </p:nvSpPr>
        <p:spPr>
          <a:xfrm>
            <a:off x="1371600" y="502920"/>
            <a:ext cx="1051560" cy="310896"/>
          </a:xfrm>
          <a:prstGeom prst="rect">
            <a:avLst/>
          </a:prstGeom>
          <a:noFill/>
          <a:ln/>
        </p:spPr>
        <p:txBody>
          <a:bodyPr wrap="square" lIns="0" tIns="0" rIns="0" bIns="0" rtlCol="0" anchor="ctr"/>
          <a:lstStyle/>
          <a:p>
            <a:pPr algn="ctr" indent="0" marL="0">
              <a:buNone/>
            </a:pPr>
            <a:r>
              <a:rPr lang="en-US" sz="1200" b="1" spc="200" kern="0" dirty="0">
                <a:solidFill>
                  <a:srgbClr val="003087"/>
                </a:solidFill>
                <a:latin typeface="Calibri" pitchFamily="34" charset="0"/>
                <a:ea typeface="Calibri" pitchFamily="34" charset="-122"/>
                <a:cs typeface="Calibri" pitchFamily="34" charset="-120"/>
              </a:rPr>
              <a:t>DRAFT</a:t>
            </a:r>
            <a:endParaRPr lang="en-US" sz="1200" dirty="0"/>
          </a:p>
        </p:txBody>
      </p:sp>
      <p:sp>
        <p:nvSpPr>
          <p:cNvPr id="11" name="Shape 9"/>
          <p:cNvSpPr/>
          <p:nvPr/>
        </p:nvSpPr>
        <p:spPr>
          <a:xfrm>
            <a:off x="1371600" y="1005840"/>
            <a:ext cx="777240" cy="777240"/>
          </a:xfrm>
          <a:prstGeom prst="ellipse">
            <a:avLst/>
          </a:prstGeom>
          <a:solidFill>
            <a:srgbClr val="0072CE"/>
          </a:solidFill>
          <a:ln w="12700">
            <a:solidFill>
              <a:srgbClr val="0072CE"/>
            </a:solidFill>
            <a:prstDash val="solid"/>
          </a:ln>
        </p:spPr>
      </p:sp>
      <p:pic>
        <p:nvPicPr>
          <p:cNvPr id="12" name="Image 0" descr="/tmp/claude-0/-home-claude/0392ef1a-ea77-535e-abf6-0e4ef3a33421/scratchpad/build/icons/w14.png">    </p:cNvPr>
          <p:cNvPicPr>
            <a:picLocks noChangeAspect="1"/>
          </p:cNvPicPr>
          <p:nvPr/>
        </p:nvPicPr>
        <p:blipFill>
          <a:blip r:embed="rId1"/>
          <a:stretch>
            <a:fillRect/>
          </a:stretch>
        </p:blipFill>
        <p:spPr>
          <a:xfrm>
            <a:off x="1554480" y="1188720"/>
            <a:ext cx="411480" cy="411480"/>
          </a:xfrm>
          <a:prstGeom prst="rect">
            <a:avLst/>
          </a:prstGeom>
        </p:spPr>
      </p:pic>
      <p:sp>
        <p:nvSpPr>
          <p:cNvPr id="13" name="Text 10"/>
          <p:cNvSpPr txBox="1"/>
          <p:nvPr/>
        </p:nvSpPr>
        <p:spPr>
          <a:xfrm>
            <a:off x="1371600" y="2103120"/>
            <a:ext cx="9601200" cy="274320"/>
          </a:xfrm>
          <a:prstGeom prst="rect">
            <a:avLst/>
          </a:prstGeom>
          <a:noFill/>
          <a:ln/>
        </p:spPr>
        <p:txBody>
          <a:bodyPr wrap="square" lIns="0" tIns="0" rIns="0" bIns="0" rtlCol="0" anchor="ctr"/>
          <a:lstStyle/>
          <a:p>
            <a:pPr indent="0" marL="0">
              <a:buNone/>
            </a:pPr>
            <a:r>
              <a:rPr lang="en-US" sz="1200" b="1" spc="300" kern="0" dirty="0">
                <a:solidFill>
                  <a:srgbClr val="41B6E6"/>
                </a:solidFill>
                <a:latin typeface="Calibri" pitchFamily="34" charset="0"/>
                <a:ea typeface="Calibri" pitchFamily="34" charset="-122"/>
                <a:cs typeface="Calibri" pitchFamily="34" charset="-120"/>
              </a:rPr>
              <a:t>GIM ARCP · INTERNAL MEDICINE STAGE 2</a:t>
            </a:r>
            <a:endParaRPr lang="en-US" sz="1200" dirty="0"/>
          </a:p>
        </p:txBody>
      </p:sp>
      <p:sp>
        <p:nvSpPr>
          <p:cNvPr id="14" name="Text 11"/>
          <p:cNvSpPr txBox="1"/>
          <p:nvPr/>
        </p:nvSpPr>
        <p:spPr>
          <a:xfrm>
            <a:off x="1371600" y="2487168"/>
            <a:ext cx="9601200" cy="82296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Any questions?</a:t>
            </a:r>
            <a:endParaRPr lang="en-US" sz="4800" dirty="0"/>
          </a:p>
        </p:txBody>
      </p:sp>
      <p:sp>
        <p:nvSpPr>
          <p:cNvPr id="15" name="Shape 12"/>
          <p:cNvSpPr/>
          <p:nvPr/>
        </p:nvSpPr>
        <p:spPr>
          <a:xfrm>
            <a:off x="1371600" y="3456432"/>
            <a:ext cx="1463040" cy="54864"/>
          </a:xfrm>
          <a:prstGeom prst="rect">
            <a:avLst/>
          </a:prstGeom>
          <a:solidFill>
            <a:srgbClr val="FFB81C"/>
          </a:solidFill>
          <a:ln w="12700">
            <a:solidFill>
              <a:srgbClr val="FFB81C"/>
            </a:solidFill>
            <a:prstDash val="solid"/>
          </a:ln>
        </p:spPr>
      </p:sp>
      <p:sp>
        <p:nvSpPr>
          <p:cNvPr id="16" name="Text 13"/>
          <p:cNvSpPr txBox="1"/>
          <p:nvPr/>
        </p:nvSpPr>
        <p:spPr>
          <a:xfrm>
            <a:off x="1371600" y="3730752"/>
            <a:ext cx="8595360" cy="548640"/>
          </a:xfrm>
          <a:prstGeom prst="rect">
            <a:avLst/>
          </a:prstGeom>
          <a:noFill/>
          <a:ln/>
        </p:spPr>
        <p:txBody>
          <a:bodyPr wrap="square" lIns="0" tIns="0" rIns="0" bIns="0" rtlCol="0" anchor="t"/>
          <a:lstStyle/>
          <a:p>
            <a:pPr indent="0" marL="0">
              <a:lnSpc>
                <a:spcPct val="115000"/>
              </a:lnSpc>
              <a:buNone/>
            </a:pPr>
            <a:r>
              <a:rPr lang="en-US" sz="1500" dirty="0">
                <a:solidFill>
                  <a:srgbClr val="FFFFFF"/>
                </a:solidFill>
                <a:latin typeface="Calibri" pitchFamily="34" charset="0"/>
                <a:ea typeface="Calibri" pitchFamily="34" charset="-122"/>
                <a:cs typeface="Calibri" pitchFamily="34" charset="-120"/>
              </a:rPr>
              <a:t>Nothing here should come as a surprise at your ARCP. Send anything left unsettled today through Freshdesk and select ARCP, so it reaches our team — and get the answer in writing.</a:t>
            </a:r>
            <a:endParaRPr lang="en-US" sz="1500" dirty="0"/>
          </a:p>
        </p:txBody>
      </p:sp>
      <p:sp>
        <p:nvSpPr>
          <p:cNvPr id="17" name="Shape 14"/>
          <p:cNvSpPr/>
          <p:nvPr/>
        </p:nvSpPr>
        <p:spPr>
          <a:xfrm>
            <a:off x="1371600" y="4754880"/>
            <a:ext cx="2160270" cy="868680"/>
          </a:xfrm>
          <a:prstGeom prst="rect">
            <a:avLst/>
          </a:prstGeom>
          <a:solidFill>
            <a:srgbClr val="0A3E92"/>
          </a:solidFill>
          <a:ln w="12700">
            <a:solidFill>
              <a:srgbClr val="0A3E92"/>
            </a:solidFill>
            <a:prstDash val="solid"/>
          </a:ln>
        </p:spPr>
      </p:sp>
      <p:sp>
        <p:nvSpPr>
          <p:cNvPr id="18" name="Shape 15"/>
          <p:cNvSpPr/>
          <p:nvPr/>
        </p:nvSpPr>
        <p:spPr>
          <a:xfrm>
            <a:off x="1371600" y="4754880"/>
            <a:ext cx="64008" cy="868680"/>
          </a:xfrm>
          <a:prstGeom prst="rect">
            <a:avLst/>
          </a:prstGeom>
          <a:solidFill>
            <a:srgbClr val="FFB81C"/>
          </a:solidFill>
          <a:ln w="12700">
            <a:solidFill>
              <a:srgbClr val="FFB81C"/>
            </a:solidFill>
            <a:prstDash val="solid"/>
          </a:ln>
        </p:spPr>
      </p:sp>
      <p:sp>
        <p:nvSpPr>
          <p:cNvPr id="19" name="Text 16"/>
          <p:cNvSpPr txBox="1"/>
          <p:nvPr/>
        </p:nvSpPr>
        <p:spPr>
          <a:xfrm>
            <a:off x="1572768" y="4901184"/>
            <a:ext cx="18288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Gold Guide, 11th ed</a:t>
            </a:r>
            <a:endParaRPr lang="en-US" sz="1200" dirty="0"/>
          </a:p>
        </p:txBody>
      </p:sp>
      <p:sp>
        <p:nvSpPr>
          <p:cNvPr id="20" name="Text 17"/>
          <p:cNvSpPr txBox="1"/>
          <p:nvPr/>
        </p:nvSpPr>
        <p:spPr>
          <a:xfrm>
            <a:off x="1572768" y="5175504"/>
            <a:ext cx="1828800" cy="292608"/>
          </a:xfrm>
          <a:prstGeom prst="rect">
            <a:avLst/>
          </a:prstGeom>
          <a:noFill/>
          <a:ln/>
        </p:spPr>
        <p:txBody>
          <a:bodyPr wrap="square" lIns="0" tIns="0" rIns="0" bIns="0" rtlCol="0" anchor="t"/>
          <a:lstStyle/>
          <a:p>
            <a:pPr indent="0" marL="0">
              <a:buNone/>
            </a:pPr>
            <a:r>
              <a:rPr lang="en-US" sz="1000" dirty="0">
                <a:solidFill>
                  <a:srgbClr val="41B6E6"/>
                </a:solidFill>
                <a:latin typeface="Calibri" pitchFamily="34" charset="0"/>
                <a:ea typeface="Calibri" pitchFamily="34" charset="-122"/>
                <a:cs typeface="Calibri" pitchFamily="34" charset="-120"/>
              </a:rPr>
              <a:t>August 2026 · section 4</a:t>
            </a:r>
            <a:endParaRPr lang="en-US" sz="1000" dirty="0"/>
          </a:p>
        </p:txBody>
      </p:sp>
      <p:sp>
        <p:nvSpPr>
          <p:cNvPr id="21" name="Shape 18"/>
          <p:cNvSpPr/>
          <p:nvPr/>
        </p:nvSpPr>
        <p:spPr>
          <a:xfrm>
            <a:off x="3806190" y="4754880"/>
            <a:ext cx="2160270" cy="868680"/>
          </a:xfrm>
          <a:prstGeom prst="rect">
            <a:avLst/>
          </a:prstGeom>
          <a:solidFill>
            <a:srgbClr val="0A3E92"/>
          </a:solidFill>
          <a:ln w="12700">
            <a:solidFill>
              <a:srgbClr val="0A3E92"/>
            </a:solidFill>
            <a:prstDash val="solid"/>
          </a:ln>
        </p:spPr>
      </p:sp>
      <p:sp>
        <p:nvSpPr>
          <p:cNvPr id="22" name="Shape 19"/>
          <p:cNvSpPr/>
          <p:nvPr/>
        </p:nvSpPr>
        <p:spPr>
          <a:xfrm>
            <a:off x="3806190" y="4754880"/>
            <a:ext cx="64008" cy="868680"/>
          </a:xfrm>
          <a:prstGeom prst="rect">
            <a:avLst/>
          </a:prstGeom>
          <a:solidFill>
            <a:srgbClr val="FFB81C"/>
          </a:solidFill>
          <a:ln w="12700">
            <a:solidFill>
              <a:srgbClr val="FFB81C"/>
            </a:solidFill>
            <a:prstDash val="solid"/>
          </a:ln>
        </p:spPr>
      </p:sp>
      <p:sp>
        <p:nvSpPr>
          <p:cNvPr id="23" name="Text 20"/>
          <p:cNvSpPr txBox="1"/>
          <p:nvPr/>
        </p:nvSpPr>
        <p:spPr>
          <a:xfrm>
            <a:off x="4007358" y="4901184"/>
            <a:ext cx="18288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IMS2 decision aid</a:t>
            </a:r>
            <a:endParaRPr lang="en-US" sz="1200" dirty="0"/>
          </a:p>
        </p:txBody>
      </p:sp>
      <p:sp>
        <p:nvSpPr>
          <p:cNvPr id="24" name="Text 21"/>
          <p:cNvSpPr txBox="1"/>
          <p:nvPr/>
        </p:nvSpPr>
        <p:spPr>
          <a:xfrm>
            <a:off x="4007358" y="5175504"/>
            <a:ext cx="1828800" cy="292608"/>
          </a:xfrm>
          <a:prstGeom prst="rect">
            <a:avLst/>
          </a:prstGeom>
          <a:noFill/>
          <a:ln/>
        </p:spPr>
        <p:txBody>
          <a:bodyPr wrap="square" lIns="0" tIns="0" rIns="0" bIns="0" rtlCol="0" anchor="t"/>
          <a:lstStyle/>
          <a:p>
            <a:pPr indent="0" marL="0">
              <a:buNone/>
            </a:pPr>
            <a:r>
              <a:rPr lang="en-US" sz="1000" dirty="0">
                <a:solidFill>
                  <a:srgbClr val="41B6E6"/>
                </a:solidFill>
                <a:latin typeface="Calibri" pitchFamily="34" charset="0"/>
                <a:ea typeface="Calibri" pitchFamily="34" charset="-122"/>
                <a:cs typeface="Calibri" pitchFamily="34" charset="-120"/>
              </a:rPr>
              <a:t>JRCPTB · August 2022</a:t>
            </a:r>
            <a:endParaRPr lang="en-US" sz="1000" dirty="0"/>
          </a:p>
        </p:txBody>
      </p:sp>
      <p:sp>
        <p:nvSpPr>
          <p:cNvPr id="25" name="Shape 22"/>
          <p:cNvSpPr/>
          <p:nvPr/>
        </p:nvSpPr>
        <p:spPr>
          <a:xfrm>
            <a:off x="6240780" y="4754880"/>
            <a:ext cx="2160270" cy="868680"/>
          </a:xfrm>
          <a:prstGeom prst="rect">
            <a:avLst/>
          </a:prstGeom>
          <a:solidFill>
            <a:srgbClr val="0A3E92"/>
          </a:solidFill>
          <a:ln w="12700">
            <a:solidFill>
              <a:srgbClr val="0A3E92"/>
            </a:solidFill>
            <a:prstDash val="solid"/>
          </a:ln>
        </p:spPr>
      </p:sp>
      <p:sp>
        <p:nvSpPr>
          <p:cNvPr id="26" name="Shape 23"/>
          <p:cNvSpPr/>
          <p:nvPr/>
        </p:nvSpPr>
        <p:spPr>
          <a:xfrm>
            <a:off x="6240780" y="4754880"/>
            <a:ext cx="64008" cy="868680"/>
          </a:xfrm>
          <a:prstGeom prst="rect">
            <a:avLst/>
          </a:prstGeom>
          <a:solidFill>
            <a:srgbClr val="FFB81C"/>
          </a:solidFill>
          <a:ln w="12700">
            <a:solidFill>
              <a:srgbClr val="FFB81C"/>
            </a:solidFill>
            <a:prstDash val="solid"/>
          </a:ln>
        </p:spPr>
      </p:sp>
      <p:sp>
        <p:nvSpPr>
          <p:cNvPr id="27" name="Text 24"/>
          <p:cNvSpPr txBox="1"/>
          <p:nvPr/>
        </p:nvSpPr>
        <p:spPr>
          <a:xfrm>
            <a:off x="6441948" y="4901184"/>
            <a:ext cx="18288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Freshdesk</a:t>
            </a:r>
            <a:endParaRPr lang="en-US" sz="1200" dirty="0"/>
          </a:p>
        </p:txBody>
      </p:sp>
      <p:sp>
        <p:nvSpPr>
          <p:cNvPr id="28" name="Text 25"/>
          <p:cNvSpPr txBox="1"/>
          <p:nvPr/>
        </p:nvSpPr>
        <p:spPr>
          <a:xfrm>
            <a:off x="6441948" y="5175504"/>
            <a:ext cx="1828800" cy="292608"/>
          </a:xfrm>
          <a:prstGeom prst="rect">
            <a:avLst/>
          </a:prstGeom>
          <a:noFill/>
          <a:ln/>
        </p:spPr>
        <p:txBody>
          <a:bodyPr wrap="square" lIns="0" tIns="0" rIns="0" bIns="0" rtlCol="0" anchor="t"/>
          <a:lstStyle/>
          <a:p>
            <a:pPr indent="0" marL="0">
              <a:buNone/>
            </a:pPr>
            <a:r>
              <a:rPr lang="en-US" sz="1000" dirty="0">
                <a:solidFill>
                  <a:srgbClr val="41B6E6"/>
                </a:solidFill>
                <a:latin typeface="Calibri" pitchFamily="34" charset="0"/>
                <a:ea typeface="Calibri" pitchFamily="34" charset="-122"/>
                <a:cs typeface="Calibri" pitchFamily="34" charset="-120"/>
              </a:rPr>
              <a:t>nhs-help.freshdesk.com</a:t>
            </a:r>
            <a:endParaRPr lang="en-US" sz="1000" dirty="0"/>
          </a:p>
          <a:p>
            <a:pPr indent="0" marL="0">
              <a:buNone/>
            </a:pPr>
            <a:r>
              <a:rPr lang="en-US" sz="1000" dirty="0">
                <a:solidFill>
                  <a:srgbClr val="41B6E6"/>
                </a:solidFill>
                <a:latin typeface="Calibri" pitchFamily="34" charset="0"/>
                <a:ea typeface="Calibri" pitchFamily="34" charset="-122"/>
                <a:cs typeface="Calibri" pitchFamily="34" charset="-120"/>
              </a:rPr>
              <a:t>Select ARCP · FAO Mandy Birdee</a:t>
            </a:r>
            <a:endParaRPr lang="en-US" sz="1000" dirty="0"/>
          </a:p>
        </p:txBody>
      </p:sp>
      <p:sp>
        <p:nvSpPr>
          <p:cNvPr id="29" name="Shape 26"/>
          <p:cNvSpPr/>
          <p:nvPr/>
        </p:nvSpPr>
        <p:spPr>
          <a:xfrm>
            <a:off x="8675370" y="4754880"/>
            <a:ext cx="2160270" cy="868680"/>
          </a:xfrm>
          <a:prstGeom prst="rect">
            <a:avLst/>
          </a:prstGeom>
          <a:solidFill>
            <a:srgbClr val="0A3E92"/>
          </a:solidFill>
          <a:ln w="12700">
            <a:solidFill>
              <a:srgbClr val="0A3E92"/>
            </a:solidFill>
            <a:prstDash val="solid"/>
          </a:ln>
        </p:spPr>
      </p:sp>
      <p:sp>
        <p:nvSpPr>
          <p:cNvPr id="30" name="Shape 27"/>
          <p:cNvSpPr/>
          <p:nvPr/>
        </p:nvSpPr>
        <p:spPr>
          <a:xfrm>
            <a:off x="8675370" y="4754880"/>
            <a:ext cx="64008" cy="868680"/>
          </a:xfrm>
          <a:prstGeom prst="rect">
            <a:avLst/>
          </a:prstGeom>
          <a:solidFill>
            <a:srgbClr val="FFB81C"/>
          </a:solidFill>
          <a:ln w="12700">
            <a:solidFill>
              <a:srgbClr val="FFB81C"/>
            </a:solidFill>
            <a:prstDash val="solid"/>
          </a:ln>
        </p:spPr>
      </p:sp>
      <p:sp>
        <p:nvSpPr>
          <p:cNvPr id="31" name="Text 28"/>
          <p:cNvSpPr txBox="1"/>
          <p:nvPr/>
        </p:nvSpPr>
        <p:spPr>
          <a:xfrm>
            <a:off x="8876538" y="4901184"/>
            <a:ext cx="182880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GIM trainee reps</a:t>
            </a:r>
            <a:endParaRPr lang="en-US" sz="1200" dirty="0"/>
          </a:p>
        </p:txBody>
      </p:sp>
      <p:sp>
        <p:nvSpPr>
          <p:cNvPr id="32" name="Text 29"/>
          <p:cNvSpPr txBox="1"/>
          <p:nvPr/>
        </p:nvSpPr>
        <p:spPr>
          <a:xfrm>
            <a:off x="8876538" y="5175504"/>
            <a:ext cx="1828800" cy="292608"/>
          </a:xfrm>
          <a:prstGeom prst="rect">
            <a:avLst/>
          </a:prstGeom>
          <a:noFill/>
          <a:ln/>
        </p:spPr>
        <p:txBody>
          <a:bodyPr wrap="square" lIns="0" tIns="0" rIns="0" bIns="0" rtlCol="0" anchor="t"/>
          <a:lstStyle/>
          <a:p>
            <a:pPr indent="0" marL="0">
              <a:buNone/>
            </a:pPr>
            <a:r>
              <a:rPr lang="en-US" sz="1000" dirty="0">
                <a:solidFill>
                  <a:srgbClr val="41B6E6"/>
                </a:solidFill>
                <a:latin typeface="Calibri" pitchFamily="34" charset="0"/>
                <a:ea typeface="Calibri" pitchFamily="34" charset="-122"/>
                <a:cs typeface="Calibri" pitchFamily="34" charset="-120"/>
              </a:rPr>
              <a:t>gimhewm@gmail.com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GIM ARCP - trainee guidance</dc:title>
  <dc:subject>PptxGenJS Presentation</dc:subject>
  <dc:creator>Vinay Reddy-Kolanu</dc:creator>
  <cp:lastModifiedBy>Vinay Reddy-Kolanu</cp:lastModifiedBy>
  <cp:revision>1</cp:revision>
  <dcterms:created xsi:type="dcterms:W3CDTF">2026-09-08T11:51:07Z</dcterms:created>
  <dcterms:modified xsi:type="dcterms:W3CDTF">2026-09-08T11:51:07Z</dcterms:modified>
</cp:coreProperties>
</file>